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63" r:id="rId2"/>
  </p:sldMasterIdLst>
  <p:notesMasterIdLst>
    <p:notesMasterId r:id="rId38"/>
  </p:notesMasterIdLst>
  <p:sldIdLst>
    <p:sldId id="256" r:id="rId3"/>
    <p:sldId id="258" r:id="rId4"/>
    <p:sldId id="257" r:id="rId5"/>
    <p:sldId id="272" r:id="rId6"/>
    <p:sldId id="259" r:id="rId7"/>
    <p:sldId id="260" r:id="rId8"/>
    <p:sldId id="273" r:id="rId9"/>
    <p:sldId id="274" r:id="rId10"/>
    <p:sldId id="275" r:id="rId11"/>
    <p:sldId id="276" r:id="rId12"/>
    <p:sldId id="277" r:id="rId13"/>
    <p:sldId id="278" r:id="rId14"/>
    <p:sldId id="280" r:id="rId15"/>
    <p:sldId id="281" r:id="rId16"/>
    <p:sldId id="283" r:id="rId17"/>
    <p:sldId id="284" r:id="rId18"/>
    <p:sldId id="285" r:id="rId19"/>
    <p:sldId id="286" r:id="rId20"/>
    <p:sldId id="287" r:id="rId21"/>
    <p:sldId id="288" r:id="rId22"/>
    <p:sldId id="289" r:id="rId23"/>
    <p:sldId id="290" r:id="rId24"/>
    <p:sldId id="291" r:id="rId25"/>
    <p:sldId id="292" r:id="rId26"/>
    <p:sldId id="261" r:id="rId27"/>
    <p:sldId id="262" r:id="rId28"/>
    <p:sldId id="263" r:id="rId29"/>
    <p:sldId id="264" r:id="rId30"/>
    <p:sldId id="265" r:id="rId31"/>
    <p:sldId id="266" r:id="rId32"/>
    <p:sldId id="267" r:id="rId33"/>
    <p:sldId id="268" r:id="rId34"/>
    <p:sldId id="269" r:id="rId35"/>
    <p:sldId id="270" r:id="rId36"/>
    <p:sldId id="27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9B2819-6784-F34D-9635-3AFCD8D69831}" v="311" dt="2026-06-25T19:16:08.416"/>
    <p1510:client id="{3AEAD1EE-49F9-594A-8114-31AA9C3C08C6}" v="2" dt="2026-06-25T15:02:09.812"/>
    <p1510:client id="{3CD44100-4630-0EBF-0A56-47A55E82A04A}" v="47" dt="2026-06-25T17:15:55.194"/>
    <p1510:client id="{4C2280F8-DC2D-0950-34D4-39D5671F0BF0}" v="6" dt="2026-06-25T15:12:27.155"/>
    <p1510:client id="{50D2C66E-CF6F-EE3A-A528-ECC0AAEE716B}" v="157" dt="2026-06-25T18:12:20.886"/>
    <p1510:client id="{A1596A37-4A43-5123-3AA6-EB5B8D94148F}" v="3" dt="2026-06-25T17:22:36.783"/>
    <p1510:client id="{A2A12F3A-CD90-BD4A-8DC2-871064A38E61}" v="1" dt="2026-06-26T16:22:01.292"/>
    <p1510:client id="{A6D98B85-84C2-BF24-9034-03C1CF8325AC}" v="240" dt="2026-06-25T18:26:35.6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94643"/>
  </p:normalViewPr>
  <p:slideViewPr>
    <p:cSldViewPr snapToGrid="0">
      <p:cViewPr varScale="1">
        <p:scale>
          <a:sx n="115" d="100"/>
          <a:sy n="115" d="100"/>
        </p:scale>
        <p:origin x="6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F8EFDF-34AD-8446-AFEC-54EC95D2B348}" type="datetimeFigureOut">
              <a:rPr lang="en-US" smtClean="0"/>
              <a:t>6/26/26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803912-A8EC-674B-9A2D-38A26A372A8A}" type="slidenum">
              <a:rPr lang="en-US" smtClean="0"/>
              <a:t>‹#›</a:t>
            </a:fld>
            <a:endParaRPr lang="en-US"/>
          </a:p>
        </p:txBody>
      </p:sp>
    </p:spTree>
    <p:extLst>
      <p:ext uri="{BB962C8B-B14F-4D97-AF65-F5344CB8AC3E}">
        <p14:creationId xmlns:p14="http://schemas.microsoft.com/office/powerpoint/2010/main" val="4133836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Quick roadmap. Four phases.</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Phase 1 - clean the data, engineer features, analyze word frequencies.</a:t>
            </a:r>
          </a:p>
          <a:p>
            <a:r>
              <a:rPr lang="en-US" sz="1200" kern="1200">
                <a:solidFill>
                  <a:schemeClr val="tx1"/>
                </a:solidFill>
                <a:effectLst/>
                <a:latin typeface="+mn-lt"/>
                <a:ea typeface="+mn-ea"/>
                <a:cs typeface="+mn-cs"/>
              </a:rPr>
              <a:t>Phase 2 - prove statistically which words define each specialty. Chi-square, PMI, TF-IDF.</a:t>
            </a:r>
          </a:p>
          <a:p>
            <a:r>
              <a:rPr lang="en-US" sz="1200" kern="1200">
                <a:solidFill>
                  <a:schemeClr val="tx1"/>
                </a:solidFill>
                <a:effectLst/>
                <a:latin typeface="+mn-lt"/>
                <a:ea typeface="+mn-ea"/>
                <a:cs typeface="+mn-cs"/>
              </a:rPr>
              <a:t>Phase 3 - train three classifiers, evaluate with F1 scores and confusion matrices.</a:t>
            </a:r>
          </a:p>
          <a:p>
            <a:r>
              <a:rPr lang="en-US" sz="1200" kern="1200">
                <a:solidFill>
                  <a:schemeClr val="tx1"/>
                </a:solidFill>
                <a:effectLst/>
                <a:latin typeface="+mn-lt"/>
                <a:ea typeface="+mn-ea"/>
                <a:cs typeface="+mn-cs"/>
              </a:rPr>
              <a:t>Phase 4 and 5 - build a semantic search engine with embeddings, test it against ground truth.</a:t>
            </a:r>
          </a:p>
          <a:p>
            <a:r>
              <a:rPr lang="en-US" sz="1200" kern="1200">
                <a:solidFill>
                  <a:schemeClr val="tx1"/>
                </a:solidFill>
                <a:effectLst/>
                <a:latin typeface="+mn-lt"/>
                <a:ea typeface="+mn-ea"/>
                <a:cs typeface="+mn-cs"/>
              </a:rPr>
              <a:t>Each phase builds on the last. Let's start with Phase 1.</a:t>
            </a:r>
          </a:p>
          <a:p>
            <a:endParaRPr lang="en-US"/>
          </a:p>
        </p:txBody>
      </p:sp>
      <p:sp>
        <p:nvSpPr>
          <p:cNvPr id="4" name="Slide Number Placeholder 3"/>
          <p:cNvSpPr>
            <a:spLocks noGrp="1"/>
          </p:cNvSpPr>
          <p:nvPr>
            <p:ph type="sldNum" sz="quarter" idx="5"/>
          </p:nvPr>
        </p:nvSpPr>
        <p:spPr/>
        <p:txBody>
          <a:bodyPr/>
          <a:lstStyle/>
          <a:p>
            <a:fld id="{1D803912-A8EC-674B-9A2D-38A26A372A8A}" type="slidenum">
              <a:rPr lang="en-US" smtClean="0"/>
              <a:t>2</a:t>
            </a:fld>
            <a:endParaRPr lang="en-US"/>
          </a:p>
        </p:txBody>
      </p:sp>
    </p:spTree>
    <p:extLst>
      <p:ext uri="{BB962C8B-B14F-4D97-AF65-F5344CB8AC3E}">
        <p14:creationId xmlns:p14="http://schemas.microsoft.com/office/powerpoint/2010/main" val="1198515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Here's what we started with: </a:t>
            </a:r>
          </a:p>
          <a:p>
            <a:r>
              <a:rPr lang="en-US" sz="1200" kern="1200">
                <a:solidFill>
                  <a:schemeClr val="tx1"/>
                </a:solidFill>
                <a:effectLst/>
                <a:latin typeface="+mn-lt"/>
                <a:ea typeface="+mn-ea"/>
                <a:cs typeface="+mn-cs"/>
              </a:rPr>
              <a:t>4,999 notes, 40 specialties, 6 columns. We predict specialty from the text alone."</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Four problems: 36-to-1 class imbalance, shared vocabulary blurring boundaries, fake labels that are document types, and cross-listed notes under multiple specialties."</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We only use two columns - specialty and transcription. Phase 1 fixes each problem."</a:t>
            </a:r>
          </a:p>
        </p:txBody>
      </p:sp>
      <p:sp>
        <p:nvSpPr>
          <p:cNvPr id="4" name="Slide Number Placeholder 3"/>
          <p:cNvSpPr>
            <a:spLocks noGrp="1"/>
          </p:cNvSpPr>
          <p:nvPr>
            <p:ph type="sldNum" sz="quarter" idx="5"/>
          </p:nvPr>
        </p:nvSpPr>
        <p:spPr/>
        <p:txBody>
          <a:bodyPr/>
          <a:lstStyle/>
          <a:p>
            <a:fld id="{BE185D8A-16AC-4050-AAF7-D8DFE5BB0EEE}" type="slidenum">
              <a:t>3</a:t>
            </a:fld>
            <a:endParaRPr lang="en-US"/>
          </a:p>
        </p:txBody>
      </p:sp>
    </p:spTree>
    <p:extLst>
      <p:ext uri="{BB962C8B-B14F-4D97-AF65-F5344CB8AC3E}">
        <p14:creationId xmlns:p14="http://schemas.microsoft.com/office/powerpoint/2010/main" val="3924253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Phase 1 has one job: turn noisy raw data into a clean, classification-ready dataset. It splits into two halves. Part 1.1 is data cleaning — removing unusable rows like nulls, duplicates, and notes too short to mean anything, and stripping out mislabeled, cross-listed entries. Part 1.2 is NLP analysis — building length features, cleaning the text itself, and mapping the vocabulary distinctive to each specialty. The headline transformation: 4,999 rows down to 2,586, and 40 labels down to 26 real specialties. Success means three things — only genuine specialties remain, each has enough examples to train on, and there are no duplicate or unusable notes.</a:t>
            </a:r>
          </a:p>
        </p:txBody>
      </p:sp>
      <p:sp>
        <p:nvSpPr>
          <p:cNvPr id="4" name="Slide Number Placeholder 3"/>
          <p:cNvSpPr>
            <a:spLocks noGrp="1"/>
          </p:cNvSpPr>
          <p:nvPr>
            <p:ph type="sldNum" sz="quarter" idx="5"/>
          </p:nvPr>
        </p:nvSpPr>
        <p:spPr/>
        <p:txBody>
          <a:bodyPr/>
          <a:lstStyle/>
          <a:p>
            <a:fld id="{BE185D8A-16AC-4050-AAF7-D8DFE5BB0EEE}" type="slidenum">
              <a:t>4</a:t>
            </a:fld>
            <a:endParaRPr lang="en-US"/>
          </a:p>
        </p:txBody>
      </p:sp>
    </p:spTree>
    <p:extLst>
      <p:ext uri="{BB962C8B-B14F-4D97-AF65-F5344CB8AC3E}">
        <p14:creationId xmlns:p14="http://schemas.microsoft.com/office/powerpoint/2010/main" val="3906752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changing anything, we profiled the raw data. Good news first: the specialty label has zero missing values. The transcription text has 33 missing values — about two-thirds of a percent — which we'll drop. Keywords is 21% empty, but we don't use it. The number that jumps out is duplication: more than half the transcription texts are duplicated. For free-text clinical notes, identical text repeating is a red flag — it strongly suggests the same note was filed under multiple specialty labels. That's the cross-listing problem, and confirming it drives most of the cleaning that follows. Two immediate actions: drop the nulls, and investigate that duplicate text before trusting any label.</a:t>
            </a:r>
          </a:p>
        </p:txBody>
      </p:sp>
      <p:sp>
        <p:nvSpPr>
          <p:cNvPr id="4" name="Slide Number Placeholder 3"/>
          <p:cNvSpPr>
            <a:spLocks noGrp="1"/>
          </p:cNvSpPr>
          <p:nvPr>
            <p:ph type="sldNum" sz="quarter" idx="5"/>
          </p:nvPr>
        </p:nvSpPr>
        <p:spPr/>
        <p:txBody>
          <a:bodyPr/>
          <a:lstStyle/>
          <a:p>
            <a:fld id="{BE185D8A-16AC-4050-AAF7-D8DFE5BB0EEE}" type="slidenum">
              <a:t>5</a:t>
            </a:fld>
            <a:endParaRPr lang="en-US"/>
          </a:p>
        </p:txBody>
      </p:sp>
    </p:spTree>
    <p:extLst>
      <p:ext uri="{BB962C8B-B14F-4D97-AF65-F5344CB8AC3E}">
        <p14:creationId xmlns:p14="http://schemas.microsoft.com/office/powerpoint/2010/main" val="13157592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Some notes are simply too short to classify — there isn't enough text to tell which specialty they belong to. The example on the right is a note that's literally '2-D M-Mode. Doppler.' — eighteen characters, no real clinical content. So we need a minimum-length cutoff. The chart shows how many notes fall below each threshold: 14 under 20 characters, 45 under 100, and so on. We set the line at 100 characters — the sweet spot. It's long enough to guarantee real content, but only removes 45 notes, under one percent of the data. We keep almost everything while dropping the genuinely useless fragments.</a:t>
            </a:r>
          </a:p>
        </p:txBody>
      </p:sp>
      <p:sp>
        <p:nvSpPr>
          <p:cNvPr id="4" name="Slide Number Placeholder 3"/>
          <p:cNvSpPr>
            <a:spLocks noGrp="1"/>
          </p:cNvSpPr>
          <p:nvPr>
            <p:ph type="sldNum" sz="quarter" idx="5"/>
          </p:nvPr>
        </p:nvSpPr>
        <p:spPr/>
        <p:txBody>
          <a:bodyPr/>
          <a:lstStyle/>
          <a:p>
            <a:fld id="{BE185D8A-16AC-4050-AAF7-D8DFE5BB0EEE}" type="slidenum">
              <a:t>6</a:t>
            </a:fld>
            <a:endParaRPr lang="en-US"/>
          </a:p>
        </p:txBody>
      </p:sp>
    </p:spTree>
    <p:extLst>
      <p:ext uri="{BB962C8B-B14F-4D97-AF65-F5344CB8AC3E}">
        <p14:creationId xmlns:p14="http://schemas.microsoft.com/office/powerpoint/2010/main" val="14720696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the distribution problem. Across the 40 raw labels the imbalance is extreme: the largest group, Surgery, has 1,088 notes — nearly 22% of everything — while the smallest, Hospice, has just 6. Eleven specialties have fewer than 20 notes; five have fewer than 10. Two issues fall out of this. First, classes with a handful of examples can't be learned reliably. Second, and bigger: is 'Surgery' even a specialty? It's really a type of procedure that cuts across many specialties. The same doubt applies to a few other labels. The next several slides investigate exactly that.</a:t>
            </a:r>
          </a:p>
        </p:txBody>
      </p:sp>
      <p:sp>
        <p:nvSpPr>
          <p:cNvPr id="4" name="Slide Number Placeholder 3"/>
          <p:cNvSpPr>
            <a:spLocks noGrp="1"/>
          </p:cNvSpPr>
          <p:nvPr>
            <p:ph type="sldNum" sz="quarter" idx="5"/>
          </p:nvPr>
        </p:nvSpPr>
        <p:spPr/>
        <p:txBody>
          <a:bodyPr/>
          <a:lstStyle/>
          <a:p>
            <a:fld id="{BE185D8A-16AC-4050-AAF7-D8DFE5BB0EEE}" type="slidenum">
              <a:t>7</a:t>
            </a:fld>
            <a:endParaRPr lang="en-US"/>
          </a:p>
        </p:txBody>
      </p:sp>
    </p:spTree>
    <p:extLst>
      <p:ext uri="{BB962C8B-B14F-4D97-AF65-F5344CB8AC3E}">
        <p14:creationId xmlns:p14="http://schemas.microsoft.com/office/powerpoint/2010/main" val="42909746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Looking closely, several labels describe the kind of document, not a medical field — 'Consult, History and Physical,' 'SOAP / Progress Notes,' 'Discharge Summary,' 'Office Notes,' 'Letters,' and so on. Together that's 954 rows, almost a fifth of the dataset, tagged with a document format instead of a specialty. The obvious question: are these notes unique, or just copies of notes that already carry a real specialty label? If they're duplicates, we can drop the format label without losing anything. The next slide answers that with hard numbers.</a:t>
            </a:r>
          </a:p>
        </p:txBody>
      </p:sp>
      <p:sp>
        <p:nvSpPr>
          <p:cNvPr id="4" name="Slide Number Placeholder 3"/>
          <p:cNvSpPr>
            <a:spLocks noGrp="1"/>
          </p:cNvSpPr>
          <p:nvPr>
            <p:ph type="sldNum" sz="quarter" idx="5"/>
          </p:nvPr>
        </p:nvSpPr>
        <p:spPr/>
        <p:txBody>
          <a:bodyPr/>
          <a:lstStyle/>
          <a:p>
            <a:fld id="{BE185D8A-16AC-4050-AAF7-D8DFE5BB0EEE}" type="slidenum">
              <a:t>8</a:t>
            </a:fld>
            <a:endParaRPr lang="en-US"/>
          </a:p>
        </p:txBody>
      </p:sp>
    </p:spTree>
    <p:extLst>
      <p:ext uri="{BB962C8B-B14F-4D97-AF65-F5344CB8AC3E}">
        <p14:creationId xmlns:p14="http://schemas.microsoft.com/office/powerpoint/2010/main" val="2707692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Here's the proof. We took every unique transcription in those non-specialty rows — 863 of them — and checked whether the same text also appears under a real specialty. The answer: 829, just over 96%, do. Only 34 are unique to the non-specialty labels. The Venn diagram shows that overlap. So dropping the document-format labels removes redundancy, not content — for 96% of these notes the real specialty label is still there. This is the evidence-based green light to clean them out, rather than an assumption.</a:t>
            </a:r>
          </a:p>
        </p:txBody>
      </p:sp>
      <p:sp>
        <p:nvSpPr>
          <p:cNvPr id="4" name="Slide Number Placeholder 3"/>
          <p:cNvSpPr>
            <a:spLocks noGrp="1"/>
          </p:cNvSpPr>
          <p:nvPr>
            <p:ph type="sldNum" sz="quarter" idx="5"/>
          </p:nvPr>
        </p:nvSpPr>
        <p:spPr/>
        <p:txBody>
          <a:bodyPr/>
          <a:lstStyle/>
          <a:p>
            <a:fld id="{BE185D8A-16AC-4050-AAF7-D8DFE5BB0EEE}" type="slidenum">
              <a:t>9</a:t>
            </a:fld>
            <a:endParaRPr lang="en-US"/>
          </a:p>
        </p:txBody>
      </p:sp>
    </p:spTree>
    <p:extLst>
      <p:ext uri="{BB962C8B-B14F-4D97-AF65-F5344CB8AC3E}">
        <p14:creationId xmlns:p14="http://schemas.microsoft.com/office/powerpoint/2010/main" val="416794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ran the same test on 'Surgery.' Of its roughly 1,089 unique notes, 1,040 — over 95% — also appear under a more specific specialty. The example is a knee arthroscopy note labeled both 'Surgery' and 'Orthopedic.' When a note carries both, the specific specialty — Orthopedic — is the correct target; 'Surgery' just says a procedure happened. So we drop the Surgery label. Because the overlap is 95%, we're removing an ambiguous, redundant tag; the clinical content stays, attached to its real specialty.</a:t>
            </a:r>
          </a:p>
        </p:txBody>
      </p:sp>
      <p:sp>
        <p:nvSpPr>
          <p:cNvPr id="4" name="Slide Number Placeholder 3"/>
          <p:cNvSpPr>
            <a:spLocks noGrp="1"/>
          </p:cNvSpPr>
          <p:nvPr>
            <p:ph type="sldNum" sz="quarter" idx="5"/>
          </p:nvPr>
        </p:nvSpPr>
        <p:spPr/>
        <p:txBody>
          <a:bodyPr/>
          <a:lstStyle/>
          <a:p>
            <a:fld id="{BE185D8A-16AC-4050-AAF7-D8DFE5BB0EEE}" type="slidenum">
              <a:t>10</a:t>
            </a:fld>
            <a:endParaRPr lang="en-US"/>
          </a:p>
        </p:txBody>
      </p:sp>
    </p:spTree>
    <p:extLst>
      <p:ext uri="{BB962C8B-B14F-4D97-AF65-F5344CB8AC3E}">
        <p14:creationId xmlns:p14="http://schemas.microsoft.com/office/powerpoint/2010/main" val="196088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Radiology is the same story. Of 273 Radiology notes, 262 — about 96% — also appear under another specialty. That makes sense: a radiology report describes findings that belong to some other field. The example is a chest X-ray showing cardiac enlargement, which is really a cardiovascular note. So we drop Radiology too. Removing it cuts label ambiguity, because these reports inherit the clinical context they describe. That's the last of the cross-listed categories.</a:t>
            </a:r>
          </a:p>
        </p:txBody>
      </p:sp>
      <p:sp>
        <p:nvSpPr>
          <p:cNvPr id="4" name="Slide Number Placeholder 3"/>
          <p:cNvSpPr>
            <a:spLocks noGrp="1"/>
          </p:cNvSpPr>
          <p:nvPr>
            <p:ph type="sldNum" sz="quarter" idx="5"/>
          </p:nvPr>
        </p:nvSpPr>
        <p:spPr/>
        <p:txBody>
          <a:bodyPr/>
          <a:lstStyle/>
          <a:p>
            <a:fld id="{BE185D8A-16AC-4050-AAF7-D8DFE5BB0EEE}" type="slidenum">
              <a:t>11</a:t>
            </a:fld>
            <a:endParaRPr lang="en-US"/>
          </a:p>
        </p:txBody>
      </p:sp>
    </p:spTree>
    <p:extLst>
      <p:ext uri="{BB962C8B-B14F-4D97-AF65-F5344CB8AC3E}">
        <p14:creationId xmlns:p14="http://schemas.microsoft.com/office/powerpoint/2010/main" val="41229523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the rare specialties. A model needs enough examples per class to learn a pattern — and these don't have it. Speech-Language has 9 notes, Autopsy 8, Allergy 7, Hospice just 6. Three concrete problems: you can't reliably split so few notes into train and test sets; six to nine examples can't teach a generalizable pattern; and cross-validation is impossible at that size. The math makes it vivid — an 80/20 split on 6 notes gives 4.8 training and 1.2 test. You can't have fractions of a note, and the model effectively sees five or fewer examples. There's nothing to learn from that.</a:t>
            </a:r>
          </a:p>
        </p:txBody>
      </p:sp>
      <p:sp>
        <p:nvSpPr>
          <p:cNvPr id="4" name="Slide Number Placeholder 3"/>
          <p:cNvSpPr>
            <a:spLocks noGrp="1"/>
          </p:cNvSpPr>
          <p:nvPr>
            <p:ph type="sldNum" sz="quarter" idx="5"/>
          </p:nvPr>
        </p:nvSpPr>
        <p:spPr/>
        <p:txBody>
          <a:bodyPr/>
          <a:lstStyle/>
          <a:p>
            <a:fld id="{BE185D8A-16AC-4050-AAF7-D8DFE5BB0EEE}" type="slidenum">
              <a:t>12</a:t>
            </a:fld>
            <a:endParaRPr lang="en-US"/>
          </a:p>
        </p:txBody>
      </p:sp>
    </p:spTree>
    <p:extLst>
      <p:ext uri="{BB962C8B-B14F-4D97-AF65-F5344CB8AC3E}">
        <p14:creationId xmlns:p14="http://schemas.microsoft.com/office/powerpoint/2010/main" val="42292112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puts the whole cleaning process in order — six steps, and the waterfall chart shows the row count dropping at each one. Step one, drop nulls, 33 rows. Step two, normalize whitespace so text matches consistently. Step three, remove exact duplicates, just 2. Step four, drop notes under 100 characters, 44 rows. Step five is the big one: remove the non-specialty, Surgery, and Radiology labels — about 2,300 cross-listed rows. Step six, drop the rare classes, 37 rows. We start at 4,999 and land at 2,586. The order matters: clean obvious junk first, then tackle the structural label problems.</a:t>
            </a:r>
          </a:p>
        </p:txBody>
      </p:sp>
      <p:sp>
        <p:nvSpPr>
          <p:cNvPr id="4" name="Slide Number Placeholder 3"/>
          <p:cNvSpPr>
            <a:spLocks noGrp="1"/>
          </p:cNvSpPr>
          <p:nvPr>
            <p:ph type="sldNum" sz="quarter" idx="5"/>
          </p:nvPr>
        </p:nvSpPr>
        <p:spPr/>
        <p:txBody>
          <a:bodyPr/>
          <a:lstStyle/>
          <a:p>
            <a:fld id="{BE185D8A-16AC-4050-AAF7-D8DFE5BB0EEE}" type="slidenum">
              <a:t>13</a:t>
            </a:fld>
            <a:endParaRPr lang="en-US"/>
          </a:p>
        </p:txBody>
      </p:sp>
    </p:spTree>
    <p:extLst>
      <p:ext uri="{BB962C8B-B14F-4D97-AF65-F5344CB8AC3E}">
        <p14:creationId xmlns:p14="http://schemas.microsoft.com/office/powerpoint/2010/main" val="3764131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And here's the result — the clean dataset. 2,586 notes across 26 genuine specialties. Cardiovascular and Orthopedic lead at about 14 and 13 percent; the smallest kept specialties, like Rheumatology and Diets and </a:t>
            </a:r>
            <a:r>
              <a:rPr lang="en-US" err="1"/>
              <a:t>Nutritions</a:t>
            </a:r>
            <a:r>
              <a:rPr lang="en-US"/>
              <a:t>, sit right at our 10-note floor. On the right is the quality scorecard: no nulls in key columns, no exact duplicates, every note at least 100 characters, every specialty at least 10 notes, and only true specialties remaining. There's still imbalance — about 36 to 1 between largest and smallest — which we'll keep in mind for modeling, but every class is now trainable.</a:t>
            </a:r>
          </a:p>
        </p:txBody>
      </p:sp>
      <p:sp>
        <p:nvSpPr>
          <p:cNvPr id="4" name="Slide Number Placeholder 3"/>
          <p:cNvSpPr>
            <a:spLocks noGrp="1"/>
          </p:cNvSpPr>
          <p:nvPr>
            <p:ph type="sldNum" sz="quarter" idx="5"/>
          </p:nvPr>
        </p:nvSpPr>
        <p:spPr/>
        <p:txBody>
          <a:bodyPr/>
          <a:lstStyle/>
          <a:p>
            <a:fld id="{BE185D8A-16AC-4050-AAF7-D8DFE5BB0EEE}" type="slidenum">
              <a:t>14</a:t>
            </a:fld>
            <a:endParaRPr lang="en-US"/>
          </a:p>
        </p:txBody>
      </p:sp>
    </p:spTree>
    <p:extLst>
      <p:ext uri="{BB962C8B-B14F-4D97-AF65-F5344CB8AC3E}">
        <p14:creationId xmlns:p14="http://schemas.microsoft.com/office/powerpoint/2010/main" val="8559819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Quick recap of the cleaning. We cut the dataset by 48% — 4,999 to 2,586 rows — and reduced labels by 35%, from 40 to 26. The table breaks down where everything went: 33 null transcriptions, 44 too-short notes, about 2,300 cross-listed labels, 37 rare-class notes, and 2 exact duplicates. The key message: every single row we dropped had a documented, data-driven reason. We didn't guess — we proved, with overlap analysis and counts, that nothing valuable was lost.</a:t>
            </a:r>
          </a:p>
        </p:txBody>
      </p:sp>
      <p:sp>
        <p:nvSpPr>
          <p:cNvPr id="4" name="Slide Number Placeholder 3"/>
          <p:cNvSpPr>
            <a:spLocks noGrp="1"/>
          </p:cNvSpPr>
          <p:nvPr>
            <p:ph type="sldNum" sz="quarter" idx="5"/>
          </p:nvPr>
        </p:nvSpPr>
        <p:spPr/>
        <p:txBody>
          <a:bodyPr/>
          <a:lstStyle/>
          <a:p>
            <a:fld id="{BE185D8A-16AC-4050-AAF7-D8DFE5BB0EEE}" type="slidenum">
              <a:t>15</a:t>
            </a:fld>
            <a:endParaRPr lang="en-US"/>
          </a:p>
        </p:txBody>
      </p:sp>
    </p:spTree>
    <p:extLst>
      <p:ext uri="{BB962C8B-B14F-4D97-AF65-F5344CB8AC3E}">
        <p14:creationId xmlns:p14="http://schemas.microsoft.com/office/powerpoint/2010/main" val="8477659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With clean data in hand we move to NLP analysis and engineer three simple features that capture how complex a note is. Character length — the raw size, averaging about 3,000 characters. Word count — averaging 469. And sentence count — averaging 30, using NLTK's sentence tokenizer rather than just splitting on periods, which matters for clinical text full of abbreviations like 'Dr.' These histograms show all three are right-skewed: most notes are short to medium, with a long tail of very long ones. The question is whether these length signals differ by specialty — that's the next slide.</a:t>
            </a:r>
          </a:p>
        </p:txBody>
      </p:sp>
      <p:sp>
        <p:nvSpPr>
          <p:cNvPr id="4" name="Slide Number Placeholder 3"/>
          <p:cNvSpPr>
            <a:spLocks noGrp="1"/>
          </p:cNvSpPr>
          <p:nvPr>
            <p:ph type="sldNum" sz="quarter" idx="5"/>
          </p:nvPr>
        </p:nvSpPr>
        <p:spPr/>
        <p:txBody>
          <a:bodyPr/>
          <a:lstStyle/>
          <a:p>
            <a:fld id="{BE185D8A-16AC-4050-AAF7-D8DFE5BB0EEE}" type="slidenum">
              <a:t>16</a:t>
            </a:fld>
            <a:endParaRPr lang="en-US"/>
          </a:p>
        </p:txBody>
      </p:sp>
    </p:spTree>
    <p:extLst>
      <p:ext uri="{BB962C8B-B14F-4D97-AF65-F5344CB8AC3E}">
        <p14:creationId xmlns:p14="http://schemas.microsoft.com/office/powerpoint/2010/main" val="17742811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we break word count down by specialty. There is a real signal: Psychiatry and Psychology write the longest notes by far — a median around 650 words — because they're narrative-heavy. Pain Management is the most concise, around 220. But notice two things: every specialty has a long right tail of outliers, some past 2,000 words, and the boxes overlap heavily. So length helps a little, but it's nowhere near enough to classify on its own. That's why Phase 1.2 also extracts word-level features — which words actually appear — and that's where the real discriminating power is.</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BE185D8A-16AC-4050-AAF7-D8DFE5BB0EEE}" type="slidenum">
              <a:t>17</a:t>
            </a:fld>
            <a:endParaRPr lang="en-US"/>
          </a:p>
        </p:txBody>
      </p:sp>
    </p:spTree>
    <p:extLst>
      <p:ext uri="{BB962C8B-B14F-4D97-AF65-F5344CB8AC3E}">
        <p14:creationId xmlns:p14="http://schemas.microsoft.com/office/powerpoint/2010/main" val="20087219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get word-level features we first have to clean the text, because raw clinical text is full of noise that hides the real patterns. The before-and-after shows it: 'The patient's blood pressure is 120 over 80. Heart sounds are normal.' becomes 'patient blood pressure heart sounds normal.' Four kinds of noise get removed: mixed case, where 'Heart' and 'heart' would count as different words; punctuation; stopwords like 'the,' 'and,' 'of' that appear everywhere and mean nothing; and numbers and symbols like dates and measurements. What's left is the medically meaningful content.</a:t>
            </a:r>
          </a:p>
        </p:txBody>
      </p:sp>
      <p:sp>
        <p:nvSpPr>
          <p:cNvPr id="4" name="Slide Number Placeholder 3"/>
          <p:cNvSpPr>
            <a:spLocks noGrp="1"/>
          </p:cNvSpPr>
          <p:nvPr>
            <p:ph type="sldNum" sz="quarter" idx="5"/>
          </p:nvPr>
        </p:nvSpPr>
        <p:spPr/>
        <p:txBody>
          <a:bodyPr/>
          <a:lstStyle/>
          <a:p>
            <a:fld id="{BE185D8A-16AC-4050-AAF7-D8DFE5BB0EEE}" type="slidenum">
              <a:t>18</a:t>
            </a:fld>
            <a:endParaRPr lang="en-US"/>
          </a:p>
        </p:txBody>
      </p:sp>
    </p:spTree>
    <p:extLst>
      <p:ext uri="{BB962C8B-B14F-4D97-AF65-F5344CB8AC3E}">
        <p14:creationId xmlns:p14="http://schemas.microsoft.com/office/powerpoint/2010/main" val="14625715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actual function that does it, in five steps. One: lowercase everything, so 'Heart' and 'heart' become one feature. Two: strip punctuation and digits — and importantly replace them with a space, not nothing, so 'patient.The' becomes 'patient the' rather than fusing into one word. Three: split into individual words. Four: remove stopwords, the high-frequency grammatical filler. Five: rejoin into a clean string, ready to be turned into numbers for the model. Straightforward, but each step is deliberate.</a:t>
            </a:r>
          </a:p>
        </p:txBody>
      </p:sp>
      <p:sp>
        <p:nvSpPr>
          <p:cNvPr id="4" name="Slide Number Placeholder 3"/>
          <p:cNvSpPr>
            <a:spLocks noGrp="1"/>
          </p:cNvSpPr>
          <p:nvPr>
            <p:ph type="sldNum" sz="quarter" idx="5"/>
          </p:nvPr>
        </p:nvSpPr>
        <p:spPr/>
        <p:txBody>
          <a:bodyPr/>
          <a:lstStyle/>
          <a:p>
            <a:fld id="{BE185D8A-16AC-4050-AAF7-D8DFE5BB0EEE}" type="slidenum">
              <a:t>19</a:t>
            </a:fld>
            <a:endParaRPr lang="en-US"/>
          </a:p>
        </p:txBody>
      </p:sp>
    </p:spTree>
    <p:extLst>
      <p:ext uri="{BB962C8B-B14F-4D97-AF65-F5344CB8AC3E}">
        <p14:creationId xmlns:p14="http://schemas.microsoft.com/office/powerpoint/2010/main" val="13607966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watch one real note go through the pipeline. It starts as a past-medical-history note with mixed case and punctuation. After lowercasing, the capitals are gone. After removing punctuation, commas and colons become spaces. After removing stopwords, the filler words drop out, leaving only content terms. The result: this note went from 82 words to 47 — a 43% reduction — but every medical term survived. We threw away grammar, not meaning.</a:t>
            </a:r>
          </a:p>
        </p:txBody>
      </p:sp>
      <p:sp>
        <p:nvSpPr>
          <p:cNvPr id="4" name="Slide Number Placeholder 3"/>
          <p:cNvSpPr>
            <a:spLocks noGrp="1"/>
          </p:cNvSpPr>
          <p:nvPr>
            <p:ph type="sldNum" sz="quarter" idx="5"/>
          </p:nvPr>
        </p:nvSpPr>
        <p:spPr/>
        <p:txBody>
          <a:bodyPr/>
          <a:lstStyle/>
          <a:p>
            <a:fld id="{BE185D8A-16AC-4050-AAF7-D8DFE5BB0EEE}" type="slidenum">
              <a:t>20</a:t>
            </a:fld>
            <a:endParaRPr lang="en-US"/>
          </a:p>
        </p:txBody>
      </p:sp>
    </p:spTree>
    <p:extLst>
      <p:ext uri="{BB962C8B-B14F-4D97-AF65-F5344CB8AC3E}">
        <p14:creationId xmlns:p14="http://schemas.microsoft.com/office/powerpoint/2010/main" val="28285062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do we know the cleaning worked? We counted the most common words afterward. The top ones are 'patient,' 'right,' 'left,' 'history,' 'procedure' — all genuine clinical vocabulary, not grammatical words like 'the' or 'and.' That's the quality check passing: the output is medical content. The word cloud visualizes it, sized by frequency. A couple of single-letter artifacts like 'c' and 'x' slip through, and we'll handle those later with a custom </a:t>
            </a:r>
            <a:r>
              <a:rPr lang="en-US" err="1"/>
              <a:t>stopword</a:t>
            </a:r>
            <a:r>
              <a:rPr lang="en-US"/>
              <a:t> list during vectorization. But overall, the text is now clean and meaningful.</a:t>
            </a:r>
          </a:p>
        </p:txBody>
      </p:sp>
      <p:sp>
        <p:nvSpPr>
          <p:cNvPr id="4" name="Slide Number Placeholder 3"/>
          <p:cNvSpPr>
            <a:spLocks noGrp="1"/>
          </p:cNvSpPr>
          <p:nvPr>
            <p:ph type="sldNum" sz="quarter" idx="5"/>
          </p:nvPr>
        </p:nvSpPr>
        <p:spPr/>
        <p:txBody>
          <a:bodyPr/>
          <a:lstStyle/>
          <a:p>
            <a:fld id="{BE185D8A-16AC-4050-AAF7-D8DFE5BB0EEE}" type="slidenum">
              <a:t>21</a:t>
            </a:fld>
            <a:endParaRPr lang="en-US"/>
          </a:p>
        </p:txBody>
      </p:sp>
    </p:spTree>
    <p:extLst>
      <p:ext uri="{BB962C8B-B14F-4D97-AF65-F5344CB8AC3E}">
        <p14:creationId xmlns:p14="http://schemas.microsoft.com/office/powerpoint/2010/main" val="17512989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the payoff question: do different specialties actually use different words? Yes, clearly. For each specialty we pulled its most frequent terms. Cardiovascular is all 'coronary,' 'artery,' 'catheter,' 'heart.' Orthopedic is 'knee,' 'incision,' 'lateral,' 'fracture.' Gastroenterology is 'colon,' 'abdomen,' 'gallbladder.' Each specialty has a signature vocabulary — a linguistic fingerprint. This is the foundation that makes classification possible: if the words differ by specialty, a model can learn to tell them apart.</a:t>
            </a:r>
          </a:p>
        </p:txBody>
      </p:sp>
      <p:sp>
        <p:nvSpPr>
          <p:cNvPr id="4" name="Slide Number Placeholder 3"/>
          <p:cNvSpPr>
            <a:spLocks noGrp="1"/>
          </p:cNvSpPr>
          <p:nvPr>
            <p:ph type="sldNum" sz="quarter" idx="5"/>
          </p:nvPr>
        </p:nvSpPr>
        <p:spPr/>
        <p:txBody>
          <a:bodyPr/>
          <a:lstStyle/>
          <a:p>
            <a:fld id="{BE185D8A-16AC-4050-AAF7-D8DFE5BB0EEE}" type="slidenum">
              <a:t>22</a:t>
            </a:fld>
            <a:endParaRPr lang="en-US"/>
          </a:p>
        </p:txBody>
      </p:sp>
    </p:spTree>
    <p:extLst>
      <p:ext uri="{BB962C8B-B14F-4D97-AF65-F5344CB8AC3E}">
        <p14:creationId xmlns:p14="http://schemas.microsoft.com/office/powerpoint/2010/main" val="4716238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Single words aren't the whole story, because medical language is phrase-heavy. 'Blood pressure' is really one concept, not two separate words. So we also look at two-word and three-word sequences — bigrams and trigrams. Top bigrams include 'year old,' 'operating room,' 'blood pressure'; top trigrams include 'patient year old,' 'past medical history,' 'history present illness.' The point: 'internal' alone is generic, but 'internal carotid' is a specific anatomical term. Phrases carry specialty signal that single words miss. The one entry 'c c' is an artifact we filter out.</a:t>
            </a:r>
          </a:p>
        </p:txBody>
      </p:sp>
      <p:sp>
        <p:nvSpPr>
          <p:cNvPr id="4" name="Slide Number Placeholder 3"/>
          <p:cNvSpPr>
            <a:spLocks noGrp="1"/>
          </p:cNvSpPr>
          <p:nvPr>
            <p:ph type="sldNum" sz="quarter" idx="5"/>
          </p:nvPr>
        </p:nvSpPr>
        <p:spPr/>
        <p:txBody>
          <a:bodyPr/>
          <a:lstStyle/>
          <a:p>
            <a:fld id="{BE185D8A-16AC-4050-AAF7-D8DFE5BB0EEE}" type="slidenum">
              <a:t>23</a:t>
            </a:fld>
            <a:endParaRPr lang="en-US"/>
          </a:p>
        </p:txBody>
      </p:sp>
    </p:spTree>
    <p:extLst>
      <p:ext uri="{BB962C8B-B14F-4D97-AF65-F5344CB8AC3E}">
        <p14:creationId xmlns:p14="http://schemas.microsoft.com/office/powerpoint/2010/main" val="549204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That completes Phase 1. On the left, what we delivered: a clean dataset of 2,586 notes across 26 specialties; three length features; a clean-text column ready for the model; and a full vocabulary analysis of top words, bigrams, and trigrams — all saved to a CSV. On the right, the decisions we validated with evidence: non-specialty labels removed with 96% overlap proven, Surgery and Radiology cross-listing eliminated, rare classes dropped for lack of data, and the length threshold set. The throughline of the whole phase: every row we dropped had a justification, and we proved nothing valuable was lost.</a:t>
            </a:r>
          </a:p>
        </p:txBody>
      </p:sp>
      <p:sp>
        <p:nvSpPr>
          <p:cNvPr id="4" name="Slide Number Placeholder 3"/>
          <p:cNvSpPr>
            <a:spLocks noGrp="1"/>
          </p:cNvSpPr>
          <p:nvPr>
            <p:ph type="sldNum" sz="quarter" idx="5"/>
          </p:nvPr>
        </p:nvSpPr>
        <p:spPr/>
        <p:txBody>
          <a:bodyPr/>
          <a:lstStyle/>
          <a:p>
            <a:fld id="{BE185D8A-16AC-4050-AAF7-D8DFE5BB0EEE}" type="slidenum">
              <a:t>24</a:t>
            </a:fld>
            <a:endParaRPr lang="en-US"/>
          </a:p>
        </p:txBody>
      </p:sp>
    </p:spTree>
    <p:extLst>
      <p:ext uri="{BB962C8B-B14F-4D97-AF65-F5344CB8AC3E}">
        <p14:creationId xmlns:p14="http://schemas.microsoft.com/office/powerpoint/2010/main" val="280599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  </a:t>
            </a:r>
            <a:r>
              <a:rPr lang="en-US" sz="1200" b="1" kern="1200">
                <a:solidFill>
                  <a:schemeClr val="tx1"/>
                </a:solidFill>
                <a:effectLst/>
                <a:latin typeface="+mn-lt"/>
                <a:ea typeface="+mn-ea"/>
                <a:cs typeface="+mn-cs"/>
              </a:rPr>
              <a:t>Open:</a:t>
            </a:r>
            <a:r>
              <a:rPr lang="en-US" sz="1200" kern="1200">
                <a:solidFill>
                  <a:schemeClr val="tx1"/>
                </a:solidFill>
                <a:effectLst/>
                <a:latin typeface="+mn-lt"/>
                <a:ea typeface="+mn-ea"/>
                <a:cs typeface="+mn-cs"/>
              </a:rPr>
              <a:t> "Phase 2 is where we move from counting words to proving statistically which words belong to a specialty."</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  </a:t>
            </a:r>
            <a:r>
              <a:rPr lang="en-US" sz="1200" b="1" kern="1200">
                <a:solidFill>
                  <a:schemeClr val="tx1"/>
                </a:solidFill>
                <a:effectLst/>
                <a:latin typeface="+mn-lt"/>
                <a:ea typeface="+mn-ea"/>
                <a:cs typeface="+mn-cs"/>
              </a:rPr>
              <a:t>Left table:</a:t>
            </a:r>
            <a:r>
              <a:rPr lang="en-US" sz="1200" kern="1200">
                <a:solidFill>
                  <a:schemeClr val="tx1"/>
                </a:solidFill>
                <a:effectLst/>
                <a:latin typeface="+mn-lt"/>
                <a:ea typeface="+mn-ea"/>
                <a:cs typeface="+mn-cs"/>
              </a:rPr>
              <a:t> "The chi-square test asks: is this word here by chance or is there a real bond? 'Eye' scored over 10,000 — its presence in Ophthalmology is</a:t>
            </a:r>
          </a:p>
          <a:p>
            <a:r>
              <a:rPr lang="en-US" sz="1200" kern="1200">
                <a:solidFill>
                  <a:schemeClr val="tx1"/>
                </a:solidFill>
                <a:effectLst/>
                <a:latin typeface="+mn-lt"/>
                <a:ea typeface="+mn-ea"/>
                <a:cs typeface="+mn-cs"/>
              </a:rPr>
              <a:t>  essentially guaranteed, not random."</a:t>
            </a:r>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  </a:t>
            </a:r>
            <a:r>
              <a:rPr lang="en-US" sz="1200" b="1" kern="1200">
                <a:solidFill>
                  <a:schemeClr val="tx1"/>
                </a:solidFill>
                <a:effectLst/>
                <a:latin typeface="+mn-lt"/>
                <a:ea typeface="+mn-ea"/>
                <a:cs typeface="+mn-cs"/>
              </a:rPr>
              <a:t>Right side:</a:t>
            </a:r>
            <a:r>
              <a:rPr lang="en-US" sz="1200" kern="1200">
                <a:solidFill>
                  <a:schemeClr val="tx1"/>
                </a:solidFill>
                <a:effectLst/>
                <a:latin typeface="+mn-lt"/>
                <a:ea typeface="+mn-ea"/>
                <a:cs typeface="+mn-cs"/>
              </a:rPr>
              <a:t> "Per specialty: Cardiovascular gets artery, coronary. Orthopedic gets knee, fracture. Not surprising — but now we have mathematical proof. Every term here passed p less than 0.05."</a:t>
            </a:r>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  </a:t>
            </a:r>
            <a:r>
              <a:rPr lang="en-US" sz="1200" b="1" kern="1200">
                <a:solidFill>
                  <a:schemeClr val="tx1"/>
                </a:solidFill>
                <a:effectLst/>
                <a:latin typeface="+mn-lt"/>
                <a:ea typeface="+mn-ea"/>
                <a:cs typeface="+mn-cs"/>
              </a:rPr>
              <a:t>Wrap:</a:t>
            </a:r>
            <a:r>
              <a:rPr lang="en-US" sz="1200" kern="1200">
                <a:solidFill>
                  <a:schemeClr val="tx1"/>
                </a:solidFill>
                <a:effectLst/>
                <a:latin typeface="+mn-lt"/>
                <a:ea typeface="+mn-ea"/>
                <a:cs typeface="+mn-cs"/>
              </a:rPr>
              <a:t> "This tells our models which features to trust. High chi-square = reliable signal. 'Patient' would score low — useless for classification."</a:t>
            </a:r>
          </a:p>
          <a:p>
            <a:endParaRPr lang="en-US"/>
          </a:p>
        </p:txBody>
      </p:sp>
      <p:sp>
        <p:nvSpPr>
          <p:cNvPr id="4" name="Slide Number Placeholder 3"/>
          <p:cNvSpPr>
            <a:spLocks noGrp="1"/>
          </p:cNvSpPr>
          <p:nvPr>
            <p:ph type="sldNum" sz="quarter" idx="5"/>
          </p:nvPr>
        </p:nvSpPr>
        <p:spPr/>
        <p:txBody>
          <a:bodyPr/>
          <a:lstStyle/>
          <a:p>
            <a:fld id="{1D803912-A8EC-674B-9A2D-38A26A372A8A}" type="slidenum">
              <a:rPr lang="en-US" smtClean="0"/>
              <a:t>25</a:t>
            </a:fld>
            <a:endParaRPr lang="en-US"/>
          </a:p>
        </p:txBody>
      </p:sp>
    </p:spTree>
    <p:extLst>
      <p:ext uri="{BB962C8B-B14F-4D97-AF65-F5344CB8AC3E}">
        <p14:creationId xmlns:p14="http://schemas.microsoft.com/office/powerpoint/2010/main" val="6578577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  </a:t>
            </a:r>
            <a:r>
              <a:rPr lang="en-US" sz="1200" b="1" kern="1200">
                <a:solidFill>
                  <a:schemeClr val="tx1"/>
                </a:solidFill>
                <a:effectLst/>
                <a:latin typeface="+mn-lt"/>
                <a:ea typeface="+mn-ea"/>
                <a:cs typeface="+mn-cs"/>
              </a:rPr>
              <a:t>Open:</a:t>
            </a:r>
            <a:r>
              <a:rPr lang="en-US" sz="1200" kern="1200">
                <a:solidFill>
                  <a:schemeClr val="tx1"/>
                </a:solidFill>
                <a:effectLst/>
                <a:latin typeface="+mn-lt"/>
                <a:ea typeface="+mn-ea"/>
                <a:cs typeface="+mn-cs"/>
              </a:rPr>
              <a:t> "Chi-square works on single words. But medicine speaks in phrases. PMI finds word pairs that stick together more than chance predicts."</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  </a:t>
            </a:r>
            <a:r>
              <a:rPr lang="en-US" sz="1200" b="1" kern="1200">
                <a:solidFill>
                  <a:schemeClr val="tx1"/>
                </a:solidFill>
                <a:effectLst/>
                <a:latin typeface="+mn-lt"/>
                <a:ea typeface="+mn-ea"/>
                <a:cs typeface="+mn-cs"/>
              </a:rPr>
              <a:t>Left list:</a:t>
            </a:r>
            <a:r>
              <a:rPr lang="en-US" sz="1200" kern="1200">
                <a:solidFill>
                  <a:schemeClr val="tx1"/>
                </a:solidFill>
                <a:effectLst/>
                <a:latin typeface="+mn-lt"/>
                <a:ea typeface="+mn-ea"/>
                <a:cs typeface="+mn-cs"/>
              </a:rPr>
              <a:t> "These are real clinical terms — amaurosis fugax, myasthenia gravis, spina bifida. The words seek each other out. You'd never see 'amaurosis' without 'fugax.'"</a:t>
            </a:r>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  </a:t>
            </a:r>
            <a:r>
              <a:rPr lang="en-US" sz="1200" b="1" kern="1200">
                <a:solidFill>
                  <a:schemeClr val="tx1"/>
                </a:solidFill>
                <a:effectLst/>
                <a:latin typeface="+mn-lt"/>
                <a:ea typeface="+mn-ea"/>
                <a:cs typeface="+mn-cs"/>
              </a:rPr>
              <a:t>Right side:</a:t>
            </a:r>
            <a:r>
              <a:rPr lang="en-US" sz="1200" kern="1200">
                <a:solidFill>
                  <a:schemeClr val="tx1"/>
                </a:solidFill>
                <a:effectLst/>
                <a:latin typeface="+mn-lt"/>
                <a:ea typeface="+mn-ea"/>
                <a:cs typeface="+mn-cs"/>
              </a:rPr>
              <a:t> "High PMI = genuine medical term. Low PMI = random collision like 'the patient' — both common individually but not a meaningful phrase."</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  </a:t>
            </a:r>
            <a:r>
              <a:rPr lang="en-US" sz="1200" b="1" kern="1200">
                <a:solidFill>
                  <a:schemeClr val="tx1"/>
                </a:solidFill>
                <a:effectLst/>
                <a:latin typeface="+mn-lt"/>
                <a:ea typeface="+mn-ea"/>
                <a:cs typeface="+mn-cs"/>
              </a:rPr>
              <a:t>Wrap:</a:t>
            </a:r>
            <a:r>
              <a:rPr lang="en-US" sz="1200" kern="1200">
                <a:solidFill>
                  <a:schemeClr val="tx1"/>
                </a:solidFill>
                <a:effectLst/>
                <a:latin typeface="+mn-lt"/>
                <a:ea typeface="+mn-ea"/>
                <a:cs typeface="+mn-cs"/>
              </a:rPr>
              <a:t> "PMI filters our n-gram features. Instead of thousands of random pairs, we keep only ones with clinical meaning."</a:t>
            </a:r>
          </a:p>
          <a:p>
            <a:endParaRPr lang="en-US"/>
          </a:p>
        </p:txBody>
      </p:sp>
      <p:sp>
        <p:nvSpPr>
          <p:cNvPr id="4" name="Slide Number Placeholder 3"/>
          <p:cNvSpPr>
            <a:spLocks noGrp="1"/>
          </p:cNvSpPr>
          <p:nvPr>
            <p:ph type="sldNum" sz="quarter" idx="5"/>
          </p:nvPr>
        </p:nvSpPr>
        <p:spPr/>
        <p:txBody>
          <a:bodyPr/>
          <a:lstStyle/>
          <a:p>
            <a:fld id="{1D803912-A8EC-674B-9A2D-38A26A372A8A}" type="slidenum">
              <a:rPr lang="en-US" smtClean="0"/>
              <a:t>26</a:t>
            </a:fld>
            <a:endParaRPr lang="en-US"/>
          </a:p>
        </p:txBody>
      </p:sp>
    </p:spTree>
    <p:extLst>
      <p:ext uri="{BB962C8B-B14F-4D97-AF65-F5344CB8AC3E}">
        <p14:creationId xmlns:p14="http://schemas.microsoft.com/office/powerpoint/2010/main" val="36943960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a:solidFill>
                  <a:schemeClr val="tx1"/>
                </a:solidFill>
                <a:effectLst/>
                <a:latin typeface="+mn-lt"/>
                <a:ea typeface="+mn-ea"/>
                <a:cs typeface="+mn-cs"/>
              </a:rPr>
              <a:t>Open:</a:t>
            </a:r>
            <a:r>
              <a:rPr lang="en-US" sz="1200" kern="1200">
                <a:solidFill>
                  <a:schemeClr val="tx1"/>
                </a:solidFill>
                <a:effectLst/>
                <a:latin typeface="+mn-lt"/>
                <a:ea typeface="+mn-ea"/>
                <a:cs typeface="+mn-cs"/>
              </a:rPr>
              <a:t> "TF-IDF is the most important preprocessing step. It answers: how unique is this word to this document?"</a:t>
            </a:r>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  </a:t>
            </a:r>
            <a:r>
              <a:rPr lang="en-US" sz="1200" b="1" kern="1200">
                <a:solidFill>
                  <a:schemeClr val="tx1"/>
                </a:solidFill>
                <a:effectLst/>
                <a:latin typeface="+mn-lt"/>
                <a:ea typeface="+mn-ea"/>
                <a:cs typeface="+mn-cs"/>
              </a:rPr>
              <a:t>Left:</a:t>
            </a:r>
            <a:r>
              <a:rPr lang="en-US" sz="1200" kern="1200">
                <a:solidFill>
                  <a:schemeClr val="tx1"/>
                </a:solidFill>
                <a:effectLst/>
                <a:latin typeface="+mn-lt"/>
                <a:ea typeface="+mn-ea"/>
                <a:cs typeface="+mn-cs"/>
              </a:rPr>
              <a:t> "Lowest scores — patient at 1.16, basically zero signal. Well, old, left, right — all noise. TF-IDF </a:t>
            </a:r>
            <a:r>
              <a:rPr lang="en-US" sz="1200" kern="1200" err="1">
                <a:solidFill>
                  <a:schemeClr val="tx1"/>
                </a:solidFill>
                <a:effectLst/>
                <a:latin typeface="+mn-lt"/>
                <a:ea typeface="+mn-ea"/>
                <a:cs typeface="+mn-cs"/>
              </a:rPr>
              <a:t>downweights</a:t>
            </a:r>
            <a:r>
              <a:rPr lang="en-US" sz="1200" kern="1200">
                <a:solidFill>
                  <a:schemeClr val="tx1"/>
                </a:solidFill>
                <a:effectLst/>
                <a:latin typeface="+mn-lt"/>
                <a:ea typeface="+mn-ea"/>
                <a:cs typeface="+mn-cs"/>
              </a:rPr>
              <a:t> these automatically."</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  </a:t>
            </a:r>
            <a:r>
              <a:rPr lang="en-US" sz="1200" b="1" kern="1200">
                <a:solidFill>
                  <a:schemeClr val="tx1"/>
                </a:solidFill>
                <a:effectLst/>
                <a:latin typeface="+mn-lt"/>
                <a:ea typeface="+mn-ea"/>
                <a:cs typeface="+mn-cs"/>
              </a:rPr>
              <a:t>Right:</a:t>
            </a:r>
            <a:r>
              <a:rPr lang="en-US" sz="1200" kern="1200">
                <a:solidFill>
                  <a:schemeClr val="tx1"/>
                </a:solidFill>
                <a:effectLst/>
                <a:latin typeface="+mn-lt"/>
                <a:ea typeface="+mn-ea"/>
                <a:cs typeface="+mn-cs"/>
              </a:rPr>
              <a:t> "Highest scores — erythema nodosum at 8.17. Appears in maybe one or two notes, so when it shows up, it's an extremely strong signal."</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  </a:t>
            </a:r>
            <a:r>
              <a:rPr lang="en-US" sz="1200" b="1" kern="1200">
                <a:solidFill>
                  <a:schemeClr val="tx1"/>
                </a:solidFill>
                <a:effectLst/>
                <a:latin typeface="+mn-lt"/>
                <a:ea typeface="+mn-ea"/>
                <a:cs typeface="+mn-cs"/>
              </a:rPr>
              <a:t>Code:</a:t>
            </a:r>
            <a:r>
              <a:rPr lang="en-US" sz="1200" kern="1200">
                <a:solidFill>
                  <a:schemeClr val="tx1"/>
                </a:solidFill>
                <a:effectLst/>
                <a:latin typeface="+mn-lt"/>
                <a:ea typeface="+mn-ea"/>
                <a:cs typeface="+mn-cs"/>
              </a:rPr>
              <a:t> "We used log scaling so a word appearing 50 times doesn't get 50x the weight of one appearing once."</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  </a:t>
            </a:r>
            <a:r>
              <a:rPr lang="en-US" sz="1200" b="1" kern="1200">
                <a:solidFill>
                  <a:schemeClr val="tx1"/>
                </a:solidFill>
                <a:effectLst/>
                <a:latin typeface="+mn-lt"/>
                <a:ea typeface="+mn-ea"/>
                <a:cs typeface="+mn-cs"/>
              </a:rPr>
              <a:t>Wrap:</a:t>
            </a:r>
            <a:r>
              <a:rPr lang="en-US" sz="1200" kern="1200">
                <a:solidFill>
                  <a:schemeClr val="tx1"/>
                </a:solidFill>
                <a:effectLst/>
                <a:latin typeface="+mn-lt"/>
                <a:ea typeface="+mn-ea"/>
                <a:cs typeface="+mn-cs"/>
              </a:rPr>
              <a:t> "Bottom line: TF-IDF is our automatic noise filter. It kills 'patient’ and amplifies rare specialty-defining terms. This is what we feed into Phase 3."</a:t>
            </a:r>
          </a:p>
          <a:p>
            <a:endParaRPr lang="en-US"/>
          </a:p>
        </p:txBody>
      </p:sp>
      <p:sp>
        <p:nvSpPr>
          <p:cNvPr id="4" name="Slide Number Placeholder 3"/>
          <p:cNvSpPr>
            <a:spLocks noGrp="1"/>
          </p:cNvSpPr>
          <p:nvPr>
            <p:ph type="sldNum" sz="quarter" idx="5"/>
          </p:nvPr>
        </p:nvSpPr>
        <p:spPr/>
        <p:txBody>
          <a:bodyPr/>
          <a:lstStyle/>
          <a:p>
            <a:fld id="{1D803912-A8EC-674B-9A2D-38A26A372A8A}" type="slidenum">
              <a:rPr lang="en-US" smtClean="0"/>
              <a:t>27</a:t>
            </a:fld>
            <a:endParaRPr lang="en-US"/>
          </a:p>
        </p:txBody>
      </p:sp>
    </p:spTree>
    <p:extLst>
      <p:ext uri="{BB962C8B-B14F-4D97-AF65-F5344CB8AC3E}">
        <p14:creationId xmlns:p14="http://schemas.microsoft.com/office/powerpoint/2010/main" val="15485926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in Phase 3 we built a keyword-based classifier using TF-IDF. The fundamental problem is that TF-IDF treats every word as a separate token with no understanding of meaning. 'Renal' and 'Kidney' are two completely unrelated columns in the matrix — it has no idea they're synonyms. So if a doctor writes 'kidney failure' and a stored note says 'renal insufficiency,' TF-IDF scores zero overlap and finds no match.</a:t>
            </a:r>
          </a:p>
          <a:p>
            <a:r>
              <a:rPr lang="en-US"/>
              <a:t>Embeddings fix this by representing text as coordinates in a 384-dimensional space, where semantically similar words land near each other. 'Renal' and 'Kidney' end up as neighboring points. Distance in this space equals dissimilarity of meaning.</a:t>
            </a:r>
          </a:p>
          <a:p>
            <a:r>
              <a:rPr lang="en-US"/>
              <a:t>The pipeline has three steps. First we chunk each note into 200-word pieces with a 20-word overlap — this is because embedding models have a limited attention span, and a 2,000-word note embedded whole produces a blurry, averaged vector. The overlap prevents sentences from being cut in half at the boundary.</a:t>
            </a:r>
          </a:p>
          <a:p>
            <a:r>
              <a:rPr lang="en-US"/>
              <a:t>Then we encode every chunk with all-MiniLM-L6-v2, which produces a 384-dimensional vector for each chunk. We end up with about 8,000 chunks from roughly 2,500 notes.</a:t>
            </a:r>
          </a:p>
          <a:p>
            <a:r>
              <a:rPr lang="en-US"/>
              <a:t>Finally we store those vectors in </a:t>
            </a:r>
            <a:r>
              <a:rPr lang="en-US" err="1"/>
              <a:t>ChromaDB</a:t>
            </a:r>
            <a:r>
              <a:rPr lang="en-US"/>
              <a:t> alongside their metadata — specialty and note ID. When a query comes in, we embed it with the same model, find the 5 nearest chunks by cosine similarity, and take a majority vote on their specialty labels. That's the prediction. No training, no learned parameters — it just looks things up."</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1D803912-A8EC-674B-9A2D-38A26A372A8A}" type="slidenum">
              <a:rPr lang="en-US" smtClean="0"/>
              <a:t>31</a:t>
            </a:fld>
            <a:endParaRPr lang="en-US"/>
          </a:p>
        </p:txBody>
      </p:sp>
    </p:spTree>
    <p:extLst>
      <p:ext uri="{BB962C8B-B14F-4D97-AF65-F5344CB8AC3E}">
        <p14:creationId xmlns:p14="http://schemas.microsoft.com/office/powerpoint/2010/main" val="17627519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headline demonstration of Phase 4. Each of these queries contains zero exact medical keywords. I deliberately wrote them in everyday language — the kind of thing a patient might say, not a clinician.</a:t>
            </a:r>
          </a:p>
          <a:p>
            <a:r>
              <a:rPr lang="en-US"/>
              <a:t>'My heart skips beats and races sometimes' — no 'arrhythmia', no 'cardiac', no 'tachycardia'. The system still routes it to Cardiovascular / Pulmonary because it understands the </a:t>
            </a:r>
            <a:r>
              <a:rPr lang="en-US" i="1"/>
              <a:t>meaning</a:t>
            </a:r>
            <a:r>
              <a:rPr lang="en-US"/>
              <a:t> maps to heart conditions.</a:t>
            </a:r>
          </a:p>
          <a:p>
            <a:r>
              <a:rPr lang="en-US"/>
              <a:t>'Trouble breathing and a whistling sound when I exhale' — no 'asthma', no 'wheeze'. Still routes correctly.</a:t>
            </a:r>
          </a:p>
          <a:p>
            <a:r>
              <a:rPr lang="en-US"/>
              <a:t>'The bone in my lower leg snapped' — no 'fracture', no 'tibia'. Goes to Orthopedic.</a:t>
            </a:r>
          </a:p>
          <a:p>
            <a:r>
              <a:rPr lang="en-US"/>
              <a:t>'The patient's kidneys are not filtering properly' — no 'renal', no 'nephrology'. Goes to Nephrology. This is the synonym demonstration we built the whole system for.</a:t>
            </a:r>
          </a:p>
          <a:p>
            <a:r>
              <a:rPr lang="en-US"/>
              <a:t>A TF-IDF classifier would score zero word overlap on every single one of these and fail completely. The semantic search succeeds because it's matching on </a:t>
            </a:r>
            <a:r>
              <a:rPr lang="en-US" i="1"/>
              <a:t>meaning</a:t>
            </a:r>
            <a:r>
              <a:rPr lang="en-US"/>
              <a:t> rather than exact words. This is the core advantage of the embedding-based approach over Phase 3."</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1D803912-A8EC-674B-9A2D-38A26A372A8A}" type="slidenum">
              <a:rPr lang="en-US" smtClean="0"/>
              <a:t>32</a:t>
            </a:fld>
            <a:endParaRPr lang="en-US"/>
          </a:p>
        </p:txBody>
      </p:sp>
    </p:spTree>
    <p:extLst>
      <p:ext uri="{BB962C8B-B14F-4D97-AF65-F5344CB8AC3E}">
        <p14:creationId xmlns:p14="http://schemas.microsoft.com/office/powerpoint/2010/main" val="37399242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Phase 5 we need to actually measure whether the search engine works, not just show cherry-picked demos. To do that honestly we need ground truth — notes with known labels that the system has never seen.</a:t>
            </a:r>
          </a:p>
          <a:p>
            <a:r>
              <a:rPr lang="en-US"/>
              <a:t>So before building the index, we held out 5% of the notes — about 140 notes — that were never indexed. These are the query notes. If we had indexed everything and then queried with the same notes, the system would retrieve copies of itself and score perfectly — that's not a real test. The held-out set gives us genuine evaluation.</a:t>
            </a:r>
          </a:p>
          <a:p>
            <a:r>
              <a:rPr lang="en-US"/>
              <a:t>We ran each held-out note through the retrieval, retrieved 5 chunks, and measured Precision@5 — what fraction of those 5 carried the correct specialty label. The mean came out to about 64%, against a random baseline of 3.8% for 26 classes. That's roughly 16 times better than chance.</a:t>
            </a:r>
          </a:p>
          <a:p>
            <a:r>
              <a:rPr lang="en-US"/>
              <a:t>On the right is the actual retrieval confusion matrix from the notebook. You can see most specialties have a strong diagonal — well-represented specialties with distinctive vocabulary like Bariatrics, Dentistry, and Urology score near 1.0. The off-diagonal hotspots are the interesting part — Neurology retrieving Neurosurgery, General Medicine retrieving Neurology — and those are exactly the same pairs that confused the Phase 3 classifier.</a:t>
            </a:r>
          </a:p>
          <a:p>
            <a:r>
              <a:rPr lang="en-US"/>
              <a:t>That's actually the strongest finding: two completely different methods — one that trained on labels, one that trains nothing — confuse the same specialty pairs. That tells us the confusion isn't a model weakness, it's inherent to the data itself. These specialties genuinely share clinical vocabulary."</a:t>
            </a:r>
          </a:p>
          <a:p>
            <a:endParaRPr lang="en-US"/>
          </a:p>
          <a:p>
            <a:endParaRPr lang="en-US"/>
          </a:p>
        </p:txBody>
      </p:sp>
      <p:sp>
        <p:nvSpPr>
          <p:cNvPr id="4" name="Slide Number Placeholder 3"/>
          <p:cNvSpPr>
            <a:spLocks noGrp="1"/>
          </p:cNvSpPr>
          <p:nvPr>
            <p:ph type="sldNum" sz="quarter" idx="5"/>
          </p:nvPr>
        </p:nvSpPr>
        <p:spPr/>
        <p:txBody>
          <a:bodyPr/>
          <a:lstStyle/>
          <a:p>
            <a:fld id="{1D803912-A8EC-674B-9A2D-38A26A372A8A}" type="slidenum">
              <a:rPr lang="en-US" smtClean="0"/>
              <a:t>33</a:t>
            </a:fld>
            <a:endParaRPr lang="en-US"/>
          </a:p>
        </p:txBody>
      </p:sp>
    </p:spTree>
    <p:extLst>
      <p:ext uri="{BB962C8B-B14F-4D97-AF65-F5344CB8AC3E}">
        <p14:creationId xmlns:p14="http://schemas.microsoft.com/office/powerpoint/2010/main" val="41990187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last slide ties everything together. We built two fundamentally different approaches to the same problem — classifying medical notes by specialty — and comparing them is more interesting than either result alone.</a:t>
            </a:r>
          </a:p>
          <a:p>
            <a:r>
              <a:rPr lang="en-US"/>
              <a:t>Phase 3 is parametric: the Logistic Regression model learned weights from labeled data, baked that knowledge into parameters, and can now predict without ever seeing the original notes again. It got 70% accuracy and a Macro F1 of 0.657. Its weakness: it's completely keyword-dependent. It cannot handle synonyms or paraphrasing.</a:t>
            </a:r>
          </a:p>
          <a:p>
            <a:r>
              <a:rPr lang="en-US"/>
              <a:t>Phase 4 is non-parametric: the Mini-RAG classifier stores the data and references it at query time. Remove the vector store and it has nothing — the data is the model. It got 64% Precision@5, which is 16 times the random baseline. Its strength: semantic understanding — it handles layperson phrasing and synonyms that Phase 3 completely misses.</a:t>
            </a:r>
          </a:p>
          <a:p>
            <a:r>
              <a:rPr lang="en-US"/>
              <a:t>The subtext at the top says it best: the same specialty pairs confuse both methods. Neurology and Neurosurgery, Cardiovascular and General Medicine — these confusions show up in both the classifier confusion matrix and the retrieval confusion matrix. That's our proof that the overlap is a property of the clinical data, not a failure of our methods. Real medicine is multi-disciplinary, and any single-label classification system is a simplification of that reality."</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1D803912-A8EC-674B-9A2D-38A26A372A8A}" type="slidenum">
              <a:rPr lang="en-US" smtClean="0"/>
              <a:t>34</a:t>
            </a:fld>
            <a:endParaRPr lang="en-US"/>
          </a:p>
        </p:txBody>
      </p:sp>
    </p:spTree>
    <p:extLst>
      <p:ext uri="{BB962C8B-B14F-4D97-AF65-F5344CB8AC3E}">
        <p14:creationId xmlns:p14="http://schemas.microsoft.com/office/powerpoint/2010/main" val="516365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1559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0165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843199"/>
            <a:ext cx="10363200" cy="1961850"/>
          </a:xfrm>
        </p:spPr>
        <p:txBody>
          <a:bodyPr/>
          <a:lstStyle/>
          <a:p>
            <a:r>
              <a:rPr lang="en-US"/>
              <a:t>Click to edit Master title style</a:t>
            </a:r>
          </a:p>
        </p:txBody>
      </p:sp>
      <p:sp>
        <p:nvSpPr>
          <p:cNvPr id="3" name="Subtitle 2"/>
          <p:cNvSpPr>
            <a:spLocks noGrp="1"/>
          </p:cNvSpPr>
          <p:nvPr>
            <p:ph type="subTitle" idx="1"/>
          </p:nvPr>
        </p:nvSpPr>
        <p:spPr>
          <a:xfrm>
            <a:off x="1828800" y="5186402"/>
            <a:ext cx="8534400" cy="2338965"/>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8024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90935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5881312"/>
            <a:ext cx="10363200" cy="1817783"/>
          </a:xfrm>
        </p:spPr>
        <p:txBody>
          <a:bodyPr anchor="t"/>
          <a:lstStyle>
            <a:lvl1pPr algn="l">
              <a:defRPr sz="5333" b="1" cap="all"/>
            </a:lvl1pPr>
          </a:lstStyle>
          <a:p>
            <a:r>
              <a:rPr lang="en-US"/>
              <a:t>Click to edit Master title style</a:t>
            </a:r>
          </a:p>
        </p:txBody>
      </p:sp>
      <p:sp>
        <p:nvSpPr>
          <p:cNvPr id="3" name="Text Placeholder 2"/>
          <p:cNvSpPr>
            <a:spLocks noGrp="1"/>
          </p:cNvSpPr>
          <p:nvPr>
            <p:ph type="body" idx="1"/>
          </p:nvPr>
        </p:nvSpPr>
        <p:spPr>
          <a:xfrm>
            <a:off x="963084" y="3879209"/>
            <a:ext cx="10363200" cy="2002103"/>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6347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2135578"/>
            <a:ext cx="5384800" cy="6040210"/>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2135578"/>
            <a:ext cx="5384800" cy="6040210"/>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06341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2048714"/>
            <a:ext cx="5386917" cy="853806"/>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609600" y="2902521"/>
            <a:ext cx="5386917" cy="5273266"/>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2048714"/>
            <a:ext cx="5389033" cy="853806"/>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93368" y="2902521"/>
            <a:ext cx="5389033" cy="5273266"/>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11595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71149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20122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364404"/>
            <a:ext cx="4011084" cy="1550836"/>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364405"/>
            <a:ext cx="6815667" cy="781138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915240"/>
            <a:ext cx="4011084" cy="6260547"/>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65885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6406731"/>
            <a:ext cx="7315200" cy="756351"/>
          </a:xfrm>
        </p:spPr>
        <p:txBody>
          <a:bodyPr anchor="b"/>
          <a:lstStyle>
            <a:lvl1pPr algn="l">
              <a:defRPr sz="2667" b="1"/>
            </a:lvl1pPr>
          </a:lstStyle>
          <a:p>
            <a:r>
              <a:rPr lang="en-US"/>
              <a:t>Click to edit Master title style</a:t>
            </a:r>
          </a:p>
        </p:txBody>
      </p:sp>
      <p:sp>
        <p:nvSpPr>
          <p:cNvPr id="3" name="Picture Placeholder 2"/>
          <p:cNvSpPr>
            <a:spLocks noGrp="1"/>
          </p:cNvSpPr>
          <p:nvPr>
            <p:ph type="pic" idx="1"/>
          </p:nvPr>
        </p:nvSpPr>
        <p:spPr>
          <a:xfrm>
            <a:off x="2389717" y="817791"/>
            <a:ext cx="7315200" cy="5491484"/>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lang="en-US"/>
          </a:p>
        </p:txBody>
      </p:sp>
      <p:sp>
        <p:nvSpPr>
          <p:cNvPr id="4" name="Text Placeholder 3"/>
          <p:cNvSpPr>
            <a:spLocks noGrp="1"/>
          </p:cNvSpPr>
          <p:nvPr>
            <p:ph type="body" sz="half" idx="2"/>
          </p:nvPr>
        </p:nvSpPr>
        <p:spPr>
          <a:xfrm>
            <a:off x="2389717" y="7163082"/>
            <a:ext cx="7315200" cy="1074144"/>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01815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847446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366524"/>
            <a:ext cx="2743200" cy="78092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366524"/>
            <a:ext cx="8026400" cy="78092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250210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8447468"/>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366523"/>
            <a:ext cx="10972800" cy="152541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2135578"/>
            <a:ext cx="10972800" cy="604021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8482988"/>
            <a:ext cx="2844800" cy="487284"/>
          </a:xfrm>
          <a:prstGeom prst="rect">
            <a:avLst/>
          </a:prstGeom>
        </p:spPr>
        <p:txBody>
          <a:bodyPr vert="horz" lIns="91440" tIns="45720" rIns="91440" bIns="45720" rtlCol="0" anchor="ctr"/>
          <a:lstStyle>
            <a:lvl1pPr algn="l">
              <a:defRPr sz="1600">
                <a:solidFill>
                  <a:schemeClr val="tx1">
                    <a:tint val="75000"/>
                  </a:schemeClr>
                </a:solidFill>
              </a:defRPr>
            </a:lvl1pPr>
          </a:lstStyle>
          <a:p>
            <a:fld id="{5BCAD085-E8A6-8845-BD4E-CB4CCA059FC4}" type="datetimeFigureOut">
              <a:rPr lang="en-US" smtClean="0"/>
              <a:t>6/26/26</a:t>
            </a:fld>
            <a:endParaRPr lang="en-US"/>
          </a:p>
        </p:txBody>
      </p:sp>
      <p:sp>
        <p:nvSpPr>
          <p:cNvPr id="5" name="Footer Placeholder 4"/>
          <p:cNvSpPr>
            <a:spLocks noGrp="1"/>
          </p:cNvSpPr>
          <p:nvPr>
            <p:ph type="ftr" sz="quarter" idx="3"/>
          </p:nvPr>
        </p:nvSpPr>
        <p:spPr>
          <a:xfrm>
            <a:off x="4165600" y="8482988"/>
            <a:ext cx="3860800" cy="487284"/>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8482988"/>
            <a:ext cx="2844800" cy="487284"/>
          </a:xfrm>
          <a:prstGeom prst="rect">
            <a:avLst/>
          </a:prstGeom>
        </p:spPr>
        <p:txBody>
          <a:bodyPr vert="horz" lIns="91440" tIns="45720" rIns="91440" bIns="45720" rtlCol="0" anchor="ctr"/>
          <a:lstStyle>
            <a:lvl1pPr algn="r">
              <a:defRPr sz="16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576708182"/>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4389120" cy="6858000"/>
          </a:xfrm>
          <a:prstGeom prst="rect">
            <a:avLst/>
          </a:prstGeom>
          <a:solidFill>
            <a:srgbClr val="0E7C7B"/>
          </a:solidFill>
          <a:ln w="12700">
            <a:solidFill>
              <a:srgbClr val="0E7C7B"/>
            </a:solidFill>
            <a:prstDash val="solid"/>
          </a:ln>
        </p:spPr>
        <p:txBody>
          <a:bodyPr/>
          <a:lstStyle/>
          <a:p>
            <a:pPr defTabSz="1219170"/>
            <a:endParaRPr lang="en-US" sz="2400">
              <a:solidFill>
                <a:prstClr val="black"/>
              </a:solidFill>
              <a:latin typeface="Calibri" panose="020F0502020204030204"/>
            </a:endParaRPr>
          </a:p>
        </p:txBody>
      </p:sp>
      <p:sp>
        <p:nvSpPr>
          <p:cNvPr id="3" name="Shape 1"/>
          <p:cNvSpPr/>
          <p:nvPr/>
        </p:nvSpPr>
        <p:spPr>
          <a:xfrm>
            <a:off x="304800" y="304800"/>
            <a:ext cx="548640" cy="548640"/>
          </a:xfrm>
          <a:prstGeom prst="ellipse">
            <a:avLst/>
          </a:prstGeom>
          <a:solidFill>
            <a:srgbClr val="FFFFFF">
              <a:alpha val="20000"/>
            </a:srgbClr>
          </a:solidFill>
          <a:ln w="12700">
            <a:solidFill>
              <a:srgbClr val="FFFFFF"/>
            </a:solidFill>
            <a:prstDash val="solid"/>
          </a:ln>
        </p:spPr>
        <p:txBody>
          <a:bodyPr/>
          <a:lstStyle/>
          <a:p>
            <a:pPr defTabSz="1219170"/>
            <a:endParaRPr lang="en-US" sz="2400">
              <a:solidFill>
                <a:prstClr val="black"/>
              </a:solidFill>
              <a:latin typeface="Calibri" panose="020F0502020204030204"/>
            </a:endParaRPr>
          </a:p>
        </p:txBody>
      </p:sp>
      <p:sp>
        <p:nvSpPr>
          <p:cNvPr id="4" name="Shape 2"/>
          <p:cNvSpPr/>
          <p:nvPr/>
        </p:nvSpPr>
        <p:spPr>
          <a:xfrm>
            <a:off x="1463040" y="304800"/>
            <a:ext cx="548640" cy="548640"/>
          </a:xfrm>
          <a:prstGeom prst="ellipse">
            <a:avLst/>
          </a:prstGeom>
          <a:solidFill>
            <a:srgbClr val="FFFFFF">
              <a:alpha val="20000"/>
            </a:srgbClr>
          </a:solidFill>
          <a:ln w="12700">
            <a:solidFill>
              <a:srgbClr val="FFFFFF"/>
            </a:solidFill>
            <a:prstDash val="solid"/>
          </a:ln>
        </p:spPr>
        <p:txBody>
          <a:bodyPr/>
          <a:lstStyle/>
          <a:p>
            <a:pPr defTabSz="1219170"/>
            <a:endParaRPr lang="en-US" sz="2400">
              <a:solidFill>
                <a:prstClr val="black"/>
              </a:solidFill>
              <a:latin typeface="Calibri" panose="020F0502020204030204"/>
            </a:endParaRPr>
          </a:p>
        </p:txBody>
      </p:sp>
      <p:sp>
        <p:nvSpPr>
          <p:cNvPr id="5" name="Shape 3"/>
          <p:cNvSpPr/>
          <p:nvPr/>
        </p:nvSpPr>
        <p:spPr>
          <a:xfrm>
            <a:off x="2621280" y="304800"/>
            <a:ext cx="548640" cy="548640"/>
          </a:xfrm>
          <a:prstGeom prst="ellipse">
            <a:avLst/>
          </a:prstGeom>
          <a:solidFill>
            <a:srgbClr val="FFFFFF">
              <a:alpha val="20000"/>
            </a:srgbClr>
          </a:solidFill>
          <a:ln w="12700">
            <a:solidFill>
              <a:srgbClr val="FFFFFF"/>
            </a:solidFill>
            <a:prstDash val="solid"/>
          </a:ln>
        </p:spPr>
        <p:txBody>
          <a:bodyPr/>
          <a:lstStyle/>
          <a:p>
            <a:pPr defTabSz="1219170"/>
            <a:endParaRPr lang="en-US" sz="2400">
              <a:solidFill>
                <a:prstClr val="black"/>
              </a:solidFill>
              <a:latin typeface="Calibri" panose="020F0502020204030204"/>
            </a:endParaRPr>
          </a:p>
        </p:txBody>
      </p:sp>
      <p:sp>
        <p:nvSpPr>
          <p:cNvPr id="6" name="Text 4"/>
          <p:cNvSpPr/>
          <p:nvPr/>
        </p:nvSpPr>
        <p:spPr>
          <a:xfrm>
            <a:off x="4754880" y="1574800"/>
            <a:ext cx="7071360" cy="2316480"/>
          </a:xfrm>
          <a:prstGeom prst="rect">
            <a:avLst/>
          </a:prstGeom>
          <a:noFill/>
          <a:ln/>
        </p:spPr>
        <p:txBody>
          <a:bodyPr wrap="square" rtlCol="0" anchor="ctr"/>
          <a:lstStyle/>
          <a:p>
            <a:pPr defTabSz="1219170"/>
            <a:r>
              <a:rPr lang="en-US" sz="4533" b="1">
                <a:solidFill>
                  <a:srgbClr val="FFFFFF"/>
                </a:solidFill>
                <a:latin typeface="Cambria" pitchFamily="34" charset="0"/>
                <a:ea typeface="Cambria" pitchFamily="34" charset="-122"/>
                <a:cs typeface="Cambria" pitchFamily="34" charset="-120"/>
              </a:rPr>
              <a:t>Medical</a:t>
            </a:r>
            <a:endParaRPr lang="en-US" sz="4533">
              <a:solidFill>
                <a:prstClr val="black"/>
              </a:solidFill>
              <a:latin typeface="Calibri" panose="020F0502020204030204"/>
            </a:endParaRPr>
          </a:p>
          <a:p>
            <a:pPr defTabSz="1219170"/>
            <a:r>
              <a:rPr lang="en-US" sz="4533" b="1">
                <a:solidFill>
                  <a:srgbClr val="FFFFFF"/>
                </a:solidFill>
                <a:latin typeface="Cambria" pitchFamily="34" charset="0"/>
                <a:ea typeface="Cambria" pitchFamily="34" charset="-122"/>
                <a:cs typeface="Cambria" pitchFamily="34" charset="-120"/>
              </a:rPr>
              <a:t>Transcription NLP </a:t>
            </a:r>
          </a:p>
        </p:txBody>
      </p:sp>
      <p:sp>
        <p:nvSpPr>
          <p:cNvPr id="7" name="Text 5"/>
          <p:cNvSpPr/>
          <p:nvPr/>
        </p:nvSpPr>
        <p:spPr>
          <a:xfrm>
            <a:off x="4826000" y="3525520"/>
            <a:ext cx="7071360" cy="548640"/>
          </a:xfrm>
          <a:prstGeom prst="rect">
            <a:avLst/>
          </a:prstGeom>
          <a:noFill/>
          <a:ln/>
        </p:spPr>
        <p:txBody>
          <a:bodyPr wrap="square" rtlCol="0" anchor="ctr"/>
          <a:lstStyle/>
          <a:p>
            <a:pPr defTabSz="1219170"/>
            <a:r>
              <a:rPr lang="en-US" sz="1867" i="1">
                <a:solidFill>
                  <a:srgbClr val="17C3B2"/>
                </a:solidFill>
                <a:latin typeface="Calibri" pitchFamily="34" charset="0"/>
                <a:ea typeface="Calibri" pitchFamily="34" charset="-122"/>
                <a:cs typeface="Calibri" pitchFamily="34" charset="-120"/>
              </a:rPr>
              <a:t>Data Science Project</a:t>
            </a:r>
            <a:endParaRPr lang="en-US" sz="1867">
              <a:solidFill>
                <a:prstClr val="black"/>
              </a:solidFill>
              <a:latin typeface="Calibri" panose="020F0502020204030204"/>
            </a:endParaRPr>
          </a:p>
        </p:txBody>
      </p:sp>
      <p:sp>
        <p:nvSpPr>
          <p:cNvPr id="8" name="Text 6"/>
          <p:cNvSpPr/>
          <p:nvPr/>
        </p:nvSpPr>
        <p:spPr>
          <a:xfrm>
            <a:off x="4826000" y="4135120"/>
            <a:ext cx="7071360" cy="390144"/>
          </a:xfrm>
          <a:prstGeom prst="rect">
            <a:avLst/>
          </a:prstGeom>
          <a:noFill/>
          <a:ln/>
        </p:spPr>
        <p:txBody>
          <a:bodyPr wrap="square" rtlCol="0" anchor="ctr"/>
          <a:lstStyle/>
          <a:p>
            <a:pPr defTabSz="1219170"/>
            <a:r>
              <a:rPr lang="en-US" sz="1400">
                <a:solidFill>
                  <a:srgbClr val="94A3B8"/>
                </a:solidFill>
                <a:latin typeface="Calibri" pitchFamily="34" charset="0"/>
                <a:ea typeface="Calibri" pitchFamily="34" charset="-122"/>
                <a:cs typeface="Calibri" pitchFamily="34" charset="-120"/>
              </a:rPr>
              <a:t>Arjit, Musaab, Michael, Bahadir</a:t>
            </a:r>
            <a:endParaRPr lang="en-US" sz="1400">
              <a:solidFill>
                <a:prstClr val="black"/>
              </a:solidFill>
              <a:latin typeface="Calibri" panose="020F0502020204030204"/>
            </a:endParaRPr>
          </a:p>
        </p:txBody>
      </p:sp>
      <p:sp>
        <p:nvSpPr>
          <p:cNvPr id="9" name="Text 7"/>
          <p:cNvSpPr/>
          <p:nvPr/>
        </p:nvSpPr>
        <p:spPr>
          <a:xfrm>
            <a:off x="182880" y="6035040"/>
            <a:ext cx="4023360" cy="426720"/>
          </a:xfrm>
          <a:prstGeom prst="rect">
            <a:avLst/>
          </a:prstGeom>
          <a:noFill/>
          <a:ln/>
        </p:spPr>
        <p:txBody>
          <a:bodyPr wrap="square" rtlCol="0" anchor="ctr"/>
          <a:lstStyle/>
          <a:p>
            <a:pPr algn="ctr" defTabSz="1219170"/>
            <a:endParaRPr lang="en-US" sz="1333">
              <a:solidFill>
                <a:prstClr val="black"/>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609600" y="307975"/>
            <a:ext cx="1889760" cy="329184"/>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101600" rtlCol="0" anchor="ctr"/>
          <a:lstStyle/>
          <a:p>
            <a:pPr algn="ctr" defTabSz="609585"/>
            <a:r>
              <a:rPr sz="1000" b="1">
                <a:solidFill>
                  <a:srgbClr val="FFFFFF"/>
                </a:solidFill>
                <a:latin typeface="Calibri"/>
              </a:rPr>
              <a:t>OVERVIEW</a:t>
            </a:r>
          </a:p>
        </p:txBody>
      </p:sp>
      <p:sp>
        <p:nvSpPr>
          <p:cNvPr id="3" name="TextBox 2"/>
          <p:cNvSpPr txBox="1"/>
          <p:nvPr/>
        </p:nvSpPr>
        <p:spPr>
          <a:xfrm>
            <a:off x="609600" y="759079"/>
            <a:ext cx="10972800" cy="642848"/>
          </a:xfrm>
          <a:prstGeom prst="rect">
            <a:avLst/>
          </a:prstGeom>
          <a:noFill/>
        </p:spPr>
        <p:txBody>
          <a:bodyPr wrap="square" lIns="67733" tIns="33867" rIns="67733" bIns="33867">
            <a:spAutoFit/>
          </a:bodyPr>
          <a:lstStyle/>
          <a:p>
            <a:pPr defTabSz="609585"/>
            <a:r>
              <a:rPr sz="3733" b="1">
                <a:solidFill>
                  <a:srgbClr val="0D1B2A"/>
                </a:solidFill>
                <a:latin typeface="Calibri"/>
              </a:rPr>
              <a:t>Table of Contents</a:t>
            </a:r>
          </a:p>
        </p:txBody>
      </p:sp>
      <p:sp>
        <p:nvSpPr>
          <p:cNvPr id="4" name="Rounded Rectangle 3"/>
          <p:cNvSpPr/>
          <p:nvPr/>
        </p:nvSpPr>
        <p:spPr>
          <a:xfrm>
            <a:off x="548640" y="1831975"/>
            <a:ext cx="536448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sz="2400">
              <a:solidFill>
                <a:prstClr val="white"/>
              </a:solidFill>
              <a:latin typeface="Calibri"/>
            </a:endParaRPr>
          </a:p>
        </p:txBody>
      </p:sp>
      <p:sp>
        <p:nvSpPr>
          <p:cNvPr id="5" name="Rounded Rectangle 4"/>
          <p:cNvSpPr/>
          <p:nvPr/>
        </p:nvSpPr>
        <p:spPr>
          <a:xfrm>
            <a:off x="792480" y="2417191"/>
            <a:ext cx="755904" cy="755904"/>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r>
              <a:rPr sz="1733" b="1">
                <a:solidFill>
                  <a:srgbClr val="FFFFFF"/>
                </a:solidFill>
                <a:latin typeface="Calibri"/>
              </a:rPr>
              <a:t>01</a:t>
            </a:r>
          </a:p>
        </p:txBody>
      </p:sp>
      <p:sp>
        <p:nvSpPr>
          <p:cNvPr id="6" name="TextBox 5"/>
          <p:cNvSpPr txBox="1"/>
          <p:nvPr/>
        </p:nvSpPr>
        <p:spPr>
          <a:xfrm>
            <a:off x="1792224" y="2075815"/>
            <a:ext cx="3840480" cy="242739"/>
          </a:xfrm>
          <a:prstGeom prst="rect">
            <a:avLst/>
          </a:prstGeom>
          <a:noFill/>
        </p:spPr>
        <p:txBody>
          <a:bodyPr wrap="square" lIns="67733" tIns="33867" rIns="67733" bIns="33867">
            <a:spAutoFit/>
          </a:bodyPr>
          <a:lstStyle/>
          <a:p>
            <a:pPr defTabSz="609585"/>
            <a:r>
              <a:rPr sz="1133" b="1">
                <a:solidFill>
                  <a:srgbClr val="0E7C7B"/>
                </a:solidFill>
                <a:latin typeface="Calibri"/>
              </a:rPr>
              <a:t>Phase 1</a:t>
            </a:r>
          </a:p>
        </p:txBody>
      </p:sp>
      <p:sp>
        <p:nvSpPr>
          <p:cNvPr id="7" name="TextBox 6"/>
          <p:cNvSpPr txBox="1"/>
          <p:nvPr/>
        </p:nvSpPr>
        <p:spPr>
          <a:xfrm>
            <a:off x="1792224" y="2392807"/>
            <a:ext cx="3840480" cy="335072"/>
          </a:xfrm>
          <a:prstGeom prst="rect">
            <a:avLst/>
          </a:prstGeom>
          <a:noFill/>
        </p:spPr>
        <p:txBody>
          <a:bodyPr wrap="square" lIns="67733" tIns="33867" rIns="67733" bIns="33867">
            <a:spAutoFit/>
          </a:bodyPr>
          <a:lstStyle/>
          <a:p>
            <a:pPr defTabSz="609585"/>
            <a:r>
              <a:rPr sz="1733" b="1">
                <a:solidFill>
                  <a:srgbClr val="0D1B2A"/>
                </a:solidFill>
                <a:latin typeface="Calibri"/>
              </a:rPr>
              <a:t>EDA &amp; NLP Foundations</a:t>
            </a:r>
          </a:p>
        </p:txBody>
      </p:sp>
      <p:sp>
        <p:nvSpPr>
          <p:cNvPr id="8" name="TextBox 7"/>
          <p:cNvSpPr txBox="1"/>
          <p:nvPr/>
        </p:nvSpPr>
        <p:spPr>
          <a:xfrm>
            <a:off x="1792224" y="2953639"/>
            <a:ext cx="3840480" cy="263385"/>
          </a:xfrm>
          <a:prstGeom prst="rect">
            <a:avLst/>
          </a:prstGeom>
          <a:noFill/>
        </p:spPr>
        <p:txBody>
          <a:bodyPr wrap="square" lIns="67733" tIns="33867" rIns="67733" bIns="33867">
            <a:spAutoFit/>
          </a:bodyPr>
          <a:lstStyle/>
          <a:p>
            <a:pPr defTabSz="609585"/>
            <a:r>
              <a:rPr sz="1267">
                <a:solidFill>
                  <a:srgbClr val="64748B"/>
                </a:solidFill>
                <a:latin typeface="Calibri"/>
              </a:rPr>
              <a:t>Data cleaning, feature counts, n-gram frequency analysis</a:t>
            </a:r>
          </a:p>
        </p:txBody>
      </p:sp>
      <p:sp>
        <p:nvSpPr>
          <p:cNvPr id="9" name="Rounded Rectangle 8"/>
          <p:cNvSpPr/>
          <p:nvPr/>
        </p:nvSpPr>
        <p:spPr>
          <a:xfrm>
            <a:off x="6339840" y="1831975"/>
            <a:ext cx="536448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sz="2400">
              <a:solidFill>
                <a:prstClr val="white"/>
              </a:solidFill>
              <a:latin typeface="Calibri"/>
            </a:endParaRPr>
          </a:p>
        </p:txBody>
      </p:sp>
      <p:sp>
        <p:nvSpPr>
          <p:cNvPr id="10" name="Rounded Rectangle 9"/>
          <p:cNvSpPr/>
          <p:nvPr/>
        </p:nvSpPr>
        <p:spPr>
          <a:xfrm>
            <a:off x="6583680" y="2417191"/>
            <a:ext cx="755904" cy="755904"/>
          </a:xfrm>
          <a:prstGeom prst="round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r>
              <a:rPr sz="1733" b="1">
                <a:solidFill>
                  <a:srgbClr val="FFFFFF"/>
                </a:solidFill>
                <a:latin typeface="Calibri"/>
              </a:rPr>
              <a:t>02</a:t>
            </a:r>
          </a:p>
        </p:txBody>
      </p:sp>
      <p:sp>
        <p:nvSpPr>
          <p:cNvPr id="11" name="TextBox 10"/>
          <p:cNvSpPr txBox="1"/>
          <p:nvPr/>
        </p:nvSpPr>
        <p:spPr>
          <a:xfrm>
            <a:off x="7583424" y="2075815"/>
            <a:ext cx="3840480" cy="242739"/>
          </a:xfrm>
          <a:prstGeom prst="rect">
            <a:avLst/>
          </a:prstGeom>
          <a:noFill/>
        </p:spPr>
        <p:txBody>
          <a:bodyPr wrap="square" lIns="67733" tIns="33867" rIns="67733" bIns="33867">
            <a:spAutoFit/>
          </a:bodyPr>
          <a:lstStyle/>
          <a:p>
            <a:pPr defTabSz="609585"/>
            <a:r>
              <a:rPr sz="1133" b="1">
                <a:solidFill>
                  <a:srgbClr val="0369A1"/>
                </a:solidFill>
                <a:latin typeface="Calibri"/>
              </a:rPr>
              <a:t>Phase 2</a:t>
            </a:r>
          </a:p>
        </p:txBody>
      </p:sp>
      <p:sp>
        <p:nvSpPr>
          <p:cNvPr id="12" name="TextBox 11"/>
          <p:cNvSpPr txBox="1"/>
          <p:nvPr/>
        </p:nvSpPr>
        <p:spPr>
          <a:xfrm>
            <a:off x="7583424" y="2392807"/>
            <a:ext cx="3840480" cy="335072"/>
          </a:xfrm>
          <a:prstGeom prst="rect">
            <a:avLst/>
          </a:prstGeom>
          <a:noFill/>
        </p:spPr>
        <p:txBody>
          <a:bodyPr wrap="square" lIns="67733" tIns="33867" rIns="67733" bIns="33867">
            <a:spAutoFit/>
          </a:bodyPr>
          <a:lstStyle/>
          <a:p>
            <a:pPr defTabSz="609585"/>
            <a:r>
              <a:rPr sz="1733" b="1">
                <a:solidFill>
                  <a:srgbClr val="0D1B2A"/>
                </a:solidFill>
                <a:latin typeface="Calibri"/>
              </a:rPr>
              <a:t>Statistical Significance</a:t>
            </a:r>
          </a:p>
        </p:txBody>
      </p:sp>
      <p:sp>
        <p:nvSpPr>
          <p:cNvPr id="13" name="TextBox 12"/>
          <p:cNvSpPr txBox="1"/>
          <p:nvPr/>
        </p:nvSpPr>
        <p:spPr>
          <a:xfrm>
            <a:off x="7583424" y="2953639"/>
            <a:ext cx="3840480" cy="263385"/>
          </a:xfrm>
          <a:prstGeom prst="rect">
            <a:avLst/>
          </a:prstGeom>
          <a:noFill/>
        </p:spPr>
        <p:txBody>
          <a:bodyPr wrap="square" lIns="67733" tIns="33867" rIns="67733" bIns="33867">
            <a:spAutoFit/>
          </a:bodyPr>
          <a:lstStyle/>
          <a:p>
            <a:pPr defTabSz="609585"/>
            <a:r>
              <a:rPr sz="1267">
                <a:solidFill>
                  <a:srgbClr val="64748B"/>
                </a:solidFill>
                <a:latin typeface="Calibri"/>
              </a:rPr>
              <a:t>Chi-square tests, PMI collocation scores, TF-IDF analysis</a:t>
            </a:r>
          </a:p>
        </p:txBody>
      </p:sp>
      <p:sp>
        <p:nvSpPr>
          <p:cNvPr id="14" name="Rounded Rectangle 13"/>
          <p:cNvSpPr/>
          <p:nvPr/>
        </p:nvSpPr>
        <p:spPr>
          <a:xfrm>
            <a:off x="548640" y="4124071"/>
            <a:ext cx="536448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sz="2400">
              <a:solidFill>
                <a:prstClr val="white"/>
              </a:solidFill>
              <a:latin typeface="Calibri"/>
            </a:endParaRPr>
          </a:p>
        </p:txBody>
      </p:sp>
      <p:sp>
        <p:nvSpPr>
          <p:cNvPr id="15" name="Rounded Rectangle 14"/>
          <p:cNvSpPr/>
          <p:nvPr/>
        </p:nvSpPr>
        <p:spPr>
          <a:xfrm>
            <a:off x="792480" y="4709287"/>
            <a:ext cx="755904" cy="755904"/>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r>
              <a:rPr sz="1733" b="1">
                <a:solidFill>
                  <a:srgbClr val="FFFFFF"/>
                </a:solidFill>
                <a:latin typeface="Calibri"/>
              </a:rPr>
              <a:t>03</a:t>
            </a:r>
          </a:p>
        </p:txBody>
      </p:sp>
      <p:sp>
        <p:nvSpPr>
          <p:cNvPr id="16" name="TextBox 15"/>
          <p:cNvSpPr txBox="1"/>
          <p:nvPr/>
        </p:nvSpPr>
        <p:spPr>
          <a:xfrm>
            <a:off x="1792224" y="4367911"/>
            <a:ext cx="3840480" cy="242739"/>
          </a:xfrm>
          <a:prstGeom prst="rect">
            <a:avLst/>
          </a:prstGeom>
          <a:noFill/>
        </p:spPr>
        <p:txBody>
          <a:bodyPr wrap="square" lIns="67733" tIns="33867" rIns="67733" bIns="33867">
            <a:spAutoFit/>
          </a:bodyPr>
          <a:lstStyle/>
          <a:p>
            <a:pPr defTabSz="609585"/>
            <a:r>
              <a:rPr sz="1133" b="1">
                <a:solidFill>
                  <a:srgbClr val="6D28D9"/>
                </a:solidFill>
                <a:latin typeface="Calibri"/>
              </a:rPr>
              <a:t>Phase 3</a:t>
            </a:r>
          </a:p>
        </p:txBody>
      </p:sp>
      <p:sp>
        <p:nvSpPr>
          <p:cNvPr id="17" name="TextBox 16"/>
          <p:cNvSpPr txBox="1"/>
          <p:nvPr/>
        </p:nvSpPr>
        <p:spPr>
          <a:xfrm>
            <a:off x="1792224" y="4684903"/>
            <a:ext cx="3840480" cy="335072"/>
          </a:xfrm>
          <a:prstGeom prst="rect">
            <a:avLst/>
          </a:prstGeom>
          <a:noFill/>
        </p:spPr>
        <p:txBody>
          <a:bodyPr wrap="square" lIns="67733" tIns="33867" rIns="67733" bIns="33867">
            <a:spAutoFit/>
          </a:bodyPr>
          <a:lstStyle/>
          <a:p>
            <a:pPr defTabSz="609585"/>
            <a:r>
              <a:rPr sz="1733" b="1">
                <a:solidFill>
                  <a:srgbClr val="0D1B2A"/>
                </a:solidFill>
                <a:latin typeface="Calibri"/>
              </a:rPr>
              <a:t>ML &amp; Classification</a:t>
            </a:r>
          </a:p>
        </p:txBody>
      </p:sp>
      <p:sp>
        <p:nvSpPr>
          <p:cNvPr id="18" name="TextBox 17"/>
          <p:cNvSpPr txBox="1"/>
          <p:nvPr/>
        </p:nvSpPr>
        <p:spPr>
          <a:xfrm>
            <a:off x="1792224" y="5245735"/>
            <a:ext cx="3840480" cy="458374"/>
          </a:xfrm>
          <a:prstGeom prst="rect">
            <a:avLst/>
          </a:prstGeom>
          <a:noFill/>
        </p:spPr>
        <p:txBody>
          <a:bodyPr wrap="square" lIns="67733" tIns="33867" rIns="67733" bIns="33867">
            <a:spAutoFit/>
          </a:bodyPr>
          <a:lstStyle/>
          <a:p>
            <a:pPr defTabSz="609585"/>
            <a:r>
              <a:rPr sz="1267">
                <a:solidFill>
                  <a:srgbClr val="64748B"/>
                </a:solidFill>
                <a:latin typeface="Calibri"/>
              </a:rPr>
              <a:t>Three models trained, evaluated with F1 + confusion matrix</a:t>
            </a:r>
          </a:p>
        </p:txBody>
      </p:sp>
      <p:sp>
        <p:nvSpPr>
          <p:cNvPr id="19" name="Rounded Rectangle 18"/>
          <p:cNvSpPr/>
          <p:nvPr/>
        </p:nvSpPr>
        <p:spPr>
          <a:xfrm>
            <a:off x="6339840" y="4124071"/>
            <a:ext cx="536448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sz="2400">
              <a:solidFill>
                <a:prstClr val="white"/>
              </a:solidFill>
              <a:latin typeface="Calibri"/>
            </a:endParaRPr>
          </a:p>
        </p:txBody>
      </p:sp>
      <p:sp>
        <p:nvSpPr>
          <p:cNvPr id="20" name="Rounded Rectangle 19"/>
          <p:cNvSpPr/>
          <p:nvPr/>
        </p:nvSpPr>
        <p:spPr>
          <a:xfrm>
            <a:off x="6583680" y="4709287"/>
            <a:ext cx="755904" cy="755904"/>
          </a:xfrm>
          <a:prstGeom prst="round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r>
              <a:rPr sz="1733" b="1">
                <a:solidFill>
                  <a:srgbClr val="FFFFFF"/>
                </a:solidFill>
                <a:latin typeface="Calibri"/>
              </a:rPr>
              <a:t>04</a:t>
            </a:r>
          </a:p>
        </p:txBody>
      </p:sp>
      <p:sp>
        <p:nvSpPr>
          <p:cNvPr id="21" name="TextBox 20"/>
          <p:cNvSpPr txBox="1"/>
          <p:nvPr/>
        </p:nvSpPr>
        <p:spPr>
          <a:xfrm>
            <a:off x="7583424" y="4367911"/>
            <a:ext cx="3840480" cy="242739"/>
          </a:xfrm>
          <a:prstGeom prst="rect">
            <a:avLst/>
          </a:prstGeom>
          <a:noFill/>
        </p:spPr>
        <p:txBody>
          <a:bodyPr wrap="square" lIns="67733" tIns="33867" rIns="67733" bIns="33867">
            <a:spAutoFit/>
          </a:bodyPr>
          <a:lstStyle/>
          <a:p>
            <a:pPr defTabSz="609585"/>
            <a:r>
              <a:rPr sz="1133" b="1">
                <a:solidFill>
                  <a:srgbClr val="F4A261"/>
                </a:solidFill>
                <a:latin typeface="Calibri"/>
              </a:rPr>
              <a:t>Phase 4 &amp; 5</a:t>
            </a:r>
          </a:p>
        </p:txBody>
      </p:sp>
      <p:sp>
        <p:nvSpPr>
          <p:cNvPr id="22" name="TextBox 21"/>
          <p:cNvSpPr txBox="1"/>
          <p:nvPr/>
        </p:nvSpPr>
        <p:spPr>
          <a:xfrm>
            <a:off x="7583424" y="4684903"/>
            <a:ext cx="3840480" cy="335072"/>
          </a:xfrm>
          <a:prstGeom prst="rect">
            <a:avLst/>
          </a:prstGeom>
          <a:noFill/>
        </p:spPr>
        <p:txBody>
          <a:bodyPr wrap="square" lIns="67733" tIns="33867" rIns="67733" bIns="33867">
            <a:spAutoFit/>
          </a:bodyPr>
          <a:lstStyle/>
          <a:p>
            <a:pPr defTabSz="609585"/>
            <a:r>
              <a:rPr sz="1733" b="1">
                <a:solidFill>
                  <a:srgbClr val="0D1B2A"/>
                </a:solidFill>
                <a:latin typeface="Calibri"/>
              </a:rPr>
              <a:t>Semantic Search &amp; Validation</a:t>
            </a:r>
          </a:p>
        </p:txBody>
      </p:sp>
      <p:sp>
        <p:nvSpPr>
          <p:cNvPr id="23" name="TextBox 22"/>
          <p:cNvSpPr txBox="1"/>
          <p:nvPr/>
        </p:nvSpPr>
        <p:spPr>
          <a:xfrm>
            <a:off x="7583424" y="5245735"/>
            <a:ext cx="3840480" cy="458374"/>
          </a:xfrm>
          <a:prstGeom prst="rect">
            <a:avLst/>
          </a:prstGeom>
          <a:noFill/>
        </p:spPr>
        <p:txBody>
          <a:bodyPr wrap="square" lIns="67733" tIns="33867" rIns="67733" bIns="33867">
            <a:spAutoFit/>
          </a:bodyPr>
          <a:lstStyle/>
          <a:p>
            <a:pPr defTabSz="609585"/>
            <a:r>
              <a:rPr sz="1267">
                <a:solidFill>
                  <a:srgbClr val="64748B"/>
                </a:solidFill>
                <a:latin typeface="Calibri"/>
              </a:rPr>
              <a:t>Embeddings, ChromaDB, mini-RAG classifier, Precision@5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892807" cy="329184"/>
          </a:xfrm>
          <a:prstGeom prst="rect">
            <a:avLst/>
          </a:prstGeom>
          <a:noFill/>
        </p:spPr>
        <p:txBody>
          <a:bodyPr wrap="square" lIns="0" tIns="0" rIns="0" bIns="0" anchor="ctr">
            <a:spAutoFit/>
          </a:bodyPr>
          <a:lstStyle/>
          <a:p>
            <a:pPr algn="ctr">
              <a:spcAft>
                <a:spcPts val="0"/>
              </a:spcAft>
            </a:pPr>
            <a:r>
              <a:rPr sz="1000" b="1" i="0">
                <a:solidFill>
                  <a:srgbClr val="FFFFFF"/>
                </a:solidFill>
                <a:latin typeface="Calibri"/>
              </a:rPr>
              <a:t>PHASE 1</a:t>
            </a:r>
          </a:p>
        </p:txBody>
      </p:sp>
      <p:sp>
        <p:nvSpPr>
          <p:cNvPr id="4" name="TextBox 3"/>
          <p:cNvSpPr txBox="1"/>
          <p:nvPr/>
        </p:nvSpPr>
        <p:spPr>
          <a:xfrm>
            <a:off x="548640" y="676656"/>
            <a:ext cx="11094415" cy="868680"/>
          </a:xfrm>
          <a:prstGeom prst="rect">
            <a:avLst/>
          </a:prstGeom>
          <a:noFill/>
        </p:spPr>
        <p:txBody>
          <a:bodyPr wrap="square" lIns="0" tIns="0" rIns="0" bIns="0" anchor="ctr">
            <a:spAutoFit/>
          </a:bodyPr>
          <a:lstStyle/>
          <a:p>
            <a:pPr algn="l">
              <a:spcAft>
                <a:spcPts val="0"/>
              </a:spcAft>
            </a:pPr>
            <a:r>
              <a:rPr sz="2600" b="1" i="0">
                <a:solidFill>
                  <a:srgbClr val="0D1B2A"/>
                </a:solidFill>
                <a:latin typeface="Cambria"/>
              </a:rPr>
              <a:t>Medical Transcription Analysis — The Challenge</a:t>
            </a:r>
          </a:p>
        </p:txBody>
      </p:sp>
      <p:sp>
        <p:nvSpPr>
          <p:cNvPr id="5" name="TextBox 4"/>
          <p:cNvSpPr txBox="1"/>
          <p:nvPr/>
        </p:nvSpPr>
        <p:spPr>
          <a:xfrm>
            <a:off x="548640" y="1591056"/>
            <a:ext cx="11094415" cy="457200"/>
          </a:xfrm>
          <a:prstGeom prst="rect">
            <a:avLst/>
          </a:prstGeom>
          <a:noFill/>
        </p:spPr>
        <p:txBody>
          <a:bodyPr wrap="square" lIns="0" tIns="0" rIns="0" bIns="0" anchor="ctr">
            <a:spAutoFit/>
          </a:bodyPr>
          <a:lstStyle/>
          <a:p>
            <a:pPr algn="l">
              <a:spcAft>
                <a:spcPts val="0"/>
              </a:spcAft>
            </a:pPr>
            <a:r>
              <a:rPr sz="1450" b="0" i="0">
                <a:solidFill>
                  <a:srgbClr val="64748B"/>
                </a:solidFill>
                <a:latin typeface="Calibri"/>
              </a:rPr>
              <a:t>Predict the medical specialty of a clinical note — from messy, real-world data.</a:t>
            </a:r>
          </a:p>
        </p:txBody>
      </p:sp>
      <p:sp>
        <p:nvSpPr>
          <p:cNvPr id="6" name="TextBox 5"/>
          <p:cNvSpPr txBox="1"/>
          <p:nvPr/>
        </p:nvSpPr>
        <p:spPr>
          <a:xfrm>
            <a:off x="548640" y="2148840"/>
            <a:ext cx="2743200" cy="1371600"/>
          </a:xfrm>
          <a:prstGeom prst="rect">
            <a:avLst/>
          </a:prstGeom>
          <a:noFill/>
        </p:spPr>
        <p:txBody>
          <a:bodyPr wrap="square" lIns="0" tIns="0" rIns="0" bIns="0" anchor="t">
            <a:spAutoFit/>
          </a:bodyPr>
          <a:lstStyle/>
          <a:p>
            <a:pPr algn="ctr">
              <a:spcAft>
                <a:spcPts val="200"/>
              </a:spcAft>
            </a:pPr>
            <a:r>
              <a:rPr sz="3800" b="1" i="0">
                <a:solidFill>
                  <a:srgbClr val="0E7C7B"/>
                </a:solidFill>
                <a:latin typeface="Cambria"/>
              </a:rPr>
              <a:t>4,999</a:t>
            </a:r>
          </a:p>
          <a:p>
            <a:pPr algn="ctr">
              <a:lnSpc>
                <a:spcPct val="105000"/>
              </a:lnSpc>
              <a:spcAft>
                <a:spcPts val="0"/>
              </a:spcAft>
            </a:pPr>
            <a:r>
              <a:rPr sz="1200" b="0" i="0">
                <a:solidFill>
                  <a:srgbClr val="64748B"/>
                </a:solidFill>
                <a:latin typeface="Calibri"/>
              </a:rPr>
              <a:t>medical transcription notes</a:t>
            </a:r>
          </a:p>
        </p:txBody>
      </p:sp>
      <p:sp>
        <p:nvSpPr>
          <p:cNvPr id="7" name="TextBox 6"/>
          <p:cNvSpPr txBox="1"/>
          <p:nvPr/>
        </p:nvSpPr>
        <p:spPr>
          <a:xfrm>
            <a:off x="3657600" y="2148840"/>
            <a:ext cx="2743200" cy="1371600"/>
          </a:xfrm>
          <a:prstGeom prst="rect">
            <a:avLst/>
          </a:prstGeom>
          <a:noFill/>
        </p:spPr>
        <p:txBody>
          <a:bodyPr wrap="square" lIns="0" tIns="0" rIns="0" bIns="0" anchor="t">
            <a:spAutoFit/>
          </a:bodyPr>
          <a:lstStyle/>
          <a:p>
            <a:pPr algn="ctr">
              <a:spcAft>
                <a:spcPts val="200"/>
              </a:spcAft>
            </a:pPr>
            <a:r>
              <a:rPr sz="3800" b="1" i="0">
                <a:solidFill>
                  <a:srgbClr val="0369A1"/>
                </a:solidFill>
                <a:latin typeface="Cambria"/>
              </a:rPr>
              <a:t>40</a:t>
            </a:r>
          </a:p>
          <a:p>
            <a:pPr algn="ctr">
              <a:lnSpc>
                <a:spcPct val="105000"/>
              </a:lnSpc>
              <a:spcAft>
                <a:spcPts val="0"/>
              </a:spcAft>
            </a:pPr>
            <a:r>
              <a:rPr sz="1200" b="0" i="0">
                <a:solidFill>
                  <a:srgbClr val="64748B"/>
                </a:solidFill>
                <a:latin typeface="Calibri"/>
              </a:rPr>
              <a:t>labeled specialties</a:t>
            </a:r>
          </a:p>
        </p:txBody>
      </p:sp>
      <p:sp>
        <p:nvSpPr>
          <p:cNvPr id="8" name="TextBox 7"/>
          <p:cNvSpPr txBox="1"/>
          <p:nvPr/>
        </p:nvSpPr>
        <p:spPr>
          <a:xfrm>
            <a:off x="6766559" y="2148840"/>
            <a:ext cx="2743200" cy="1371600"/>
          </a:xfrm>
          <a:prstGeom prst="rect">
            <a:avLst/>
          </a:prstGeom>
          <a:noFill/>
        </p:spPr>
        <p:txBody>
          <a:bodyPr wrap="square" lIns="0" tIns="0" rIns="0" bIns="0" anchor="t">
            <a:spAutoFit/>
          </a:bodyPr>
          <a:lstStyle/>
          <a:p>
            <a:pPr algn="ctr">
              <a:spcAft>
                <a:spcPts val="200"/>
              </a:spcAft>
            </a:pPr>
            <a:r>
              <a:rPr sz="3800" b="1" i="0">
                <a:solidFill>
                  <a:srgbClr val="6D28D9"/>
                </a:solidFill>
                <a:latin typeface="Cambria"/>
              </a:rPr>
              <a:t>6</a:t>
            </a:r>
          </a:p>
          <a:p>
            <a:pPr algn="ctr">
              <a:lnSpc>
                <a:spcPct val="105000"/>
              </a:lnSpc>
              <a:spcAft>
                <a:spcPts val="0"/>
              </a:spcAft>
            </a:pPr>
            <a:r>
              <a:rPr sz="1200" b="0" i="0">
                <a:solidFill>
                  <a:srgbClr val="64748B"/>
                </a:solidFill>
                <a:latin typeface="Calibri"/>
              </a:rPr>
              <a:t>raw columns</a:t>
            </a:r>
          </a:p>
        </p:txBody>
      </p:sp>
      <p:sp>
        <p:nvSpPr>
          <p:cNvPr id="9" name="Rounded Rectangle 8"/>
          <p:cNvSpPr/>
          <p:nvPr/>
        </p:nvSpPr>
        <p:spPr>
          <a:xfrm>
            <a:off x="548640" y="3794760"/>
            <a:ext cx="5989320" cy="2514600"/>
          </a:xfrm>
          <a:prstGeom prst="roundRect">
            <a:avLst>
              <a:gd name="adj" fmla="val 3500"/>
            </a:avLst>
          </a:prstGeom>
          <a:solidFill>
            <a:srgbClr val="FFFFFF"/>
          </a:solidFill>
          <a:ln w="12700">
            <a:solidFill>
              <a:srgbClr val="E2E8F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050792"/>
            <a:ext cx="5349240" cy="1317861"/>
          </a:xfrm>
          <a:prstGeom prst="rect">
            <a:avLst/>
          </a:prstGeom>
          <a:noFill/>
        </p:spPr>
        <p:txBody>
          <a:bodyPr wrap="square" lIns="0" tIns="0" rIns="0" bIns="0" anchor="t">
            <a:spAutoFit/>
          </a:bodyPr>
          <a:lstStyle/>
          <a:p>
            <a:pPr algn="l">
              <a:spcAft>
                <a:spcPts val="800"/>
              </a:spcAft>
            </a:pPr>
            <a:r>
              <a:rPr sz="1450" b="1" i="0">
                <a:solidFill>
                  <a:srgbClr val="0E7C7B"/>
                </a:solidFill>
                <a:latin typeface="Calibri"/>
              </a:rPr>
              <a:t>Key challenges to address</a:t>
            </a:r>
          </a:p>
          <a:p>
            <a:pPr marL="274320" indent="-228600" algn="l">
              <a:lnSpc>
                <a:spcPct val="105000"/>
              </a:lnSpc>
              <a:spcAft>
                <a:spcPts val="500"/>
              </a:spcAft>
              <a:buClr>
                <a:srgbClr val="0E7C7B"/>
              </a:buClr>
              <a:buFont typeface="Arial"/>
              <a:buChar char="•"/>
            </a:pPr>
            <a:r>
              <a:rPr sz="1250" b="0" i="0">
                <a:solidFill>
                  <a:srgbClr val="0D1B2A"/>
                </a:solidFill>
                <a:latin typeface="Calibri"/>
              </a:rPr>
              <a:t>Severe class imbalance </a:t>
            </a:r>
            <a:r>
              <a:rPr lang="en-US" sz="1250" b="0" i="0">
                <a:solidFill>
                  <a:srgbClr val="0D1B2A"/>
                </a:solidFill>
                <a:latin typeface="Calibri"/>
              </a:rPr>
              <a:t>-</a:t>
            </a:r>
            <a:r>
              <a:rPr sz="1250" b="0" i="0">
                <a:solidFill>
                  <a:srgbClr val="0D1B2A"/>
                </a:solidFill>
                <a:latin typeface="Calibri"/>
              </a:rPr>
              <a:t> up to a 36:1 ratio between specialties</a:t>
            </a:r>
          </a:p>
          <a:p>
            <a:pPr marL="274320" indent="-228600" algn="l">
              <a:lnSpc>
                <a:spcPct val="105000"/>
              </a:lnSpc>
              <a:spcAft>
                <a:spcPts val="500"/>
              </a:spcAft>
              <a:buClr>
                <a:srgbClr val="0E7C7B"/>
              </a:buClr>
              <a:buFont typeface="Arial"/>
              <a:buChar char="•"/>
            </a:pPr>
            <a:r>
              <a:rPr sz="1250" b="0" i="0">
                <a:solidFill>
                  <a:srgbClr val="0D1B2A"/>
                </a:solidFill>
                <a:latin typeface="Calibri"/>
              </a:rPr>
              <a:t>Overlapping vocabulary shared across many specialties</a:t>
            </a:r>
          </a:p>
          <a:p>
            <a:pPr marL="274320" indent="-228600" algn="l">
              <a:lnSpc>
                <a:spcPct val="105000"/>
              </a:lnSpc>
              <a:spcAft>
                <a:spcPts val="500"/>
              </a:spcAft>
              <a:buClr>
                <a:srgbClr val="0E7C7B"/>
              </a:buClr>
              <a:buFont typeface="Arial"/>
              <a:buChar char="•"/>
            </a:pPr>
            <a:r>
              <a:rPr sz="1250" b="0" i="0">
                <a:solidFill>
                  <a:srgbClr val="0D1B2A"/>
                </a:solidFill>
                <a:latin typeface="Calibri"/>
              </a:rPr>
              <a:t>Non-medical labels </a:t>
            </a:r>
            <a:r>
              <a:rPr lang="en-US" sz="1250" b="0" i="0">
                <a:solidFill>
                  <a:srgbClr val="0D1B2A"/>
                </a:solidFill>
                <a:latin typeface="Calibri"/>
              </a:rPr>
              <a:t>-</a:t>
            </a:r>
            <a:r>
              <a:rPr sz="1250" b="0" i="0">
                <a:solidFill>
                  <a:srgbClr val="0D1B2A"/>
                </a:solidFill>
                <a:latin typeface="Calibri"/>
              </a:rPr>
              <a:t> document formats posing as specialties</a:t>
            </a:r>
          </a:p>
          <a:p>
            <a:pPr marL="274320" indent="-228600" algn="l">
              <a:lnSpc>
                <a:spcPct val="105000"/>
              </a:lnSpc>
              <a:spcAft>
                <a:spcPts val="500"/>
              </a:spcAft>
              <a:buClr>
                <a:srgbClr val="0E7C7B"/>
              </a:buClr>
              <a:buFont typeface="Arial"/>
              <a:buChar char="•"/>
            </a:pPr>
            <a:r>
              <a:rPr sz="1250" b="0" i="0">
                <a:solidFill>
                  <a:srgbClr val="0D1B2A"/>
                </a:solidFill>
                <a:latin typeface="Calibri"/>
              </a:rPr>
              <a:t>Cross-listed notes </a:t>
            </a:r>
            <a:r>
              <a:rPr lang="en-US" sz="1250" b="0" i="0">
                <a:solidFill>
                  <a:srgbClr val="0D1B2A"/>
                </a:solidFill>
                <a:latin typeface="Calibri"/>
              </a:rPr>
              <a:t>-</a:t>
            </a:r>
            <a:r>
              <a:rPr sz="1250" b="0" i="0">
                <a:solidFill>
                  <a:srgbClr val="0D1B2A"/>
                </a:solidFill>
                <a:latin typeface="Calibri"/>
              </a:rPr>
              <a:t> the same text under multiple labels</a:t>
            </a:r>
          </a:p>
        </p:txBody>
      </p:sp>
      <p:sp>
        <p:nvSpPr>
          <p:cNvPr id="11" name="Rounded Rectangle 10"/>
          <p:cNvSpPr/>
          <p:nvPr/>
        </p:nvSpPr>
        <p:spPr>
          <a:xfrm>
            <a:off x="6857999" y="3794760"/>
            <a:ext cx="4785055" cy="2514600"/>
          </a:xfrm>
          <a:prstGeom prst="roundRect">
            <a:avLst>
              <a:gd name="adj" fmla="val 3500"/>
            </a:avLst>
          </a:prstGeom>
          <a:solidFill>
            <a:srgbClr val="FFFFFF"/>
          </a:solidFill>
          <a:ln w="12700">
            <a:solidFill>
              <a:srgbClr val="E2E8F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19" y="4032504"/>
            <a:ext cx="4236415" cy="365760"/>
          </a:xfrm>
          <a:prstGeom prst="rect">
            <a:avLst/>
          </a:prstGeom>
          <a:noFill/>
        </p:spPr>
        <p:txBody>
          <a:bodyPr wrap="square" lIns="0" tIns="0" rIns="0" bIns="0" anchor="t">
            <a:spAutoFit/>
          </a:bodyPr>
          <a:lstStyle/>
          <a:p>
            <a:pPr algn="l">
              <a:spcAft>
                <a:spcPts val="0"/>
              </a:spcAft>
            </a:pPr>
            <a:r>
              <a:rPr sz="1450" b="1" i="0">
                <a:solidFill>
                  <a:srgbClr val="0D1B2A"/>
                </a:solidFill>
                <a:latin typeface="Calibri"/>
              </a:rPr>
              <a:t>Raw data snapshot</a:t>
            </a:r>
          </a:p>
        </p:txBody>
      </p:sp>
      <p:graphicFrame>
        <p:nvGraphicFramePr>
          <p:cNvPr id="13" name="Table 12"/>
          <p:cNvGraphicFramePr>
            <a:graphicFrameLocks noGrp="1"/>
          </p:cNvGraphicFramePr>
          <p:nvPr/>
        </p:nvGraphicFramePr>
        <p:xfrm>
          <a:off x="7132319" y="4471416"/>
          <a:ext cx="4236415" cy="1554480"/>
        </p:xfrm>
        <a:graphic>
          <a:graphicData uri="http://schemas.openxmlformats.org/drawingml/2006/table">
            <a:tbl>
              <a:tblPr firstRow="1"/>
              <a:tblGrid>
                <a:gridCol w="2541849">
                  <a:extLst>
                    <a:ext uri="{9D8B030D-6E8A-4147-A177-3AD203B41FA5}">
                      <a16:colId xmlns:a16="http://schemas.microsoft.com/office/drawing/2014/main" val="20000"/>
                    </a:ext>
                  </a:extLst>
                </a:gridCol>
                <a:gridCol w="1694566">
                  <a:extLst>
                    <a:ext uri="{9D8B030D-6E8A-4147-A177-3AD203B41FA5}">
                      <a16:colId xmlns:a16="http://schemas.microsoft.com/office/drawing/2014/main" val="20001"/>
                    </a:ext>
                  </a:extLst>
                </a:gridCol>
              </a:tblGrid>
              <a:tr h="310896">
                <a:tc>
                  <a:txBody>
                    <a:bodyPr/>
                    <a:lstStyle/>
                    <a:p>
                      <a:pPr algn="l"/>
                      <a:r>
                        <a:rPr sz="1100" b="1">
                          <a:solidFill>
                            <a:srgbClr val="FFFFFF"/>
                          </a:solidFill>
                          <a:latin typeface="Calibri"/>
                        </a:rPr>
                        <a:t>column</a:t>
                      </a:r>
                    </a:p>
                  </a:txBody>
                  <a:tcPr marL="82296" marR="82296" marT="18288" marB="18288" anchor="ctr">
                    <a:solidFill>
                      <a:srgbClr val="0D1B2A"/>
                    </a:solidFill>
                  </a:tcPr>
                </a:tc>
                <a:tc>
                  <a:txBody>
                    <a:bodyPr/>
                    <a:lstStyle/>
                    <a:p>
                      <a:pPr algn="l"/>
                      <a:r>
                        <a:rPr sz="1100" b="1">
                          <a:solidFill>
                            <a:srgbClr val="FFFFFF"/>
                          </a:solidFill>
                          <a:latin typeface="Calibri"/>
                        </a:rPr>
                        <a:t>role</a:t>
                      </a:r>
                    </a:p>
                  </a:txBody>
                  <a:tcPr marL="82296" marR="82296" marT="18288" marB="18288" anchor="ctr">
                    <a:solidFill>
                      <a:srgbClr val="0D1B2A"/>
                    </a:solidFill>
                  </a:tcPr>
                </a:tc>
                <a:extLst>
                  <a:ext uri="{0D108BD9-81ED-4DB2-BD59-A6C34878D82A}">
                    <a16:rowId xmlns:a16="http://schemas.microsoft.com/office/drawing/2014/main" val="10000"/>
                  </a:ext>
                </a:extLst>
              </a:tr>
              <a:tr h="310896">
                <a:tc>
                  <a:txBody>
                    <a:bodyPr/>
                    <a:lstStyle/>
                    <a:p>
                      <a:pPr algn="l"/>
                      <a:r>
                        <a:rPr sz="1100" b="0">
                          <a:solidFill>
                            <a:srgbClr val="0D1B2A"/>
                          </a:solidFill>
                          <a:latin typeface="Courier New"/>
                        </a:rPr>
                        <a:t>medical_specialty</a:t>
                      </a:r>
                    </a:p>
                  </a:txBody>
                  <a:tcPr marL="82296" marR="82296" marT="18288" marB="18288" anchor="ctr">
                    <a:solidFill>
                      <a:srgbClr val="FFFFFF"/>
                    </a:solidFill>
                  </a:tcPr>
                </a:tc>
                <a:tc>
                  <a:txBody>
                    <a:bodyPr/>
                    <a:lstStyle/>
                    <a:p>
                      <a:pPr algn="l"/>
                      <a:r>
                        <a:rPr sz="1100" b="0">
                          <a:solidFill>
                            <a:srgbClr val="0D1B2A"/>
                          </a:solidFill>
                          <a:latin typeface="Calibri"/>
                        </a:rPr>
                        <a:t>target label</a:t>
                      </a:r>
                    </a:p>
                  </a:txBody>
                  <a:tcPr marL="82296" marR="82296" marT="18288" marB="18288" anchor="ctr">
                    <a:solidFill>
                      <a:srgbClr val="FFFFFF"/>
                    </a:solidFill>
                  </a:tcPr>
                </a:tc>
                <a:extLst>
                  <a:ext uri="{0D108BD9-81ED-4DB2-BD59-A6C34878D82A}">
                    <a16:rowId xmlns:a16="http://schemas.microsoft.com/office/drawing/2014/main" val="10001"/>
                  </a:ext>
                </a:extLst>
              </a:tr>
              <a:tr h="310896">
                <a:tc>
                  <a:txBody>
                    <a:bodyPr/>
                    <a:lstStyle/>
                    <a:p>
                      <a:pPr algn="l"/>
                      <a:r>
                        <a:rPr sz="1100" b="0">
                          <a:solidFill>
                            <a:srgbClr val="0D1B2A"/>
                          </a:solidFill>
                          <a:latin typeface="Courier New"/>
                        </a:rPr>
                        <a:t>transcription</a:t>
                      </a:r>
                    </a:p>
                  </a:txBody>
                  <a:tcPr marL="82296" marR="82296" marT="18288" marB="18288" anchor="ctr">
                    <a:solidFill>
                      <a:srgbClr val="F1F5F9"/>
                    </a:solidFill>
                  </a:tcPr>
                </a:tc>
                <a:tc>
                  <a:txBody>
                    <a:bodyPr/>
                    <a:lstStyle/>
                    <a:p>
                      <a:pPr algn="l"/>
                      <a:r>
                        <a:rPr sz="1100" b="0">
                          <a:solidFill>
                            <a:srgbClr val="0D1B2A"/>
                          </a:solidFill>
                          <a:latin typeface="Calibri"/>
                        </a:rPr>
                        <a:t>clinical text</a:t>
                      </a:r>
                    </a:p>
                  </a:txBody>
                  <a:tcPr marL="82296" marR="82296" marT="18288" marB="18288" anchor="ctr">
                    <a:solidFill>
                      <a:srgbClr val="F1F5F9"/>
                    </a:solidFill>
                  </a:tcPr>
                </a:tc>
                <a:extLst>
                  <a:ext uri="{0D108BD9-81ED-4DB2-BD59-A6C34878D82A}">
                    <a16:rowId xmlns:a16="http://schemas.microsoft.com/office/drawing/2014/main" val="10002"/>
                  </a:ext>
                </a:extLst>
              </a:tr>
              <a:tr h="310896">
                <a:tc>
                  <a:txBody>
                    <a:bodyPr/>
                    <a:lstStyle/>
                    <a:p>
                      <a:pPr algn="l"/>
                      <a:r>
                        <a:rPr sz="1100" b="0">
                          <a:solidFill>
                            <a:srgbClr val="0D1B2A"/>
                          </a:solidFill>
                          <a:latin typeface="Courier New"/>
                        </a:rPr>
                        <a:t>description</a:t>
                      </a:r>
                    </a:p>
                  </a:txBody>
                  <a:tcPr marL="82296" marR="82296" marT="18288" marB="18288" anchor="ctr">
                    <a:solidFill>
                      <a:srgbClr val="FFFFFF"/>
                    </a:solidFill>
                  </a:tcPr>
                </a:tc>
                <a:tc>
                  <a:txBody>
                    <a:bodyPr/>
                    <a:lstStyle/>
                    <a:p>
                      <a:pPr algn="l"/>
                      <a:r>
                        <a:rPr sz="1100" b="0">
                          <a:solidFill>
                            <a:srgbClr val="0D1B2A"/>
                          </a:solidFill>
                          <a:latin typeface="Calibri"/>
                        </a:rPr>
                        <a:t>short summary</a:t>
                      </a:r>
                    </a:p>
                  </a:txBody>
                  <a:tcPr marL="82296" marR="82296" marT="18288" marB="18288" anchor="ctr">
                    <a:solidFill>
                      <a:srgbClr val="FFFFFF"/>
                    </a:solidFill>
                  </a:tcPr>
                </a:tc>
                <a:extLst>
                  <a:ext uri="{0D108BD9-81ED-4DB2-BD59-A6C34878D82A}">
                    <a16:rowId xmlns:a16="http://schemas.microsoft.com/office/drawing/2014/main" val="10003"/>
                  </a:ext>
                </a:extLst>
              </a:tr>
              <a:tr h="310896">
                <a:tc>
                  <a:txBody>
                    <a:bodyPr/>
                    <a:lstStyle/>
                    <a:p>
                      <a:pPr algn="l"/>
                      <a:r>
                        <a:rPr sz="1100" b="0">
                          <a:solidFill>
                            <a:srgbClr val="0D1B2A"/>
                          </a:solidFill>
                          <a:latin typeface="Courier New"/>
                        </a:rPr>
                        <a:t>keywords</a:t>
                      </a:r>
                    </a:p>
                  </a:txBody>
                  <a:tcPr marL="82296" marR="82296" marT="18288" marB="18288" anchor="ctr">
                    <a:solidFill>
                      <a:srgbClr val="F1F5F9"/>
                    </a:solidFill>
                  </a:tcPr>
                </a:tc>
                <a:tc>
                  <a:txBody>
                    <a:bodyPr/>
                    <a:lstStyle/>
                    <a:p>
                      <a:pPr algn="l"/>
                      <a:r>
                        <a:rPr sz="1100" b="0">
                          <a:solidFill>
                            <a:srgbClr val="0D1B2A"/>
                          </a:solidFill>
                          <a:latin typeface="Calibri"/>
                        </a:rPr>
                        <a:t>not used</a:t>
                      </a:r>
                    </a:p>
                  </a:txBody>
                  <a:tcPr marL="82296" marR="82296" marT="18288" marB="18288" anchor="ctr">
                    <a:solidFill>
                      <a:srgbClr val="F1F5F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892807" cy="329184"/>
          </a:xfrm>
          <a:prstGeom prst="rect">
            <a:avLst/>
          </a:prstGeom>
          <a:noFill/>
        </p:spPr>
        <p:txBody>
          <a:bodyPr wrap="square" lIns="0" tIns="0" rIns="0" bIns="0" anchor="ctr">
            <a:spAutoFit/>
          </a:bodyPr>
          <a:lstStyle/>
          <a:p>
            <a:pPr algn="ctr">
              <a:spcAft>
                <a:spcPts val="0"/>
              </a:spcAft>
            </a:pPr>
            <a:r>
              <a:rPr sz="1000" b="1" i="0">
                <a:solidFill>
                  <a:srgbClr val="FFFFFF"/>
                </a:solidFill>
                <a:latin typeface="Calibri"/>
              </a:rPr>
              <a:t>PHASE 1</a:t>
            </a:r>
          </a:p>
        </p:txBody>
      </p:sp>
      <p:sp>
        <p:nvSpPr>
          <p:cNvPr id="4" name="TextBox 3"/>
          <p:cNvSpPr txBox="1"/>
          <p:nvPr/>
        </p:nvSpPr>
        <p:spPr>
          <a:xfrm>
            <a:off x="548640" y="676656"/>
            <a:ext cx="11094415" cy="868680"/>
          </a:xfrm>
          <a:prstGeom prst="rect">
            <a:avLst/>
          </a:prstGeom>
          <a:noFill/>
        </p:spPr>
        <p:txBody>
          <a:bodyPr wrap="square" lIns="0" tIns="0" rIns="0" bIns="0" anchor="ctr">
            <a:spAutoFit/>
          </a:bodyPr>
          <a:lstStyle/>
          <a:p>
            <a:pPr algn="l">
              <a:spcAft>
                <a:spcPts val="0"/>
              </a:spcAft>
            </a:pPr>
            <a:r>
              <a:rPr sz="2600" b="1" i="0">
                <a:solidFill>
                  <a:srgbClr val="0D1B2A"/>
                </a:solidFill>
                <a:latin typeface="Cambria"/>
              </a:rPr>
              <a:t>Phase 1 Goals — Clean the Noise, Find the Signal</a:t>
            </a:r>
          </a:p>
        </p:txBody>
      </p:sp>
      <p:sp>
        <p:nvSpPr>
          <p:cNvPr id="5" name="TextBox 4"/>
          <p:cNvSpPr txBox="1"/>
          <p:nvPr/>
        </p:nvSpPr>
        <p:spPr>
          <a:xfrm>
            <a:off x="548640" y="1591056"/>
            <a:ext cx="11094415" cy="457200"/>
          </a:xfrm>
          <a:prstGeom prst="rect">
            <a:avLst/>
          </a:prstGeom>
          <a:noFill/>
        </p:spPr>
        <p:txBody>
          <a:bodyPr wrap="square" lIns="0" tIns="0" rIns="0" bIns="0" anchor="ctr">
            <a:spAutoFit/>
          </a:bodyPr>
          <a:lstStyle/>
          <a:p>
            <a:pPr algn="l">
              <a:spcAft>
                <a:spcPts val="0"/>
              </a:spcAft>
            </a:pPr>
            <a:r>
              <a:rPr sz="1450" b="0" i="0">
                <a:solidFill>
                  <a:srgbClr val="64748B"/>
                </a:solidFill>
                <a:latin typeface="Calibri"/>
              </a:rPr>
              <a:t>Transform noisy raw data into a clean, classification-ready dataset.</a:t>
            </a:r>
          </a:p>
        </p:txBody>
      </p:sp>
      <p:sp>
        <p:nvSpPr>
          <p:cNvPr id="6" name="Rounded Rectangle 5"/>
          <p:cNvSpPr/>
          <p:nvPr/>
        </p:nvSpPr>
        <p:spPr>
          <a:xfrm>
            <a:off x="548640" y="2194560"/>
            <a:ext cx="5074920" cy="1417320"/>
          </a:xfrm>
          <a:prstGeom prst="roundRect">
            <a:avLst>
              <a:gd name="adj" fmla="val 3500"/>
            </a:avLst>
          </a:prstGeom>
          <a:solidFill>
            <a:srgbClr val="FFFFFF"/>
          </a:solidFill>
          <a:ln w="12700">
            <a:solidFill>
              <a:srgbClr val="E2E8F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2414015"/>
            <a:ext cx="4489704" cy="1051560"/>
          </a:xfrm>
          <a:prstGeom prst="rect">
            <a:avLst/>
          </a:prstGeom>
          <a:noFill/>
        </p:spPr>
        <p:txBody>
          <a:bodyPr wrap="square" lIns="0" tIns="0" rIns="0" bIns="0" anchor="t">
            <a:spAutoFit/>
          </a:bodyPr>
          <a:lstStyle/>
          <a:p>
            <a:pPr algn="l">
              <a:spcAft>
                <a:spcPts val="600"/>
              </a:spcAft>
            </a:pPr>
            <a:r>
              <a:rPr sz="1500" b="1" i="0">
                <a:solidFill>
                  <a:srgbClr val="0E7C7B"/>
                </a:solidFill>
                <a:latin typeface="Calibri"/>
              </a:rPr>
              <a:t>1.1  Data Cleaning</a:t>
            </a:r>
          </a:p>
          <a:p>
            <a:pPr algn="l">
              <a:lnSpc>
                <a:spcPct val="108000"/>
              </a:lnSpc>
              <a:spcAft>
                <a:spcPts val="0"/>
              </a:spcAft>
            </a:pPr>
            <a:r>
              <a:rPr sz="1250" b="0" i="0">
                <a:solidFill>
                  <a:srgbClr val="0D1B2A"/>
                </a:solidFill>
                <a:latin typeface="Calibri"/>
              </a:rPr>
              <a:t>Remove unusable rows (nulls, duplicates, too-short notes) and strip out cross-listed, non-specialty labels.</a:t>
            </a:r>
          </a:p>
        </p:txBody>
      </p:sp>
      <p:sp>
        <p:nvSpPr>
          <p:cNvPr id="8" name="Rounded Rectangle 7"/>
          <p:cNvSpPr/>
          <p:nvPr/>
        </p:nvSpPr>
        <p:spPr>
          <a:xfrm>
            <a:off x="5897879" y="2194560"/>
            <a:ext cx="5074920" cy="1417320"/>
          </a:xfrm>
          <a:prstGeom prst="roundRect">
            <a:avLst>
              <a:gd name="adj" fmla="val 3500"/>
            </a:avLst>
          </a:prstGeom>
          <a:solidFill>
            <a:srgbClr val="FFFFFF"/>
          </a:solidFill>
          <a:ln w="12700">
            <a:solidFill>
              <a:srgbClr val="E2E8F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90488" y="2414015"/>
            <a:ext cx="4489704" cy="1051560"/>
          </a:xfrm>
          <a:prstGeom prst="rect">
            <a:avLst/>
          </a:prstGeom>
          <a:noFill/>
        </p:spPr>
        <p:txBody>
          <a:bodyPr wrap="square" lIns="0" tIns="0" rIns="0" bIns="0" anchor="t">
            <a:spAutoFit/>
          </a:bodyPr>
          <a:lstStyle/>
          <a:p>
            <a:pPr algn="l">
              <a:spcAft>
                <a:spcPts val="600"/>
              </a:spcAft>
            </a:pPr>
            <a:r>
              <a:rPr sz="1500" b="1" i="0">
                <a:solidFill>
                  <a:srgbClr val="0369A1"/>
                </a:solidFill>
                <a:latin typeface="Calibri"/>
              </a:rPr>
              <a:t>1.2  NLP Analysis</a:t>
            </a:r>
          </a:p>
          <a:p>
            <a:pPr algn="l">
              <a:lnSpc>
                <a:spcPct val="108000"/>
              </a:lnSpc>
              <a:spcAft>
                <a:spcPts val="0"/>
              </a:spcAft>
            </a:pPr>
            <a:r>
              <a:rPr sz="1250" b="0" i="0">
                <a:solidFill>
                  <a:srgbClr val="0D1B2A"/>
                </a:solidFill>
                <a:latin typeface="Calibri"/>
              </a:rPr>
              <a:t>Engineer length features, build a clean-text column, and map each specialty's linguistic “fingerprint.”</a:t>
            </a:r>
          </a:p>
        </p:txBody>
      </p:sp>
      <p:sp>
        <p:nvSpPr>
          <p:cNvPr id="10" name="TextBox 9"/>
          <p:cNvSpPr txBox="1"/>
          <p:nvPr/>
        </p:nvSpPr>
        <p:spPr>
          <a:xfrm>
            <a:off x="548640" y="3840480"/>
            <a:ext cx="11094415" cy="365760"/>
          </a:xfrm>
          <a:prstGeom prst="rect">
            <a:avLst/>
          </a:prstGeom>
          <a:noFill/>
        </p:spPr>
        <p:txBody>
          <a:bodyPr wrap="square" lIns="0" tIns="0" rIns="0" bIns="0" anchor="t">
            <a:spAutoFit/>
          </a:bodyPr>
          <a:lstStyle/>
          <a:p>
            <a:pPr algn="l">
              <a:spcAft>
                <a:spcPts val="0"/>
              </a:spcAft>
            </a:pPr>
            <a:r>
              <a:rPr sz="1450" b="1" i="0">
                <a:solidFill>
                  <a:srgbClr val="0D1B2A"/>
                </a:solidFill>
                <a:latin typeface="Calibri"/>
              </a:rPr>
              <a:t>The transformation</a:t>
            </a:r>
          </a:p>
        </p:txBody>
      </p:sp>
      <p:sp>
        <p:nvSpPr>
          <p:cNvPr id="11" name="Rounded Rectangle 10"/>
          <p:cNvSpPr/>
          <p:nvPr/>
        </p:nvSpPr>
        <p:spPr>
          <a:xfrm>
            <a:off x="548640" y="4297680"/>
            <a:ext cx="2331720" cy="1051560"/>
          </a:xfrm>
          <a:prstGeom prst="roundRect">
            <a:avLst>
              <a:gd name="adj" fmla="val 6000"/>
            </a:avLst>
          </a:prstGeom>
          <a:solidFill>
            <a:srgbClr val="F1F5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4462272"/>
            <a:ext cx="2331720" cy="822960"/>
          </a:xfrm>
          <a:prstGeom prst="rect">
            <a:avLst/>
          </a:prstGeom>
          <a:noFill/>
        </p:spPr>
        <p:txBody>
          <a:bodyPr wrap="square" lIns="0" tIns="0" rIns="0" bIns="0" anchor="ctr">
            <a:spAutoFit/>
          </a:bodyPr>
          <a:lstStyle/>
          <a:p>
            <a:pPr algn="ctr">
              <a:spcAft>
                <a:spcPts val="0"/>
              </a:spcAft>
            </a:pPr>
            <a:r>
              <a:rPr sz="3000" b="1" i="0">
                <a:solidFill>
                  <a:srgbClr val="64748B"/>
                </a:solidFill>
                <a:latin typeface="Cambria"/>
              </a:rPr>
              <a:t>4,999</a:t>
            </a:r>
          </a:p>
          <a:p>
            <a:pPr algn="ctr">
              <a:spcAft>
                <a:spcPts val="0"/>
              </a:spcAft>
            </a:pPr>
            <a:r>
              <a:rPr sz="1100" b="0" i="0">
                <a:solidFill>
                  <a:srgbClr val="64748B"/>
                </a:solidFill>
                <a:latin typeface="Calibri"/>
              </a:rPr>
              <a:t>rows (raw)</a:t>
            </a:r>
          </a:p>
        </p:txBody>
      </p:sp>
      <p:sp>
        <p:nvSpPr>
          <p:cNvPr id="13" name="TextBox 12"/>
          <p:cNvSpPr txBox="1"/>
          <p:nvPr/>
        </p:nvSpPr>
        <p:spPr>
          <a:xfrm>
            <a:off x="2880360" y="4462272"/>
            <a:ext cx="822960" cy="822960"/>
          </a:xfrm>
          <a:prstGeom prst="rect">
            <a:avLst/>
          </a:prstGeom>
          <a:noFill/>
        </p:spPr>
        <p:txBody>
          <a:bodyPr wrap="square" lIns="0" tIns="0" rIns="0" bIns="0" anchor="ctr">
            <a:spAutoFit/>
          </a:bodyPr>
          <a:lstStyle/>
          <a:p>
            <a:pPr algn="ctr">
              <a:spcAft>
                <a:spcPts val="0"/>
              </a:spcAft>
            </a:pPr>
            <a:r>
              <a:rPr sz="2600" b="1" i="0">
                <a:solidFill>
                  <a:srgbClr val="0E7C7B"/>
                </a:solidFill>
                <a:latin typeface="Calibri"/>
              </a:rPr>
              <a:t>→</a:t>
            </a:r>
          </a:p>
        </p:txBody>
      </p:sp>
      <p:sp>
        <p:nvSpPr>
          <p:cNvPr id="14" name="Rounded Rectangle 13"/>
          <p:cNvSpPr/>
          <p:nvPr/>
        </p:nvSpPr>
        <p:spPr>
          <a:xfrm>
            <a:off x="3703320" y="4297680"/>
            <a:ext cx="2331720" cy="1051560"/>
          </a:xfrm>
          <a:prstGeom prst="roundRect">
            <a:avLst>
              <a:gd name="adj" fmla="val 6000"/>
            </a:avLst>
          </a:prstGeom>
          <a:solidFill>
            <a:srgbClr val="E0F7F6"/>
          </a:solidFill>
          <a:ln w="12700">
            <a:solidFill>
              <a:srgbClr val="0E7C7B"/>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03320" y="4462272"/>
            <a:ext cx="2331720" cy="822960"/>
          </a:xfrm>
          <a:prstGeom prst="rect">
            <a:avLst/>
          </a:prstGeom>
          <a:noFill/>
        </p:spPr>
        <p:txBody>
          <a:bodyPr wrap="square" lIns="0" tIns="0" rIns="0" bIns="0" anchor="ctr">
            <a:spAutoFit/>
          </a:bodyPr>
          <a:lstStyle/>
          <a:p>
            <a:pPr algn="ctr">
              <a:spcAft>
                <a:spcPts val="0"/>
              </a:spcAft>
            </a:pPr>
            <a:r>
              <a:rPr sz="3000" b="1" i="0">
                <a:solidFill>
                  <a:srgbClr val="0E7C7B"/>
                </a:solidFill>
                <a:latin typeface="Cambria"/>
              </a:rPr>
              <a:t>2,586</a:t>
            </a:r>
          </a:p>
          <a:p>
            <a:pPr algn="ctr">
              <a:spcAft>
                <a:spcPts val="0"/>
              </a:spcAft>
            </a:pPr>
            <a:r>
              <a:rPr sz="1100" b="0" i="0">
                <a:solidFill>
                  <a:srgbClr val="0E7C7B"/>
                </a:solidFill>
                <a:latin typeface="Calibri"/>
              </a:rPr>
              <a:t>rows (clean)</a:t>
            </a:r>
          </a:p>
        </p:txBody>
      </p:sp>
      <p:sp>
        <p:nvSpPr>
          <p:cNvPr id="16" name="Rounded Rectangle 15"/>
          <p:cNvSpPr/>
          <p:nvPr/>
        </p:nvSpPr>
        <p:spPr>
          <a:xfrm>
            <a:off x="6492240" y="4297680"/>
            <a:ext cx="2331720" cy="1051560"/>
          </a:xfrm>
          <a:prstGeom prst="roundRect">
            <a:avLst>
              <a:gd name="adj" fmla="val 6000"/>
            </a:avLst>
          </a:prstGeom>
          <a:solidFill>
            <a:srgbClr val="F1F5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4462272"/>
            <a:ext cx="2331720" cy="822960"/>
          </a:xfrm>
          <a:prstGeom prst="rect">
            <a:avLst/>
          </a:prstGeom>
          <a:noFill/>
        </p:spPr>
        <p:txBody>
          <a:bodyPr wrap="square" lIns="0" tIns="0" rIns="0" bIns="0" anchor="ctr">
            <a:spAutoFit/>
          </a:bodyPr>
          <a:lstStyle/>
          <a:p>
            <a:pPr algn="ctr">
              <a:spcAft>
                <a:spcPts val="0"/>
              </a:spcAft>
            </a:pPr>
            <a:r>
              <a:rPr sz="3000" b="1" i="0">
                <a:solidFill>
                  <a:srgbClr val="64748B"/>
                </a:solidFill>
                <a:latin typeface="Cambria"/>
              </a:rPr>
              <a:t>40</a:t>
            </a:r>
          </a:p>
          <a:p>
            <a:pPr algn="ctr">
              <a:spcAft>
                <a:spcPts val="0"/>
              </a:spcAft>
            </a:pPr>
            <a:r>
              <a:rPr sz="1100" b="0" i="0">
                <a:solidFill>
                  <a:srgbClr val="64748B"/>
                </a:solidFill>
                <a:latin typeface="Calibri"/>
              </a:rPr>
              <a:t>labels (raw)</a:t>
            </a:r>
          </a:p>
        </p:txBody>
      </p:sp>
      <p:sp>
        <p:nvSpPr>
          <p:cNvPr id="18" name="TextBox 17"/>
          <p:cNvSpPr txBox="1"/>
          <p:nvPr/>
        </p:nvSpPr>
        <p:spPr>
          <a:xfrm>
            <a:off x="8823959" y="4462272"/>
            <a:ext cx="822960" cy="822960"/>
          </a:xfrm>
          <a:prstGeom prst="rect">
            <a:avLst/>
          </a:prstGeom>
          <a:noFill/>
        </p:spPr>
        <p:txBody>
          <a:bodyPr wrap="square" lIns="0" tIns="0" rIns="0" bIns="0" anchor="ctr">
            <a:spAutoFit/>
          </a:bodyPr>
          <a:lstStyle/>
          <a:p>
            <a:pPr algn="ctr">
              <a:spcAft>
                <a:spcPts val="0"/>
              </a:spcAft>
            </a:pPr>
            <a:r>
              <a:rPr sz="2600" b="1" i="0">
                <a:solidFill>
                  <a:srgbClr val="0369A1"/>
                </a:solidFill>
                <a:latin typeface="Calibri"/>
              </a:rPr>
              <a:t>→</a:t>
            </a:r>
          </a:p>
        </p:txBody>
      </p:sp>
      <p:sp>
        <p:nvSpPr>
          <p:cNvPr id="19" name="Rounded Rectangle 18"/>
          <p:cNvSpPr/>
          <p:nvPr/>
        </p:nvSpPr>
        <p:spPr>
          <a:xfrm>
            <a:off x="9646919" y="4297680"/>
            <a:ext cx="2331720" cy="1051560"/>
          </a:xfrm>
          <a:prstGeom prst="roundRect">
            <a:avLst>
              <a:gd name="adj" fmla="val 6000"/>
            </a:avLst>
          </a:prstGeom>
          <a:solidFill>
            <a:srgbClr val="EFF6FF"/>
          </a:solidFill>
          <a:ln w="12700">
            <a:solidFill>
              <a:srgbClr val="0369A1"/>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46919" y="4462272"/>
            <a:ext cx="2331720" cy="822960"/>
          </a:xfrm>
          <a:prstGeom prst="rect">
            <a:avLst/>
          </a:prstGeom>
          <a:noFill/>
        </p:spPr>
        <p:txBody>
          <a:bodyPr wrap="square" lIns="0" tIns="0" rIns="0" bIns="0" anchor="ctr">
            <a:spAutoFit/>
          </a:bodyPr>
          <a:lstStyle/>
          <a:p>
            <a:pPr algn="ctr">
              <a:spcAft>
                <a:spcPts val="0"/>
              </a:spcAft>
            </a:pPr>
            <a:r>
              <a:rPr sz="3000" b="1" i="0">
                <a:solidFill>
                  <a:srgbClr val="0369A1"/>
                </a:solidFill>
                <a:latin typeface="Cambria"/>
              </a:rPr>
              <a:t>26</a:t>
            </a:r>
          </a:p>
          <a:p>
            <a:pPr algn="ctr">
              <a:spcAft>
                <a:spcPts val="0"/>
              </a:spcAft>
            </a:pPr>
            <a:r>
              <a:rPr sz="1100" b="0" i="0">
                <a:solidFill>
                  <a:srgbClr val="0369A1"/>
                </a:solidFill>
                <a:latin typeface="Calibri"/>
              </a:rPr>
              <a:t>specialties (clean)</a:t>
            </a:r>
          </a:p>
        </p:txBody>
      </p:sp>
      <p:sp>
        <p:nvSpPr>
          <p:cNvPr id="21" name="Rounded Rectangle 20"/>
          <p:cNvSpPr/>
          <p:nvPr/>
        </p:nvSpPr>
        <p:spPr>
          <a:xfrm>
            <a:off x="548640" y="5989320"/>
            <a:ext cx="11094415" cy="566928"/>
          </a:xfrm>
          <a:prstGeom prst="roundRect">
            <a:avLst>
              <a:gd name="adj" fmla="val 6000"/>
            </a:avLst>
          </a:prstGeom>
          <a:solidFill>
            <a:srgbClr val="E0F7F6"/>
          </a:solidFill>
          <a:ln w="12700">
            <a:solidFill>
              <a:srgbClr val="E0F7F6"/>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4672" y="6172200"/>
            <a:ext cx="10582351" cy="201167"/>
          </a:xfrm>
          <a:prstGeom prst="rect">
            <a:avLst/>
          </a:prstGeom>
          <a:noFill/>
        </p:spPr>
        <p:txBody>
          <a:bodyPr wrap="square" lIns="0" tIns="0" rIns="0" bIns="0" anchor="ctr">
            <a:spAutoFit/>
          </a:bodyPr>
          <a:lstStyle/>
          <a:p>
            <a:pPr algn="l">
              <a:lnSpc>
                <a:spcPct val="106000"/>
              </a:lnSpc>
              <a:spcAft>
                <a:spcPts val="400"/>
              </a:spcAft>
            </a:pPr>
            <a:r>
              <a:rPr sz="1250" b="1" i="0">
                <a:solidFill>
                  <a:srgbClr val="0E7C7B"/>
                </a:solidFill>
                <a:latin typeface="Calibri"/>
              </a:rPr>
              <a:t>Success criteria: </a:t>
            </a:r>
            <a:r>
              <a:rPr sz="1250" b="0" i="0">
                <a:solidFill>
                  <a:srgbClr val="0D1B2A"/>
                </a:solidFill>
                <a:latin typeface="Calibri"/>
              </a:rPr>
              <a:t>only genuine specialties remain, each with enough examples to train on, and no duplicate or unusable transcriptions.</a:t>
            </a:r>
          </a:p>
        </p:txBody>
      </p:sp>
    </p:spTree>
    <p:extLst>
      <p:ext uri="{BB962C8B-B14F-4D97-AF65-F5344CB8AC3E}">
        <p14:creationId xmlns:p14="http://schemas.microsoft.com/office/powerpoint/2010/main" val="2853713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548640" y="389400"/>
            <a:ext cx="1892807" cy="153888"/>
          </a:xfrm>
          <a:prstGeom prst="rect">
            <a:avLst/>
          </a:prstGeom>
          <a:noFill/>
        </p:spPr>
        <p:txBody>
          <a:bodyPr wrap="square" lIns="0" tIns="0" rIns="0" bIns="0" anchor="ctr">
            <a:spAutoFit/>
          </a:bodyPr>
          <a:lstStyle/>
          <a:p>
            <a:pPr algn="ctr">
              <a:spcAft>
                <a:spcPts val="0"/>
              </a:spcAft>
            </a:pPr>
            <a:r>
              <a:rPr lang="en-US" sz="1000" b="1" i="0">
                <a:solidFill>
                  <a:srgbClr val="FFFFFF"/>
                </a:solidFill>
                <a:latin typeface="Calibri"/>
              </a:rPr>
              <a:t>PHASE 1</a:t>
            </a:r>
          </a:p>
        </p:txBody>
      </p:sp>
      <p:sp>
        <p:nvSpPr>
          <p:cNvPr id="4" name="TextBox 3"/>
          <p:cNvSpPr txBox="1">
            <a:spLocks/>
          </p:cNvSpPr>
          <p:nvPr/>
        </p:nvSpPr>
        <p:spPr>
          <a:xfrm>
            <a:off x="548640" y="826302"/>
            <a:ext cx="11094415" cy="569387"/>
          </a:xfrm>
          <a:prstGeom prst="rect">
            <a:avLst/>
          </a:prstGeom>
          <a:noFill/>
        </p:spPr>
        <p:txBody>
          <a:bodyPr wrap="square" lIns="0" tIns="0" rIns="0" bIns="0" anchor="ctr">
            <a:spAutoFit/>
          </a:bodyPr>
          <a:lstStyle/>
          <a:p>
            <a:pPr algn="l">
              <a:spcAft>
                <a:spcPts val="0"/>
              </a:spcAft>
            </a:pPr>
            <a:r>
              <a:rPr lang="en-US" sz="3700" b="1" i="0">
                <a:solidFill>
                  <a:srgbClr val="0D1B2A"/>
                </a:solidFill>
                <a:latin typeface="Cambria"/>
              </a:rPr>
              <a:t>Initial Data Quality Check</a:t>
            </a:r>
          </a:p>
        </p:txBody>
      </p:sp>
      <p:sp>
        <p:nvSpPr>
          <p:cNvPr id="5" name="TextBox 4"/>
          <p:cNvSpPr txBox="1"/>
          <p:nvPr/>
        </p:nvSpPr>
        <p:spPr>
          <a:xfrm>
            <a:off x="548640" y="1708087"/>
            <a:ext cx="11094415" cy="223138"/>
          </a:xfrm>
          <a:prstGeom prst="rect">
            <a:avLst/>
          </a:prstGeom>
          <a:noFill/>
        </p:spPr>
        <p:txBody>
          <a:bodyPr wrap="square" lIns="0" tIns="0" rIns="0" bIns="0" anchor="ctr">
            <a:spAutoFit/>
          </a:bodyPr>
          <a:lstStyle/>
          <a:p>
            <a:pPr algn="l">
              <a:spcAft>
                <a:spcPts val="0"/>
              </a:spcAft>
            </a:pPr>
            <a:r>
              <a:rPr lang="en-US" sz="1450" b="0" i="0">
                <a:solidFill>
                  <a:srgbClr val="64748B"/>
                </a:solidFill>
                <a:latin typeface="Calibri"/>
              </a:rPr>
              <a:t>What we found before touching anything — nulls and heavy duplication.</a:t>
            </a:r>
          </a:p>
        </p:txBody>
      </p:sp>
      <p:graphicFrame>
        <p:nvGraphicFramePr>
          <p:cNvPr id="6" name="Table 5"/>
          <p:cNvGraphicFramePr>
            <a:graphicFrameLocks noGrp="1"/>
          </p:cNvGraphicFramePr>
          <p:nvPr/>
        </p:nvGraphicFramePr>
        <p:xfrm>
          <a:off x="548640" y="2240280"/>
          <a:ext cx="6766560" cy="1920240"/>
        </p:xfrm>
        <a:graphic>
          <a:graphicData uri="http://schemas.openxmlformats.org/drawingml/2006/table">
            <a:tbl>
              <a:tblPr firstRow="1"/>
              <a:tblGrid>
                <a:gridCol w="22860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384048">
                <a:tc>
                  <a:txBody>
                    <a:bodyPr/>
                    <a:lstStyle/>
                    <a:p>
                      <a:pPr algn="l"/>
                      <a:r>
                        <a:rPr sz="1150" b="1">
                          <a:solidFill>
                            <a:srgbClr val="FFFFFF"/>
                          </a:solidFill>
                          <a:latin typeface="Calibri"/>
                        </a:rPr>
                        <a:t>column</a:t>
                      </a:r>
                    </a:p>
                  </a:txBody>
                  <a:tcPr marL="82296" marR="82296" marT="18288" marB="18288" anchor="ctr">
                    <a:solidFill>
                      <a:srgbClr val="0E7C7B"/>
                    </a:solidFill>
                  </a:tcPr>
                </a:tc>
                <a:tc>
                  <a:txBody>
                    <a:bodyPr/>
                    <a:lstStyle/>
                    <a:p>
                      <a:pPr algn="r"/>
                      <a:r>
                        <a:rPr sz="1150" b="1">
                          <a:solidFill>
                            <a:srgbClr val="FFFFFF"/>
                          </a:solidFill>
                          <a:latin typeface="Calibri"/>
                        </a:rPr>
                        <a:t>null %</a:t>
                      </a:r>
                    </a:p>
                  </a:txBody>
                  <a:tcPr marL="82296" marR="82296" marT="18288" marB="18288" anchor="ctr">
                    <a:solidFill>
                      <a:srgbClr val="0E7C7B"/>
                    </a:solidFill>
                  </a:tcPr>
                </a:tc>
                <a:tc>
                  <a:txBody>
                    <a:bodyPr/>
                    <a:lstStyle/>
                    <a:p>
                      <a:pPr algn="r"/>
                      <a:r>
                        <a:rPr sz="1150" b="1">
                          <a:solidFill>
                            <a:srgbClr val="FFFFFF"/>
                          </a:solidFill>
                          <a:latin typeface="Calibri"/>
                        </a:rPr>
                        <a:t>duplicate %</a:t>
                      </a:r>
                    </a:p>
                  </a:txBody>
                  <a:tcPr marL="82296" marR="82296" marT="18288" marB="18288" anchor="ctr">
                    <a:solidFill>
                      <a:srgbClr val="0E7C7B"/>
                    </a:solidFill>
                  </a:tcPr>
                </a:tc>
                <a:tc>
                  <a:txBody>
                    <a:bodyPr/>
                    <a:lstStyle/>
                    <a:p>
                      <a:pPr algn="l"/>
                      <a:r>
                        <a:rPr sz="1150" b="1">
                          <a:solidFill>
                            <a:srgbClr val="FFFFFF"/>
                          </a:solidFill>
                          <a:latin typeface="Calibri"/>
                        </a:rPr>
                        <a:t>note</a:t>
                      </a:r>
                    </a:p>
                  </a:txBody>
                  <a:tcPr marL="82296" marR="82296" marT="18288" marB="18288" anchor="ctr">
                    <a:solidFill>
                      <a:srgbClr val="0E7C7B"/>
                    </a:solidFill>
                  </a:tcPr>
                </a:tc>
                <a:extLst>
                  <a:ext uri="{0D108BD9-81ED-4DB2-BD59-A6C34878D82A}">
                    <a16:rowId xmlns:a16="http://schemas.microsoft.com/office/drawing/2014/main" val="10000"/>
                  </a:ext>
                </a:extLst>
              </a:tr>
              <a:tr h="384048">
                <a:tc>
                  <a:txBody>
                    <a:bodyPr/>
                    <a:lstStyle/>
                    <a:p>
                      <a:pPr algn="l"/>
                      <a:r>
                        <a:rPr sz="1150" b="0">
                          <a:solidFill>
                            <a:srgbClr val="0D1B2A"/>
                          </a:solidFill>
                          <a:latin typeface="Courier New"/>
                        </a:rPr>
                        <a:t>medical_specialty</a:t>
                      </a:r>
                    </a:p>
                  </a:txBody>
                  <a:tcPr marL="82296" marR="82296" marT="18288" marB="18288" anchor="ctr">
                    <a:solidFill>
                      <a:srgbClr val="FFFFFF"/>
                    </a:solidFill>
                  </a:tcPr>
                </a:tc>
                <a:tc>
                  <a:txBody>
                    <a:bodyPr/>
                    <a:lstStyle/>
                    <a:p>
                      <a:pPr algn="r"/>
                      <a:r>
                        <a:rPr sz="1150" b="0">
                          <a:solidFill>
                            <a:srgbClr val="0D1B2A"/>
                          </a:solidFill>
                          <a:latin typeface="Calibri"/>
                        </a:rPr>
                        <a:t>0%</a:t>
                      </a:r>
                    </a:p>
                  </a:txBody>
                  <a:tcPr marL="82296" marR="82296" marT="18288" marB="18288" anchor="ctr">
                    <a:solidFill>
                      <a:srgbClr val="FFFFFF"/>
                    </a:solidFill>
                  </a:tcPr>
                </a:tc>
                <a:tc>
                  <a:txBody>
                    <a:bodyPr/>
                    <a:lstStyle/>
                    <a:p>
                      <a:pPr algn="r"/>
                      <a:r>
                        <a:rPr sz="1150" b="0">
                          <a:solidFill>
                            <a:srgbClr val="0D1B2A"/>
                          </a:solidFill>
                          <a:latin typeface="Calibri"/>
                        </a:rPr>
                        <a:t>99.2%</a:t>
                      </a:r>
                    </a:p>
                  </a:txBody>
                  <a:tcPr marL="82296" marR="82296" marT="18288" marB="18288" anchor="ctr">
                    <a:solidFill>
                      <a:srgbClr val="FFFFFF"/>
                    </a:solidFill>
                  </a:tcPr>
                </a:tc>
                <a:tc>
                  <a:txBody>
                    <a:bodyPr/>
                    <a:lstStyle/>
                    <a:p>
                      <a:pPr algn="l"/>
                      <a:r>
                        <a:rPr sz="1150" b="0">
                          <a:solidFill>
                            <a:srgbClr val="0D1B2A"/>
                          </a:solidFill>
                          <a:latin typeface="Calibri"/>
                        </a:rPr>
                        <a:t>expected — ~40 categories</a:t>
                      </a:r>
                    </a:p>
                  </a:txBody>
                  <a:tcPr marL="82296" marR="82296" marT="18288" marB="18288" anchor="ctr">
                    <a:solidFill>
                      <a:srgbClr val="FFFFFF"/>
                    </a:solidFill>
                  </a:tcPr>
                </a:tc>
                <a:extLst>
                  <a:ext uri="{0D108BD9-81ED-4DB2-BD59-A6C34878D82A}">
                    <a16:rowId xmlns:a16="http://schemas.microsoft.com/office/drawing/2014/main" val="10001"/>
                  </a:ext>
                </a:extLst>
              </a:tr>
              <a:tr h="384048">
                <a:tc>
                  <a:txBody>
                    <a:bodyPr/>
                    <a:lstStyle/>
                    <a:p>
                      <a:pPr algn="l"/>
                      <a:r>
                        <a:rPr sz="1150" b="0">
                          <a:solidFill>
                            <a:srgbClr val="0D1B2A"/>
                          </a:solidFill>
                          <a:latin typeface="Courier New"/>
                        </a:rPr>
                        <a:t>transcription</a:t>
                      </a:r>
                    </a:p>
                  </a:txBody>
                  <a:tcPr marL="82296" marR="82296" marT="18288" marB="18288" anchor="ctr">
                    <a:solidFill>
                      <a:srgbClr val="F1F5F9"/>
                    </a:solidFill>
                  </a:tcPr>
                </a:tc>
                <a:tc>
                  <a:txBody>
                    <a:bodyPr/>
                    <a:lstStyle/>
                    <a:p>
                      <a:pPr algn="r"/>
                      <a:r>
                        <a:rPr sz="1150" b="0">
                          <a:solidFill>
                            <a:srgbClr val="0D1B2A"/>
                          </a:solidFill>
                          <a:latin typeface="Calibri"/>
                        </a:rPr>
                        <a:t>0.66%</a:t>
                      </a:r>
                    </a:p>
                  </a:txBody>
                  <a:tcPr marL="82296" marR="82296" marT="18288" marB="18288" anchor="ctr">
                    <a:solidFill>
                      <a:srgbClr val="F1F5F9"/>
                    </a:solidFill>
                  </a:tcPr>
                </a:tc>
                <a:tc>
                  <a:txBody>
                    <a:bodyPr/>
                    <a:lstStyle/>
                    <a:p>
                      <a:pPr algn="r"/>
                      <a:r>
                        <a:rPr sz="1150" b="0">
                          <a:solidFill>
                            <a:srgbClr val="0D1B2A"/>
                          </a:solidFill>
                          <a:latin typeface="Calibri"/>
                        </a:rPr>
                        <a:t>52.8%</a:t>
                      </a:r>
                    </a:p>
                  </a:txBody>
                  <a:tcPr marL="82296" marR="82296" marT="18288" marB="18288" anchor="ctr">
                    <a:solidFill>
                      <a:srgbClr val="F1F5F9"/>
                    </a:solidFill>
                  </a:tcPr>
                </a:tc>
                <a:tc>
                  <a:txBody>
                    <a:bodyPr/>
                    <a:lstStyle/>
                    <a:p>
                      <a:pPr algn="l"/>
                      <a:r>
                        <a:rPr sz="1150" b="0">
                          <a:solidFill>
                            <a:srgbClr val="0D1B2A"/>
                          </a:solidFill>
                          <a:latin typeface="Calibri"/>
                        </a:rPr>
                        <a:t>33 nulls; dup = cross-listing?</a:t>
                      </a:r>
                    </a:p>
                  </a:txBody>
                  <a:tcPr marL="82296" marR="82296" marT="18288" marB="18288" anchor="ctr">
                    <a:solidFill>
                      <a:srgbClr val="F1F5F9"/>
                    </a:solidFill>
                  </a:tcPr>
                </a:tc>
                <a:extLst>
                  <a:ext uri="{0D108BD9-81ED-4DB2-BD59-A6C34878D82A}">
                    <a16:rowId xmlns:a16="http://schemas.microsoft.com/office/drawing/2014/main" val="10002"/>
                  </a:ext>
                </a:extLst>
              </a:tr>
              <a:tr h="384048">
                <a:tc>
                  <a:txBody>
                    <a:bodyPr/>
                    <a:lstStyle/>
                    <a:p>
                      <a:pPr algn="l"/>
                      <a:r>
                        <a:rPr sz="1150" b="0">
                          <a:solidFill>
                            <a:srgbClr val="0D1B2A"/>
                          </a:solidFill>
                          <a:latin typeface="Courier New"/>
                        </a:rPr>
                        <a:t>description</a:t>
                      </a:r>
                    </a:p>
                  </a:txBody>
                  <a:tcPr marL="82296" marR="82296" marT="18288" marB="18288" anchor="ctr">
                    <a:solidFill>
                      <a:srgbClr val="FFFFFF"/>
                    </a:solidFill>
                  </a:tcPr>
                </a:tc>
                <a:tc>
                  <a:txBody>
                    <a:bodyPr/>
                    <a:lstStyle/>
                    <a:p>
                      <a:pPr algn="r"/>
                      <a:r>
                        <a:rPr sz="1150" b="0">
                          <a:solidFill>
                            <a:srgbClr val="0D1B2A"/>
                          </a:solidFill>
                          <a:latin typeface="Calibri"/>
                        </a:rPr>
                        <a:t>—</a:t>
                      </a:r>
                    </a:p>
                  </a:txBody>
                  <a:tcPr marL="82296" marR="82296" marT="18288" marB="18288" anchor="ctr">
                    <a:solidFill>
                      <a:srgbClr val="FFFFFF"/>
                    </a:solidFill>
                  </a:tcPr>
                </a:tc>
                <a:tc>
                  <a:txBody>
                    <a:bodyPr/>
                    <a:lstStyle/>
                    <a:p>
                      <a:pPr algn="r"/>
                      <a:r>
                        <a:rPr sz="1150" b="0">
                          <a:solidFill>
                            <a:srgbClr val="0D1B2A"/>
                          </a:solidFill>
                          <a:latin typeface="Calibri"/>
                        </a:rPr>
                        <a:t>53%</a:t>
                      </a:r>
                    </a:p>
                  </a:txBody>
                  <a:tcPr marL="82296" marR="82296" marT="18288" marB="18288" anchor="ctr">
                    <a:solidFill>
                      <a:srgbClr val="FFFFFF"/>
                    </a:solidFill>
                  </a:tcPr>
                </a:tc>
                <a:tc>
                  <a:txBody>
                    <a:bodyPr/>
                    <a:lstStyle/>
                    <a:p>
                      <a:pPr algn="l"/>
                      <a:r>
                        <a:rPr sz="1150" b="0">
                          <a:solidFill>
                            <a:srgbClr val="0D1B2A"/>
                          </a:solidFill>
                          <a:latin typeface="Calibri"/>
                        </a:rPr>
                        <a:t>short summaries repeat</a:t>
                      </a:r>
                    </a:p>
                  </a:txBody>
                  <a:tcPr marL="82296" marR="82296" marT="18288" marB="18288" anchor="ctr">
                    <a:solidFill>
                      <a:srgbClr val="FFFFFF"/>
                    </a:solidFill>
                  </a:tcPr>
                </a:tc>
                <a:extLst>
                  <a:ext uri="{0D108BD9-81ED-4DB2-BD59-A6C34878D82A}">
                    <a16:rowId xmlns:a16="http://schemas.microsoft.com/office/drawing/2014/main" val="10003"/>
                  </a:ext>
                </a:extLst>
              </a:tr>
              <a:tr h="384048">
                <a:tc>
                  <a:txBody>
                    <a:bodyPr/>
                    <a:lstStyle/>
                    <a:p>
                      <a:pPr algn="l"/>
                      <a:r>
                        <a:rPr sz="1150" b="0">
                          <a:solidFill>
                            <a:srgbClr val="0D1B2A"/>
                          </a:solidFill>
                          <a:latin typeface="Courier New"/>
                        </a:rPr>
                        <a:t>keywords</a:t>
                      </a:r>
                    </a:p>
                  </a:txBody>
                  <a:tcPr marL="82296" marR="82296" marT="18288" marB="18288" anchor="ctr">
                    <a:solidFill>
                      <a:srgbClr val="F1F5F9"/>
                    </a:solidFill>
                  </a:tcPr>
                </a:tc>
                <a:tc>
                  <a:txBody>
                    <a:bodyPr/>
                    <a:lstStyle/>
                    <a:p>
                      <a:pPr algn="r"/>
                      <a:r>
                        <a:rPr sz="1150" b="0">
                          <a:solidFill>
                            <a:srgbClr val="0D1B2A"/>
                          </a:solidFill>
                          <a:latin typeface="Calibri"/>
                        </a:rPr>
                        <a:t>21.36%</a:t>
                      </a:r>
                    </a:p>
                  </a:txBody>
                  <a:tcPr marL="82296" marR="82296" marT="18288" marB="18288" anchor="ctr">
                    <a:solidFill>
                      <a:srgbClr val="F1F5F9"/>
                    </a:solidFill>
                  </a:tcPr>
                </a:tc>
                <a:tc>
                  <a:txBody>
                    <a:bodyPr/>
                    <a:lstStyle/>
                    <a:p>
                      <a:pPr algn="r"/>
                      <a:r>
                        <a:rPr sz="1150" b="0">
                          <a:solidFill>
                            <a:srgbClr val="0D1B2A"/>
                          </a:solidFill>
                          <a:latin typeface="Calibri"/>
                        </a:rPr>
                        <a:t>—</a:t>
                      </a:r>
                    </a:p>
                  </a:txBody>
                  <a:tcPr marL="82296" marR="82296" marT="18288" marB="18288" anchor="ctr">
                    <a:solidFill>
                      <a:srgbClr val="F1F5F9"/>
                    </a:solidFill>
                  </a:tcPr>
                </a:tc>
                <a:tc>
                  <a:txBody>
                    <a:bodyPr/>
                    <a:lstStyle/>
                    <a:p>
                      <a:pPr algn="l"/>
                      <a:r>
                        <a:rPr sz="1150" b="0">
                          <a:solidFill>
                            <a:srgbClr val="0D1B2A"/>
                          </a:solidFill>
                          <a:latin typeface="Calibri"/>
                        </a:rPr>
                        <a:t>not used for classification</a:t>
                      </a:r>
                    </a:p>
                  </a:txBody>
                  <a:tcPr marL="82296" marR="82296" marT="18288" marB="18288" anchor="ctr">
                    <a:solidFill>
                      <a:srgbClr val="F1F5F9"/>
                    </a:solidFill>
                  </a:tcPr>
                </a:tc>
                <a:extLst>
                  <a:ext uri="{0D108BD9-81ED-4DB2-BD59-A6C34878D82A}">
                    <a16:rowId xmlns:a16="http://schemas.microsoft.com/office/drawing/2014/main" val="10004"/>
                  </a:ext>
                </a:extLst>
              </a:tr>
            </a:tbl>
          </a:graphicData>
        </a:graphic>
      </p:graphicFrame>
      <p:sp>
        <p:nvSpPr>
          <p:cNvPr id="7" name="Rounded Rectangle 6"/>
          <p:cNvSpPr>
            <a:spLocks/>
          </p:cNvSpPr>
          <p:nvPr/>
        </p:nvSpPr>
        <p:spPr>
          <a:xfrm>
            <a:off x="7589520" y="2240280"/>
            <a:ext cx="4053535" cy="1554480"/>
          </a:xfrm>
          <a:prstGeom prst="roundRect">
            <a:avLst>
              <a:gd name="adj" fmla="val 6000"/>
            </a:avLst>
          </a:prstGeom>
          <a:solidFill>
            <a:srgbClr val="FFFBEB"/>
          </a:solidFill>
          <a:ln w="12700">
            <a:solidFill>
              <a:srgbClr val="FDE68A"/>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p:cNvSpPr txBox="1">
            <a:spLocks/>
          </p:cNvSpPr>
          <p:nvPr/>
        </p:nvSpPr>
        <p:spPr>
          <a:xfrm>
            <a:off x="7845552" y="2556848"/>
            <a:ext cx="3541471" cy="921342"/>
          </a:xfrm>
          <a:prstGeom prst="rect">
            <a:avLst/>
          </a:prstGeom>
          <a:noFill/>
        </p:spPr>
        <p:txBody>
          <a:bodyPr wrap="square" lIns="0" tIns="0" rIns="0" bIns="0" anchor="ctr">
            <a:spAutoFit/>
          </a:bodyPr>
          <a:lstStyle/>
          <a:p>
            <a:pPr algn="l">
              <a:lnSpc>
                <a:spcPct val="106000"/>
              </a:lnSpc>
              <a:spcAft>
                <a:spcPts val="600"/>
              </a:spcAft>
            </a:pPr>
            <a:r>
              <a:rPr lang="en-US" sz="1350" b="1" i="0">
                <a:solidFill>
                  <a:srgbClr val="B45309"/>
                </a:solidFill>
                <a:latin typeface="Calibri"/>
              </a:rPr>
              <a:t>⚠  Key insight</a:t>
            </a:r>
          </a:p>
          <a:p>
            <a:pPr algn="l">
              <a:lnSpc>
                <a:spcPct val="110000"/>
              </a:lnSpc>
              <a:spcAft>
                <a:spcPts val="400"/>
              </a:spcAft>
            </a:pPr>
            <a:r>
              <a:rPr lang="en-US" sz="1250" b="0" i="0">
                <a:solidFill>
                  <a:srgbClr val="0D1B2A"/>
                </a:solidFill>
                <a:latin typeface="Calibri"/>
              </a:rPr>
              <a:t>High transcription duplication (52.8%) is a red flag: the same clinical note appears under several specialty labels — i.e. cross-listing.</a:t>
            </a:r>
          </a:p>
        </p:txBody>
      </p:sp>
      <p:sp>
        <p:nvSpPr>
          <p:cNvPr id="9" name="Rounded Rectangle 8"/>
          <p:cNvSpPr/>
          <p:nvPr/>
        </p:nvSpPr>
        <p:spPr>
          <a:xfrm>
            <a:off x="7589520" y="3977639"/>
            <a:ext cx="4053535" cy="1371600"/>
          </a:xfrm>
          <a:prstGeom prst="roundRect">
            <a:avLst>
              <a:gd name="adj" fmla="val 6000"/>
            </a:avLst>
          </a:prstGeom>
          <a:solidFill>
            <a:srgbClr val="E0F7F6"/>
          </a:solidFill>
          <a:ln w="12700">
            <a:solidFill>
              <a:srgbClr val="E0F7F6"/>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p:cNvSpPr txBox="1"/>
          <p:nvPr/>
        </p:nvSpPr>
        <p:spPr>
          <a:xfrm>
            <a:off x="7845552" y="4160520"/>
            <a:ext cx="3541471" cy="1005840"/>
          </a:xfrm>
          <a:prstGeom prst="rect">
            <a:avLst/>
          </a:prstGeom>
          <a:noFill/>
        </p:spPr>
        <p:txBody>
          <a:bodyPr wrap="square" lIns="0" tIns="0" rIns="0" bIns="0" anchor="ctr">
            <a:spAutoFit/>
          </a:bodyPr>
          <a:lstStyle/>
          <a:p>
            <a:pPr algn="l">
              <a:lnSpc>
                <a:spcPct val="106000"/>
              </a:lnSpc>
              <a:spcAft>
                <a:spcPts val="600"/>
              </a:spcAft>
            </a:pPr>
            <a:r>
              <a:rPr sz="1350" b="1" i="0">
                <a:solidFill>
                  <a:srgbClr val="0E7C7B"/>
                </a:solidFill>
                <a:latin typeface="Calibri"/>
              </a:rPr>
              <a:t>What this drives</a:t>
            </a:r>
          </a:p>
          <a:p>
            <a:pPr algn="l">
              <a:lnSpc>
                <a:spcPct val="106000"/>
              </a:lnSpc>
              <a:spcAft>
                <a:spcPts val="300"/>
              </a:spcAft>
            </a:pPr>
            <a:r>
              <a:rPr sz="1200" b="0" i="0">
                <a:solidFill>
                  <a:srgbClr val="0D1B2A"/>
                </a:solidFill>
                <a:latin typeface="Calibri"/>
              </a:rPr>
              <a:t>•  Drop the 33 null transcriptions</a:t>
            </a:r>
          </a:p>
          <a:p>
            <a:pPr algn="l">
              <a:lnSpc>
                <a:spcPct val="106000"/>
              </a:lnSpc>
              <a:spcAft>
                <a:spcPts val="0"/>
              </a:spcAft>
            </a:pPr>
            <a:r>
              <a:rPr sz="1200" b="0" i="0">
                <a:solidFill>
                  <a:srgbClr val="0D1B2A"/>
                </a:solidFill>
                <a:latin typeface="Calibri"/>
              </a:rPr>
              <a:t>•  Investigate duplicate text before trusting labels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548640" y="389400"/>
            <a:ext cx="1892807" cy="153888"/>
          </a:xfrm>
          <a:prstGeom prst="rect">
            <a:avLst/>
          </a:prstGeom>
          <a:noFill/>
        </p:spPr>
        <p:txBody>
          <a:bodyPr wrap="square" lIns="0" tIns="0" rIns="0" bIns="0" anchor="ctr">
            <a:spAutoFit/>
          </a:bodyPr>
          <a:lstStyle/>
          <a:p>
            <a:pPr algn="ctr">
              <a:spcAft>
                <a:spcPts val="0"/>
              </a:spcAft>
            </a:pPr>
            <a:r>
              <a:rPr lang="en-US" sz="1000" b="1" i="0">
                <a:solidFill>
                  <a:srgbClr val="FFFFFF"/>
                </a:solidFill>
                <a:latin typeface="Calibri"/>
              </a:rPr>
              <a:t>PHASE 1</a:t>
            </a:r>
          </a:p>
        </p:txBody>
      </p:sp>
      <p:sp>
        <p:nvSpPr>
          <p:cNvPr id="4" name="TextBox 3"/>
          <p:cNvSpPr txBox="1"/>
          <p:nvPr/>
        </p:nvSpPr>
        <p:spPr>
          <a:xfrm>
            <a:off x="548640" y="826302"/>
            <a:ext cx="11094415" cy="569387"/>
          </a:xfrm>
          <a:prstGeom prst="rect">
            <a:avLst/>
          </a:prstGeom>
          <a:noFill/>
        </p:spPr>
        <p:txBody>
          <a:bodyPr wrap="square" lIns="0" tIns="0" rIns="0" bIns="0" anchor="ctr">
            <a:spAutoFit/>
          </a:bodyPr>
          <a:lstStyle/>
          <a:p>
            <a:pPr algn="l">
              <a:spcAft>
                <a:spcPts val="0"/>
              </a:spcAft>
            </a:pPr>
            <a:r>
              <a:rPr lang="en-US" sz="3700" b="1" i="0">
                <a:solidFill>
                  <a:srgbClr val="0D1B2A"/>
                </a:solidFill>
                <a:latin typeface="Cambria"/>
              </a:rPr>
              <a:t>How Short Is Too Short?</a:t>
            </a:r>
          </a:p>
        </p:txBody>
      </p:sp>
      <p:sp>
        <p:nvSpPr>
          <p:cNvPr id="5" name="TextBox 4"/>
          <p:cNvSpPr txBox="1">
            <a:spLocks/>
          </p:cNvSpPr>
          <p:nvPr/>
        </p:nvSpPr>
        <p:spPr>
          <a:xfrm>
            <a:off x="548640" y="1708087"/>
            <a:ext cx="11094415" cy="223138"/>
          </a:xfrm>
          <a:prstGeom prst="rect">
            <a:avLst/>
          </a:prstGeom>
          <a:noFill/>
        </p:spPr>
        <p:txBody>
          <a:bodyPr wrap="square" lIns="0" tIns="0" rIns="0" bIns="0" anchor="ctr">
            <a:spAutoFit/>
          </a:bodyPr>
          <a:lstStyle/>
          <a:p>
            <a:pPr algn="l">
              <a:spcAft>
                <a:spcPts val="0"/>
              </a:spcAft>
            </a:pPr>
            <a:r>
              <a:rPr lang="en-US" sz="1450" b="0" i="0">
                <a:solidFill>
                  <a:srgbClr val="64748B"/>
                </a:solidFill>
                <a:latin typeface="Calibri"/>
              </a:rPr>
              <a:t>Setting a character-length threshold without throwing away usable notes.</a:t>
            </a:r>
          </a:p>
        </p:txBody>
      </p:sp>
      <p:pic>
        <p:nvPicPr>
          <p:cNvPr id="6" name="Picture 5" descr="threshold_bar.png"/>
          <p:cNvPicPr>
            <a:picLocks noChangeAspect="1"/>
          </p:cNvPicPr>
          <p:nvPr/>
        </p:nvPicPr>
        <p:blipFill>
          <a:blip r:embed="rId3"/>
          <a:stretch>
            <a:fillRect/>
          </a:stretch>
        </p:blipFill>
        <p:spPr>
          <a:xfrm>
            <a:off x="548640" y="2194560"/>
            <a:ext cx="6035040" cy="3426345"/>
          </a:xfrm>
          <a:prstGeom prst="rect">
            <a:avLst/>
          </a:prstGeom>
        </p:spPr>
      </p:pic>
      <p:sp>
        <p:nvSpPr>
          <p:cNvPr id="7" name="TextBox 6"/>
          <p:cNvSpPr txBox="1">
            <a:spLocks/>
          </p:cNvSpPr>
          <p:nvPr/>
        </p:nvSpPr>
        <p:spPr>
          <a:xfrm>
            <a:off x="6858000" y="2194560"/>
            <a:ext cx="4785055" cy="472565"/>
          </a:xfrm>
          <a:prstGeom prst="rect">
            <a:avLst/>
          </a:prstGeom>
          <a:noFill/>
        </p:spPr>
        <p:txBody>
          <a:bodyPr wrap="square" lIns="0" tIns="0" rIns="0" bIns="0" anchor="t">
            <a:spAutoFit/>
          </a:bodyPr>
          <a:lstStyle/>
          <a:p>
            <a:pPr algn="l">
              <a:spcAft>
                <a:spcPts val="400"/>
              </a:spcAft>
            </a:pPr>
            <a:r>
              <a:rPr lang="en-US" sz="1450" b="1" i="0">
                <a:solidFill>
                  <a:srgbClr val="0D1B2A"/>
                </a:solidFill>
                <a:latin typeface="Calibri"/>
              </a:rPr>
              <a:t>The problem</a:t>
            </a:r>
          </a:p>
          <a:p>
            <a:pPr algn="l">
              <a:lnSpc>
                <a:spcPct val="108000"/>
              </a:lnSpc>
              <a:spcAft>
                <a:spcPts val="0"/>
              </a:spcAft>
            </a:pPr>
            <a:r>
              <a:rPr lang="en-US" sz="1250" b="0" i="0">
                <a:solidFill>
                  <a:srgbClr val="0D1B2A"/>
                </a:solidFill>
                <a:latin typeface="Calibri"/>
              </a:rPr>
              <a:t>Very short notes lack the context needed to identify a specialty.</a:t>
            </a:r>
          </a:p>
        </p:txBody>
      </p:sp>
      <p:sp>
        <p:nvSpPr>
          <p:cNvPr id="8" name="Rounded Rectangle 7"/>
          <p:cNvSpPr>
            <a:spLocks/>
          </p:cNvSpPr>
          <p:nvPr/>
        </p:nvSpPr>
        <p:spPr>
          <a:xfrm>
            <a:off x="6858000" y="3383280"/>
            <a:ext cx="4785055" cy="868680"/>
          </a:xfrm>
          <a:prstGeom prst="roundRect">
            <a:avLst>
              <a:gd name="adj" fmla="val 5000"/>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a:spLocks/>
          </p:cNvSpPr>
          <p:nvPr/>
        </p:nvSpPr>
        <p:spPr>
          <a:xfrm>
            <a:off x="7059168" y="3529584"/>
            <a:ext cx="4382719" cy="378052"/>
          </a:xfrm>
          <a:prstGeom prst="rect">
            <a:avLst/>
          </a:prstGeom>
          <a:noFill/>
        </p:spPr>
        <p:txBody>
          <a:bodyPr wrap="square" lIns="0" tIns="0" rIns="0" bIns="0" anchor="t">
            <a:spAutoFit/>
          </a:bodyPr>
          <a:lstStyle/>
          <a:p>
            <a:pPr algn="l">
              <a:lnSpc>
                <a:spcPct val="105000"/>
              </a:lnSpc>
              <a:spcAft>
                <a:spcPts val="100"/>
              </a:spcAft>
            </a:pPr>
            <a:r>
              <a:rPr lang="en-US" sz="1130" b="0" i="0">
                <a:solidFill>
                  <a:srgbClr val="7DD3FC"/>
                </a:solidFill>
                <a:latin typeface="Courier New"/>
              </a:rPr>
              <a:t>"2-D M-Mode. Doppler."</a:t>
            </a:r>
          </a:p>
          <a:p>
            <a:pPr algn="l">
              <a:lnSpc>
                <a:spcPct val="105000"/>
              </a:lnSpc>
              <a:spcAft>
                <a:spcPts val="100"/>
              </a:spcAft>
            </a:pPr>
            <a:r>
              <a:rPr lang="en-US" sz="1130" b="0" i="0">
                <a:solidFill>
                  <a:srgbClr val="6EE7B7"/>
                </a:solidFill>
                <a:latin typeface="Courier New"/>
              </a:rPr>
              <a:t># 18 chars — no clinical context</a:t>
            </a:r>
          </a:p>
        </p:txBody>
      </p:sp>
      <p:sp>
        <p:nvSpPr>
          <p:cNvPr id="10" name="Rounded Rectangle 9"/>
          <p:cNvSpPr>
            <a:spLocks/>
          </p:cNvSpPr>
          <p:nvPr/>
        </p:nvSpPr>
        <p:spPr>
          <a:xfrm>
            <a:off x="6858000" y="4434840"/>
            <a:ext cx="4785055" cy="1508760"/>
          </a:xfrm>
          <a:prstGeom prst="roundRect">
            <a:avLst>
              <a:gd name="adj" fmla="val 6000"/>
            </a:avLst>
          </a:prstGeom>
          <a:solidFill>
            <a:srgbClr val="E0F7F6"/>
          </a:solidFill>
          <a:ln w="12700">
            <a:solidFill>
              <a:srgbClr val="E0F7F6"/>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p:cNvSpPr txBox="1">
            <a:spLocks/>
          </p:cNvSpPr>
          <p:nvPr/>
        </p:nvSpPr>
        <p:spPr>
          <a:xfrm>
            <a:off x="7114032" y="4834347"/>
            <a:ext cx="4272991" cy="709746"/>
          </a:xfrm>
          <a:prstGeom prst="rect">
            <a:avLst/>
          </a:prstGeom>
          <a:noFill/>
        </p:spPr>
        <p:txBody>
          <a:bodyPr wrap="square" lIns="0" tIns="0" rIns="0" bIns="0" anchor="ctr">
            <a:spAutoFit/>
          </a:bodyPr>
          <a:lstStyle/>
          <a:p>
            <a:pPr algn="l">
              <a:lnSpc>
                <a:spcPct val="106000"/>
              </a:lnSpc>
              <a:spcAft>
                <a:spcPts val="600"/>
              </a:spcAft>
            </a:pPr>
            <a:r>
              <a:rPr lang="en-US" sz="1350" b="1" i="0">
                <a:solidFill>
                  <a:srgbClr val="0E7C7B"/>
                </a:solidFill>
                <a:latin typeface="Calibri"/>
              </a:rPr>
              <a:t>Decision: minimum 100 characters</a:t>
            </a:r>
          </a:p>
          <a:p>
            <a:pPr algn="l">
              <a:lnSpc>
                <a:spcPct val="110000"/>
              </a:lnSpc>
              <a:spcAft>
                <a:spcPts val="400"/>
              </a:spcAft>
            </a:pPr>
            <a:r>
              <a:rPr lang="en-US" sz="1250" b="0" i="0">
                <a:solidFill>
                  <a:srgbClr val="0D1B2A"/>
                </a:solidFill>
                <a:latin typeface="Calibri"/>
              </a:rPr>
              <a:t>Balances content quality against retention — drops only 45 notes (0.9% of the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892807" cy="329184"/>
          </a:xfrm>
          <a:prstGeom prst="rect">
            <a:avLst/>
          </a:prstGeom>
          <a:noFill/>
        </p:spPr>
        <p:txBody>
          <a:bodyPr wrap="square" lIns="0" tIns="0" rIns="0" bIns="0" anchor="ctr">
            <a:spAutoFit/>
          </a:bodyPr>
          <a:lstStyle/>
          <a:p>
            <a:pPr algn="ctr">
              <a:spcAft>
                <a:spcPts val="0"/>
              </a:spcAft>
            </a:pPr>
            <a:r>
              <a:rPr sz="1000" b="1" i="0">
                <a:solidFill>
                  <a:srgbClr val="FFFFFF"/>
                </a:solidFill>
                <a:latin typeface="Calibri"/>
              </a:rPr>
              <a:t>PHASE 1</a:t>
            </a:r>
          </a:p>
        </p:txBody>
      </p:sp>
      <p:sp>
        <p:nvSpPr>
          <p:cNvPr id="4" name="TextBox 3"/>
          <p:cNvSpPr txBox="1"/>
          <p:nvPr/>
        </p:nvSpPr>
        <p:spPr>
          <a:xfrm>
            <a:off x="548640" y="676656"/>
            <a:ext cx="11094415" cy="868680"/>
          </a:xfrm>
          <a:prstGeom prst="rect">
            <a:avLst/>
          </a:prstGeom>
          <a:noFill/>
        </p:spPr>
        <p:txBody>
          <a:bodyPr wrap="square" lIns="0" tIns="0" rIns="0" bIns="0" anchor="ctr">
            <a:spAutoFit/>
          </a:bodyPr>
          <a:lstStyle/>
          <a:p>
            <a:pPr algn="l">
              <a:spcAft>
                <a:spcPts val="0"/>
              </a:spcAft>
            </a:pPr>
            <a:r>
              <a:rPr sz="3100" b="1" i="0">
                <a:solidFill>
                  <a:srgbClr val="0D1B2A"/>
                </a:solidFill>
                <a:latin typeface="Cambria"/>
              </a:rPr>
              <a:t>Not All Specialties Are Created Equal</a:t>
            </a:r>
          </a:p>
        </p:txBody>
      </p:sp>
      <p:sp>
        <p:nvSpPr>
          <p:cNvPr id="5" name="TextBox 4"/>
          <p:cNvSpPr txBox="1"/>
          <p:nvPr/>
        </p:nvSpPr>
        <p:spPr>
          <a:xfrm>
            <a:off x="548640" y="1591056"/>
            <a:ext cx="11094415" cy="457200"/>
          </a:xfrm>
          <a:prstGeom prst="rect">
            <a:avLst/>
          </a:prstGeom>
          <a:noFill/>
        </p:spPr>
        <p:txBody>
          <a:bodyPr wrap="square" lIns="0" tIns="0" rIns="0" bIns="0" anchor="ctr">
            <a:spAutoFit/>
          </a:bodyPr>
          <a:lstStyle/>
          <a:p>
            <a:pPr algn="l">
              <a:spcAft>
                <a:spcPts val="0"/>
              </a:spcAft>
            </a:pPr>
            <a:r>
              <a:rPr sz="1450" b="0" i="0">
                <a:solidFill>
                  <a:srgbClr val="64748B"/>
                </a:solidFill>
                <a:latin typeface="Calibri"/>
              </a:rPr>
              <a:t>40 labels, extreme imbalance — and some aren't true specialties at all.</a:t>
            </a:r>
          </a:p>
        </p:txBody>
      </p:sp>
      <p:pic>
        <p:nvPicPr>
          <p:cNvPr id="6" name="Picture 5" descr="specialty_dist.png"/>
          <p:cNvPicPr>
            <a:picLocks noChangeAspect="1"/>
          </p:cNvPicPr>
          <p:nvPr/>
        </p:nvPicPr>
        <p:blipFill>
          <a:blip r:embed="rId3"/>
          <a:stretch>
            <a:fillRect/>
          </a:stretch>
        </p:blipFill>
        <p:spPr>
          <a:xfrm>
            <a:off x="548640" y="2103120"/>
            <a:ext cx="7040880" cy="3803648"/>
          </a:xfrm>
          <a:prstGeom prst="rect">
            <a:avLst/>
          </a:prstGeom>
        </p:spPr>
      </p:pic>
      <p:sp>
        <p:nvSpPr>
          <p:cNvPr id="7" name="TextBox 6"/>
          <p:cNvSpPr txBox="1"/>
          <p:nvPr/>
        </p:nvSpPr>
        <p:spPr>
          <a:xfrm>
            <a:off x="7818120" y="2194560"/>
            <a:ext cx="3824935" cy="1371600"/>
          </a:xfrm>
          <a:prstGeom prst="rect">
            <a:avLst/>
          </a:prstGeom>
          <a:noFill/>
        </p:spPr>
        <p:txBody>
          <a:bodyPr wrap="square" lIns="0" tIns="0" rIns="0" bIns="0" anchor="t">
            <a:spAutoFit/>
          </a:bodyPr>
          <a:lstStyle/>
          <a:p>
            <a:pPr algn="ctr">
              <a:spcAft>
                <a:spcPts val="200"/>
              </a:spcAft>
            </a:pPr>
            <a:r>
              <a:rPr sz="3000" b="1" i="0">
                <a:solidFill>
                  <a:srgbClr val="0E7C7B"/>
                </a:solidFill>
                <a:latin typeface="Cambria"/>
              </a:rPr>
              <a:t>1,088</a:t>
            </a:r>
          </a:p>
          <a:p>
            <a:pPr algn="ctr">
              <a:lnSpc>
                <a:spcPct val="105000"/>
              </a:lnSpc>
              <a:spcAft>
                <a:spcPts val="0"/>
              </a:spcAft>
            </a:pPr>
            <a:r>
              <a:rPr sz="1200" b="0" i="0">
                <a:solidFill>
                  <a:srgbClr val="64748B"/>
                </a:solidFill>
                <a:latin typeface="Calibri"/>
              </a:rPr>
              <a:t>Surgery — largest (21.8%)</a:t>
            </a:r>
          </a:p>
        </p:txBody>
      </p:sp>
      <p:sp>
        <p:nvSpPr>
          <p:cNvPr id="8" name="TextBox 7"/>
          <p:cNvSpPr txBox="1"/>
          <p:nvPr/>
        </p:nvSpPr>
        <p:spPr>
          <a:xfrm>
            <a:off x="7818120" y="3429000"/>
            <a:ext cx="3824935" cy="1371600"/>
          </a:xfrm>
          <a:prstGeom prst="rect">
            <a:avLst/>
          </a:prstGeom>
          <a:noFill/>
        </p:spPr>
        <p:txBody>
          <a:bodyPr wrap="square" lIns="0" tIns="0" rIns="0" bIns="0" anchor="t">
            <a:spAutoFit/>
          </a:bodyPr>
          <a:lstStyle/>
          <a:p>
            <a:pPr algn="ctr">
              <a:spcAft>
                <a:spcPts val="200"/>
              </a:spcAft>
            </a:pPr>
            <a:r>
              <a:rPr sz="3000" b="1" i="0">
                <a:solidFill>
                  <a:srgbClr val="B91C1C"/>
                </a:solidFill>
                <a:latin typeface="Cambria"/>
              </a:rPr>
              <a:t>6</a:t>
            </a:r>
          </a:p>
          <a:p>
            <a:pPr algn="ctr">
              <a:lnSpc>
                <a:spcPct val="105000"/>
              </a:lnSpc>
              <a:spcAft>
                <a:spcPts val="0"/>
              </a:spcAft>
            </a:pPr>
            <a:r>
              <a:rPr sz="1200" b="0" i="0">
                <a:solidFill>
                  <a:srgbClr val="64748B"/>
                </a:solidFill>
                <a:latin typeface="Calibri"/>
              </a:rPr>
              <a:t>Hospice — smallest (0.1%)</a:t>
            </a:r>
          </a:p>
        </p:txBody>
      </p:sp>
      <p:sp>
        <p:nvSpPr>
          <p:cNvPr id="9" name="Rounded Rectangle 8"/>
          <p:cNvSpPr/>
          <p:nvPr/>
        </p:nvSpPr>
        <p:spPr>
          <a:xfrm>
            <a:off x="7818120" y="4617720"/>
            <a:ext cx="3824935" cy="1554480"/>
          </a:xfrm>
          <a:prstGeom prst="roundRect">
            <a:avLst>
              <a:gd name="adj" fmla="val 6000"/>
            </a:avLst>
          </a:prstGeom>
          <a:solidFill>
            <a:srgbClr val="FFFBEB"/>
          </a:solidFill>
          <a:ln w="12700">
            <a:solidFill>
              <a:srgbClr val="FDE68A"/>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74152" y="4800600"/>
            <a:ext cx="3312871" cy="1188719"/>
          </a:xfrm>
          <a:prstGeom prst="rect">
            <a:avLst/>
          </a:prstGeom>
          <a:noFill/>
        </p:spPr>
        <p:txBody>
          <a:bodyPr wrap="square" lIns="0" tIns="0" rIns="0" bIns="0" anchor="ctr">
            <a:spAutoFit/>
          </a:bodyPr>
          <a:lstStyle/>
          <a:p>
            <a:pPr algn="l">
              <a:lnSpc>
                <a:spcPct val="106000"/>
              </a:lnSpc>
              <a:spcAft>
                <a:spcPts val="500"/>
              </a:spcAft>
            </a:pPr>
            <a:r>
              <a:rPr sz="1300" b="1" i="0">
                <a:solidFill>
                  <a:srgbClr val="B45309"/>
                </a:solidFill>
                <a:latin typeface="Calibri"/>
              </a:rPr>
              <a:t>Two problems surface</a:t>
            </a:r>
          </a:p>
          <a:p>
            <a:pPr algn="l">
              <a:lnSpc>
                <a:spcPct val="110000"/>
              </a:lnSpc>
              <a:spcAft>
                <a:spcPts val="400"/>
              </a:spcAft>
            </a:pPr>
            <a:r>
              <a:rPr sz="1200" b="0" i="0">
                <a:solidFill>
                  <a:srgbClr val="0D1B2A"/>
                </a:solidFill>
                <a:latin typeface="Calibri"/>
              </a:rPr>
              <a:t>11 specialties have &lt;20 notes; 5 have &lt;10. And is “Surgery” even a specialty, or a procedure type?</a:t>
            </a:r>
          </a:p>
        </p:txBody>
      </p:sp>
    </p:spTree>
    <p:extLst>
      <p:ext uri="{BB962C8B-B14F-4D97-AF65-F5344CB8AC3E}">
        <p14:creationId xmlns:p14="http://schemas.microsoft.com/office/powerpoint/2010/main" val="127580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892807" cy="329184"/>
          </a:xfrm>
          <a:prstGeom prst="rect">
            <a:avLst/>
          </a:prstGeom>
          <a:noFill/>
        </p:spPr>
        <p:txBody>
          <a:bodyPr wrap="square" lIns="0" tIns="0" rIns="0" bIns="0" anchor="ctr">
            <a:spAutoFit/>
          </a:bodyPr>
          <a:lstStyle/>
          <a:p>
            <a:pPr algn="ctr">
              <a:spcAft>
                <a:spcPts val="0"/>
              </a:spcAft>
            </a:pPr>
            <a:r>
              <a:rPr sz="1000" b="1" i="0">
                <a:solidFill>
                  <a:srgbClr val="FFFFFF"/>
                </a:solidFill>
                <a:latin typeface="Calibri"/>
              </a:rPr>
              <a:t>PHASE 1</a:t>
            </a:r>
          </a:p>
        </p:txBody>
      </p:sp>
      <p:sp>
        <p:nvSpPr>
          <p:cNvPr id="4" name="TextBox 3"/>
          <p:cNvSpPr txBox="1"/>
          <p:nvPr/>
        </p:nvSpPr>
        <p:spPr>
          <a:xfrm>
            <a:off x="548640" y="676656"/>
            <a:ext cx="11094415" cy="868680"/>
          </a:xfrm>
          <a:prstGeom prst="rect">
            <a:avLst/>
          </a:prstGeom>
          <a:noFill/>
        </p:spPr>
        <p:txBody>
          <a:bodyPr wrap="square" lIns="0" tIns="0" rIns="0" bIns="0" anchor="ctr">
            <a:spAutoFit/>
          </a:bodyPr>
          <a:lstStyle/>
          <a:p>
            <a:pPr algn="l">
              <a:spcAft>
                <a:spcPts val="0"/>
              </a:spcAft>
            </a:pPr>
            <a:r>
              <a:rPr sz="3100" b="1" i="0">
                <a:solidFill>
                  <a:srgbClr val="0D1B2A"/>
                </a:solidFill>
                <a:latin typeface="Cambria"/>
              </a:rPr>
              <a:t>Document Formats Masquerading as Specialties</a:t>
            </a:r>
          </a:p>
        </p:txBody>
      </p:sp>
      <p:sp>
        <p:nvSpPr>
          <p:cNvPr id="5" name="TextBox 4"/>
          <p:cNvSpPr txBox="1"/>
          <p:nvPr/>
        </p:nvSpPr>
        <p:spPr>
          <a:xfrm>
            <a:off x="548640" y="1591056"/>
            <a:ext cx="11094415" cy="457200"/>
          </a:xfrm>
          <a:prstGeom prst="rect">
            <a:avLst/>
          </a:prstGeom>
          <a:noFill/>
        </p:spPr>
        <p:txBody>
          <a:bodyPr wrap="square" lIns="0" tIns="0" rIns="0" bIns="0" anchor="ctr">
            <a:spAutoFit/>
          </a:bodyPr>
          <a:lstStyle/>
          <a:p>
            <a:pPr algn="l">
              <a:spcAft>
                <a:spcPts val="0"/>
              </a:spcAft>
            </a:pPr>
            <a:r>
              <a:rPr sz="1450" b="0" i="0">
                <a:solidFill>
                  <a:srgbClr val="64748B"/>
                </a:solidFill>
                <a:latin typeface="Calibri"/>
              </a:rPr>
              <a:t>Some labels describe the type of document, not a medical field.</a:t>
            </a:r>
          </a:p>
        </p:txBody>
      </p:sp>
      <p:graphicFrame>
        <p:nvGraphicFramePr>
          <p:cNvPr id="6" name="Table 5"/>
          <p:cNvGraphicFramePr>
            <a:graphicFrameLocks noGrp="1"/>
          </p:cNvGraphicFramePr>
          <p:nvPr/>
        </p:nvGraphicFramePr>
        <p:xfrm>
          <a:off x="548640" y="2240280"/>
          <a:ext cx="6400800" cy="2926080"/>
        </p:xfrm>
        <a:graphic>
          <a:graphicData uri="http://schemas.openxmlformats.org/drawingml/2006/table">
            <a:tbl>
              <a:tblPr firstRow="1"/>
              <a:tblGrid>
                <a:gridCol w="48463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365760">
                <a:tc>
                  <a:txBody>
                    <a:bodyPr/>
                    <a:lstStyle/>
                    <a:p>
                      <a:pPr algn="l"/>
                      <a:r>
                        <a:rPr sz="1200" b="1">
                          <a:solidFill>
                            <a:srgbClr val="FFFFFF"/>
                          </a:solidFill>
                          <a:latin typeface="Calibri"/>
                        </a:rPr>
                        <a:t>non-specialty label</a:t>
                      </a:r>
                    </a:p>
                  </a:txBody>
                  <a:tcPr marL="82296" marR="82296" marT="18288" marB="18288" anchor="ctr">
                    <a:solidFill>
                      <a:srgbClr val="0D1B2A"/>
                    </a:solidFill>
                  </a:tcPr>
                </a:tc>
                <a:tc>
                  <a:txBody>
                    <a:bodyPr/>
                    <a:lstStyle/>
                    <a:p>
                      <a:pPr algn="r"/>
                      <a:r>
                        <a:rPr sz="1200" b="1">
                          <a:solidFill>
                            <a:srgbClr val="FFFFFF"/>
                          </a:solidFill>
                          <a:latin typeface="Calibri"/>
                        </a:rPr>
                        <a:t>notes</a:t>
                      </a:r>
                    </a:p>
                  </a:txBody>
                  <a:tcPr marL="82296" marR="82296" marT="18288" marB="18288" anchor="ctr">
                    <a:solidFill>
                      <a:srgbClr val="0D1B2A"/>
                    </a:solidFill>
                  </a:tcPr>
                </a:tc>
                <a:extLst>
                  <a:ext uri="{0D108BD9-81ED-4DB2-BD59-A6C34878D82A}">
                    <a16:rowId xmlns:a16="http://schemas.microsoft.com/office/drawing/2014/main" val="10000"/>
                  </a:ext>
                </a:extLst>
              </a:tr>
              <a:tr h="365760">
                <a:tc>
                  <a:txBody>
                    <a:bodyPr/>
                    <a:lstStyle/>
                    <a:p>
                      <a:pPr algn="l"/>
                      <a:r>
                        <a:rPr sz="1200" b="0">
                          <a:solidFill>
                            <a:srgbClr val="0D1B2A"/>
                          </a:solidFill>
                          <a:latin typeface="Calibri"/>
                        </a:rPr>
                        <a:t>Consult - History and Phy.</a:t>
                      </a:r>
                    </a:p>
                  </a:txBody>
                  <a:tcPr marL="82296" marR="82296" marT="18288" marB="18288" anchor="ctr">
                    <a:solidFill>
                      <a:srgbClr val="FFFFFF"/>
                    </a:solidFill>
                  </a:tcPr>
                </a:tc>
                <a:tc>
                  <a:txBody>
                    <a:bodyPr/>
                    <a:lstStyle/>
                    <a:p>
                      <a:pPr algn="r"/>
                      <a:r>
                        <a:rPr sz="1200" b="0">
                          <a:solidFill>
                            <a:srgbClr val="0D1B2A"/>
                          </a:solidFill>
                          <a:latin typeface="Calibri"/>
                        </a:rPr>
                        <a:t>516</a:t>
                      </a:r>
                    </a:p>
                  </a:txBody>
                  <a:tcPr marL="82296" marR="82296" marT="18288" marB="18288" anchor="ctr">
                    <a:solidFill>
                      <a:srgbClr val="FFFFFF"/>
                    </a:solidFill>
                  </a:tcPr>
                </a:tc>
                <a:extLst>
                  <a:ext uri="{0D108BD9-81ED-4DB2-BD59-A6C34878D82A}">
                    <a16:rowId xmlns:a16="http://schemas.microsoft.com/office/drawing/2014/main" val="10001"/>
                  </a:ext>
                </a:extLst>
              </a:tr>
              <a:tr h="365760">
                <a:tc>
                  <a:txBody>
                    <a:bodyPr/>
                    <a:lstStyle/>
                    <a:p>
                      <a:pPr algn="l"/>
                      <a:r>
                        <a:rPr sz="1200" b="0">
                          <a:solidFill>
                            <a:srgbClr val="0D1B2A"/>
                          </a:solidFill>
                          <a:latin typeface="Calibri"/>
                        </a:rPr>
                        <a:t>SOAP / Chart / Progress Notes</a:t>
                      </a:r>
                    </a:p>
                  </a:txBody>
                  <a:tcPr marL="82296" marR="82296" marT="18288" marB="18288" anchor="ctr">
                    <a:solidFill>
                      <a:srgbClr val="F1F5F9"/>
                    </a:solidFill>
                  </a:tcPr>
                </a:tc>
                <a:tc>
                  <a:txBody>
                    <a:bodyPr/>
                    <a:lstStyle/>
                    <a:p>
                      <a:pPr algn="r"/>
                      <a:r>
                        <a:rPr sz="1200" b="0">
                          <a:solidFill>
                            <a:srgbClr val="0D1B2A"/>
                          </a:solidFill>
                          <a:latin typeface="Calibri"/>
                        </a:rPr>
                        <a:t>166</a:t>
                      </a:r>
                    </a:p>
                  </a:txBody>
                  <a:tcPr marL="82296" marR="82296" marT="18288" marB="18288" anchor="ctr">
                    <a:solidFill>
                      <a:srgbClr val="F1F5F9"/>
                    </a:solidFill>
                  </a:tcPr>
                </a:tc>
                <a:extLst>
                  <a:ext uri="{0D108BD9-81ED-4DB2-BD59-A6C34878D82A}">
                    <a16:rowId xmlns:a16="http://schemas.microsoft.com/office/drawing/2014/main" val="10002"/>
                  </a:ext>
                </a:extLst>
              </a:tr>
              <a:tr h="365760">
                <a:tc>
                  <a:txBody>
                    <a:bodyPr/>
                    <a:lstStyle/>
                    <a:p>
                      <a:pPr algn="l"/>
                      <a:r>
                        <a:rPr sz="1200" b="0">
                          <a:solidFill>
                            <a:srgbClr val="0D1B2A"/>
                          </a:solidFill>
                          <a:latin typeface="Calibri"/>
                        </a:rPr>
                        <a:t>Discharge Summary</a:t>
                      </a:r>
                    </a:p>
                  </a:txBody>
                  <a:tcPr marL="82296" marR="82296" marT="18288" marB="18288" anchor="ctr">
                    <a:solidFill>
                      <a:srgbClr val="FFFFFF"/>
                    </a:solidFill>
                  </a:tcPr>
                </a:tc>
                <a:tc>
                  <a:txBody>
                    <a:bodyPr/>
                    <a:lstStyle/>
                    <a:p>
                      <a:pPr algn="r"/>
                      <a:r>
                        <a:rPr sz="1200" b="0">
                          <a:solidFill>
                            <a:srgbClr val="0D1B2A"/>
                          </a:solidFill>
                          <a:latin typeface="Calibri"/>
                        </a:rPr>
                        <a:t>108</a:t>
                      </a:r>
                    </a:p>
                  </a:txBody>
                  <a:tcPr marL="82296" marR="82296" marT="18288" marB="18288" anchor="ctr">
                    <a:solidFill>
                      <a:srgbClr val="FFFFFF"/>
                    </a:solidFill>
                  </a:tcPr>
                </a:tc>
                <a:extLst>
                  <a:ext uri="{0D108BD9-81ED-4DB2-BD59-A6C34878D82A}">
                    <a16:rowId xmlns:a16="http://schemas.microsoft.com/office/drawing/2014/main" val="10003"/>
                  </a:ext>
                </a:extLst>
              </a:tr>
              <a:tr h="365760">
                <a:tc>
                  <a:txBody>
                    <a:bodyPr/>
                    <a:lstStyle/>
                    <a:p>
                      <a:pPr algn="l"/>
                      <a:r>
                        <a:rPr sz="1200" b="0">
                          <a:solidFill>
                            <a:srgbClr val="0D1B2A"/>
                          </a:solidFill>
                          <a:latin typeface="Calibri"/>
                        </a:rPr>
                        <a:t>Emergency Room Reports</a:t>
                      </a:r>
                    </a:p>
                  </a:txBody>
                  <a:tcPr marL="82296" marR="82296" marT="18288" marB="18288" anchor="ctr">
                    <a:solidFill>
                      <a:srgbClr val="F1F5F9"/>
                    </a:solidFill>
                  </a:tcPr>
                </a:tc>
                <a:tc>
                  <a:txBody>
                    <a:bodyPr/>
                    <a:lstStyle/>
                    <a:p>
                      <a:pPr algn="r"/>
                      <a:r>
                        <a:rPr sz="1200" b="0">
                          <a:solidFill>
                            <a:srgbClr val="0D1B2A"/>
                          </a:solidFill>
                          <a:latin typeface="Calibri"/>
                        </a:rPr>
                        <a:t>75</a:t>
                      </a:r>
                    </a:p>
                  </a:txBody>
                  <a:tcPr marL="82296" marR="82296" marT="18288" marB="18288" anchor="ctr">
                    <a:solidFill>
                      <a:srgbClr val="F1F5F9"/>
                    </a:solidFill>
                  </a:tcPr>
                </a:tc>
                <a:extLst>
                  <a:ext uri="{0D108BD9-81ED-4DB2-BD59-A6C34878D82A}">
                    <a16:rowId xmlns:a16="http://schemas.microsoft.com/office/drawing/2014/main" val="10004"/>
                  </a:ext>
                </a:extLst>
              </a:tr>
              <a:tr h="365760">
                <a:tc>
                  <a:txBody>
                    <a:bodyPr/>
                    <a:lstStyle/>
                    <a:p>
                      <a:pPr algn="l"/>
                      <a:r>
                        <a:rPr sz="1200" b="0">
                          <a:solidFill>
                            <a:srgbClr val="0D1B2A"/>
                          </a:solidFill>
                          <a:latin typeface="Calibri"/>
                        </a:rPr>
                        <a:t>Office Notes</a:t>
                      </a:r>
                    </a:p>
                  </a:txBody>
                  <a:tcPr marL="82296" marR="82296" marT="18288" marB="18288" anchor="ctr">
                    <a:solidFill>
                      <a:srgbClr val="FFFFFF"/>
                    </a:solidFill>
                  </a:tcPr>
                </a:tc>
                <a:tc>
                  <a:txBody>
                    <a:bodyPr/>
                    <a:lstStyle/>
                    <a:p>
                      <a:pPr algn="r"/>
                      <a:r>
                        <a:rPr sz="1200" b="0">
                          <a:solidFill>
                            <a:srgbClr val="0D1B2A"/>
                          </a:solidFill>
                          <a:latin typeface="Calibri"/>
                        </a:rPr>
                        <a:t>50</a:t>
                      </a:r>
                    </a:p>
                  </a:txBody>
                  <a:tcPr marL="82296" marR="82296" marT="18288" marB="18288" anchor="ctr">
                    <a:solidFill>
                      <a:srgbClr val="FFFFFF"/>
                    </a:solidFill>
                  </a:tcPr>
                </a:tc>
                <a:extLst>
                  <a:ext uri="{0D108BD9-81ED-4DB2-BD59-A6C34878D82A}">
                    <a16:rowId xmlns:a16="http://schemas.microsoft.com/office/drawing/2014/main" val="10005"/>
                  </a:ext>
                </a:extLst>
              </a:tr>
              <a:tr h="365760">
                <a:tc>
                  <a:txBody>
                    <a:bodyPr/>
                    <a:lstStyle/>
                    <a:p>
                      <a:pPr algn="l"/>
                      <a:r>
                        <a:rPr sz="1200" b="0">
                          <a:solidFill>
                            <a:srgbClr val="0D1B2A"/>
                          </a:solidFill>
                          <a:latin typeface="Calibri"/>
                        </a:rPr>
                        <a:t>Letters</a:t>
                      </a:r>
                    </a:p>
                  </a:txBody>
                  <a:tcPr marL="82296" marR="82296" marT="18288" marB="18288" anchor="ctr">
                    <a:solidFill>
                      <a:srgbClr val="F1F5F9"/>
                    </a:solidFill>
                  </a:tcPr>
                </a:tc>
                <a:tc>
                  <a:txBody>
                    <a:bodyPr/>
                    <a:lstStyle/>
                    <a:p>
                      <a:pPr algn="r"/>
                      <a:r>
                        <a:rPr sz="1200" b="0">
                          <a:solidFill>
                            <a:srgbClr val="0D1B2A"/>
                          </a:solidFill>
                          <a:latin typeface="Calibri"/>
                        </a:rPr>
                        <a:t>23</a:t>
                      </a:r>
                    </a:p>
                  </a:txBody>
                  <a:tcPr marL="82296" marR="82296" marT="18288" marB="18288" anchor="ctr">
                    <a:solidFill>
                      <a:srgbClr val="F1F5F9"/>
                    </a:solidFill>
                  </a:tcPr>
                </a:tc>
                <a:extLst>
                  <a:ext uri="{0D108BD9-81ED-4DB2-BD59-A6C34878D82A}">
                    <a16:rowId xmlns:a16="http://schemas.microsoft.com/office/drawing/2014/main" val="10006"/>
                  </a:ext>
                </a:extLst>
              </a:tr>
              <a:tr h="365760">
                <a:tc>
                  <a:txBody>
                    <a:bodyPr/>
                    <a:lstStyle/>
                    <a:p>
                      <a:pPr algn="l"/>
                      <a:r>
                        <a:rPr sz="1200" b="0">
                          <a:solidFill>
                            <a:srgbClr val="0D1B2A"/>
                          </a:solidFill>
                          <a:latin typeface="Calibri"/>
                        </a:rPr>
                        <a:t>IME-QME-Work Comp etc.</a:t>
                      </a:r>
                    </a:p>
                  </a:txBody>
                  <a:tcPr marL="82296" marR="82296" marT="18288" marB="18288" anchor="ctr">
                    <a:solidFill>
                      <a:srgbClr val="FFFFFF"/>
                    </a:solidFill>
                  </a:tcPr>
                </a:tc>
                <a:tc>
                  <a:txBody>
                    <a:bodyPr/>
                    <a:lstStyle/>
                    <a:p>
                      <a:pPr algn="r"/>
                      <a:r>
                        <a:rPr sz="1200" b="0">
                          <a:solidFill>
                            <a:srgbClr val="0D1B2A"/>
                          </a:solidFill>
                          <a:latin typeface="Calibri"/>
                        </a:rPr>
                        <a:t>16</a:t>
                      </a:r>
                    </a:p>
                  </a:txBody>
                  <a:tcPr marL="82296" marR="82296" marT="18288" marB="18288" anchor="ctr">
                    <a:solidFill>
                      <a:srgbClr val="FFFFFF"/>
                    </a:solidFill>
                  </a:tcPr>
                </a:tc>
                <a:extLst>
                  <a:ext uri="{0D108BD9-81ED-4DB2-BD59-A6C34878D82A}">
                    <a16:rowId xmlns:a16="http://schemas.microsoft.com/office/drawing/2014/main" val="10007"/>
                  </a:ext>
                </a:extLst>
              </a:tr>
            </a:tbl>
          </a:graphicData>
        </a:graphic>
      </p:graphicFrame>
      <p:sp>
        <p:nvSpPr>
          <p:cNvPr id="7" name="TextBox 6"/>
          <p:cNvSpPr txBox="1"/>
          <p:nvPr/>
        </p:nvSpPr>
        <p:spPr>
          <a:xfrm>
            <a:off x="7223759" y="2331720"/>
            <a:ext cx="4419295" cy="1371600"/>
          </a:xfrm>
          <a:prstGeom prst="rect">
            <a:avLst/>
          </a:prstGeom>
          <a:noFill/>
        </p:spPr>
        <p:txBody>
          <a:bodyPr wrap="square" lIns="0" tIns="0" rIns="0" bIns="0" anchor="t">
            <a:spAutoFit/>
          </a:bodyPr>
          <a:lstStyle/>
          <a:p>
            <a:pPr algn="ctr">
              <a:spcAft>
                <a:spcPts val="200"/>
              </a:spcAft>
            </a:pPr>
            <a:r>
              <a:rPr sz="4000" b="1" i="0">
                <a:solidFill>
                  <a:srgbClr val="B45309"/>
                </a:solidFill>
                <a:latin typeface="Cambria"/>
              </a:rPr>
              <a:t>954</a:t>
            </a:r>
          </a:p>
          <a:p>
            <a:pPr algn="ctr">
              <a:lnSpc>
                <a:spcPct val="105000"/>
              </a:lnSpc>
              <a:spcAft>
                <a:spcPts val="0"/>
              </a:spcAft>
            </a:pPr>
            <a:r>
              <a:rPr sz="1200" b="0" i="0">
                <a:solidFill>
                  <a:srgbClr val="64748B"/>
                </a:solidFill>
                <a:latin typeface="Calibri"/>
              </a:rPr>
              <a:t>rows labeled with document
formats, not specialties</a:t>
            </a:r>
          </a:p>
        </p:txBody>
      </p:sp>
      <p:sp>
        <p:nvSpPr>
          <p:cNvPr id="8" name="Rounded Rectangle 7"/>
          <p:cNvSpPr/>
          <p:nvPr/>
        </p:nvSpPr>
        <p:spPr>
          <a:xfrm>
            <a:off x="7223759" y="4160520"/>
            <a:ext cx="4419295" cy="1737360"/>
          </a:xfrm>
          <a:prstGeom prst="roundRect">
            <a:avLst>
              <a:gd name="adj" fmla="val 6000"/>
            </a:avLst>
          </a:prstGeom>
          <a:solidFill>
            <a:srgbClr val="E0F7F6"/>
          </a:solidFill>
          <a:ln w="12700">
            <a:solidFill>
              <a:srgbClr val="E0F7F6"/>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79792" y="4343400"/>
            <a:ext cx="3907231" cy="1371600"/>
          </a:xfrm>
          <a:prstGeom prst="rect">
            <a:avLst/>
          </a:prstGeom>
          <a:noFill/>
        </p:spPr>
        <p:txBody>
          <a:bodyPr wrap="square" lIns="0" tIns="0" rIns="0" bIns="0" anchor="ctr">
            <a:spAutoFit/>
          </a:bodyPr>
          <a:lstStyle/>
          <a:p>
            <a:pPr algn="l">
              <a:lnSpc>
                <a:spcPct val="106000"/>
              </a:lnSpc>
              <a:spcAft>
                <a:spcPts val="600"/>
              </a:spcAft>
            </a:pPr>
            <a:r>
              <a:rPr sz="1350" b="1" i="0">
                <a:solidFill>
                  <a:srgbClr val="0E7C7B"/>
                </a:solidFill>
                <a:latin typeface="Calibri"/>
              </a:rPr>
              <a:t>The question</a:t>
            </a:r>
          </a:p>
          <a:p>
            <a:pPr algn="l">
              <a:lnSpc>
                <a:spcPct val="112000"/>
              </a:lnSpc>
              <a:spcAft>
                <a:spcPts val="400"/>
              </a:spcAft>
            </a:pPr>
            <a:r>
              <a:rPr sz="1250" b="0" i="0">
                <a:solidFill>
                  <a:srgbClr val="0D1B2A"/>
                </a:solidFill>
                <a:latin typeface="Calibri"/>
              </a:rPr>
              <a:t>Are these transcriptions unique — or just duplicates of notes that already carry a real specialty label? (Next slide proves it.)</a:t>
            </a:r>
          </a:p>
        </p:txBody>
      </p:sp>
    </p:spTree>
    <p:extLst>
      <p:ext uri="{BB962C8B-B14F-4D97-AF65-F5344CB8AC3E}">
        <p14:creationId xmlns:p14="http://schemas.microsoft.com/office/powerpoint/2010/main" val="1533540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892807" cy="329184"/>
          </a:xfrm>
          <a:prstGeom prst="rect">
            <a:avLst/>
          </a:prstGeom>
          <a:noFill/>
        </p:spPr>
        <p:txBody>
          <a:bodyPr wrap="square" lIns="0" tIns="0" rIns="0" bIns="0" anchor="ctr">
            <a:spAutoFit/>
          </a:bodyPr>
          <a:lstStyle/>
          <a:p>
            <a:pPr algn="ctr">
              <a:spcAft>
                <a:spcPts val="0"/>
              </a:spcAft>
            </a:pPr>
            <a:r>
              <a:rPr sz="1000" b="1" i="0">
                <a:solidFill>
                  <a:srgbClr val="FFFFFF"/>
                </a:solidFill>
                <a:latin typeface="Calibri"/>
              </a:rPr>
              <a:t>PHASE 1</a:t>
            </a:r>
          </a:p>
        </p:txBody>
      </p:sp>
      <p:sp>
        <p:nvSpPr>
          <p:cNvPr id="4" name="TextBox 3"/>
          <p:cNvSpPr txBox="1"/>
          <p:nvPr/>
        </p:nvSpPr>
        <p:spPr>
          <a:xfrm>
            <a:off x="548640" y="676656"/>
            <a:ext cx="11094415" cy="868680"/>
          </a:xfrm>
          <a:prstGeom prst="rect">
            <a:avLst/>
          </a:prstGeom>
          <a:noFill/>
        </p:spPr>
        <p:txBody>
          <a:bodyPr wrap="square" lIns="0" tIns="0" rIns="0" bIns="0" anchor="ctr">
            <a:spAutoFit/>
          </a:bodyPr>
          <a:lstStyle/>
          <a:p>
            <a:pPr algn="l">
              <a:spcAft>
                <a:spcPts val="0"/>
              </a:spcAft>
            </a:pPr>
            <a:r>
              <a:rPr sz="3100" b="1" i="0">
                <a:solidFill>
                  <a:srgbClr val="0D1B2A"/>
                </a:solidFill>
                <a:latin typeface="Cambria"/>
              </a:rPr>
              <a:t>Proof: Non-Specialty Labels Are Redundant</a:t>
            </a:r>
          </a:p>
        </p:txBody>
      </p:sp>
      <p:sp>
        <p:nvSpPr>
          <p:cNvPr id="5" name="TextBox 4"/>
          <p:cNvSpPr txBox="1"/>
          <p:nvPr/>
        </p:nvSpPr>
        <p:spPr>
          <a:xfrm>
            <a:off x="548640" y="1591056"/>
            <a:ext cx="11094415" cy="457200"/>
          </a:xfrm>
          <a:prstGeom prst="rect">
            <a:avLst/>
          </a:prstGeom>
          <a:noFill/>
        </p:spPr>
        <p:txBody>
          <a:bodyPr wrap="square" lIns="0" tIns="0" rIns="0" bIns="0" anchor="ctr">
            <a:spAutoFit/>
          </a:bodyPr>
          <a:lstStyle/>
          <a:p>
            <a:pPr algn="l">
              <a:spcAft>
                <a:spcPts val="0"/>
              </a:spcAft>
            </a:pPr>
            <a:r>
              <a:rPr sz="1450" b="0" i="0">
                <a:solidFill>
                  <a:srgbClr val="64748B"/>
                </a:solidFill>
                <a:latin typeface="Calibri"/>
              </a:rPr>
              <a:t>Compare unique transcription texts between non-specialty and real-specialty rows.</a:t>
            </a:r>
          </a:p>
        </p:txBody>
      </p:sp>
      <p:pic>
        <p:nvPicPr>
          <p:cNvPr id="6" name="Picture 5" descr="venn.png"/>
          <p:cNvPicPr>
            <a:picLocks noChangeAspect="1"/>
          </p:cNvPicPr>
          <p:nvPr/>
        </p:nvPicPr>
        <p:blipFill>
          <a:blip r:embed="rId3"/>
          <a:stretch>
            <a:fillRect/>
          </a:stretch>
        </p:blipFill>
        <p:spPr>
          <a:xfrm>
            <a:off x="548640" y="2148840"/>
            <a:ext cx="5760720" cy="3663090"/>
          </a:xfrm>
          <a:prstGeom prst="rect">
            <a:avLst/>
          </a:prstGeom>
        </p:spPr>
      </p:pic>
      <p:sp>
        <p:nvSpPr>
          <p:cNvPr id="7" name="TextBox 6"/>
          <p:cNvSpPr txBox="1"/>
          <p:nvPr/>
        </p:nvSpPr>
        <p:spPr>
          <a:xfrm>
            <a:off x="6583679" y="2194560"/>
            <a:ext cx="5059375" cy="1280160"/>
          </a:xfrm>
          <a:prstGeom prst="rect">
            <a:avLst/>
          </a:prstGeom>
          <a:noFill/>
        </p:spPr>
        <p:txBody>
          <a:bodyPr wrap="square" lIns="0" tIns="0" rIns="0" bIns="0" anchor="t">
            <a:spAutoFit/>
          </a:bodyPr>
          <a:lstStyle/>
          <a:p>
            <a:pPr algn="l">
              <a:spcAft>
                <a:spcPts val="500"/>
              </a:spcAft>
            </a:pPr>
            <a:r>
              <a:rPr sz="1450" b="1" i="0">
                <a:solidFill>
                  <a:srgbClr val="0D1B2A"/>
                </a:solidFill>
                <a:latin typeface="Calibri"/>
              </a:rPr>
              <a:t>The result</a:t>
            </a:r>
          </a:p>
          <a:p>
            <a:pPr marL="274320" indent="-228600" algn="l">
              <a:lnSpc>
                <a:spcPct val="105000"/>
              </a:lnSpc>
              <a:spcAft>
                <a:spcPts val="400"/>
              </a:spcAft>
              <a:buClr>
                <a:srgbClr val="64748B"/>
              </a:buClr>
              <a:buFont typeface="Arial"/>
              <a:buChar char="•"/>
            </a:pPr>
            <a:r>
              <a:rPr sz="1250" b="0" i="0">
                <a:solidFill>
                  <a:srgbClr val="0D1B2A"/>
                </a:solidFill>
                <a:latin typeface="Calibri"/>
              </a:rPr>
              <a:t>863 unique transcriptions in non-specialty rows</a:t>
            </a:r>
          </a:p>
          <a:p>
            <a:pPr marL="274320" indent="-228600" algn="l">
              <a:lnSpc>
                <a:spcPct val="105000"/>
              </a:lnSpc>
              <a:spcAft>
                <a:spcPts val="400"/>
              </a:spcAft>
              <a:buClr>
                <a:srgbClr val="0E7C7B"/>
              </a:buClr>
              <a:buFont typeface="Arial"/>
              <a:buChar char="•"/>
            </a:pPr>
            <a:r>
              <a:rPr sz="1250" b="1" i="0">
                <a:solidFill>
                  <a:srgbClr val="0E7C7B"/>
                </a:solidFill>
                <a:latin typeface="Calibri"/>
              </a:rPr>
              <a:t>829 (96.1%) also carry a real specialty label</a:t>
            </a:r>
          </a:p>
          <a:p>
            <a:pPr marL="274320" indent="-228600" algn="l">
              <a:lnSpc>
                <a:spcPct val="105000"/>
              </a:lnSpc>
              <a:spcAft>
                <a:spcPts val="400"/>
              </a:spcAft>
              <a:buClr>
                <a:srgbClr val="B45309"/>
              </a:buClr>
              <a:buFont typeface="Arial"/>
              <a:buChar char="•"/>
            </a:pPr>
            <a:r>
              <a:rPr sz="1250" b="1" i="0">
                <a:solidFill>
                  <a:srgbClr val="B45309"/>
                </a:solidFill>
                <a:latin typeface="Calibri"/>
              </a:rPr>
              <a:t>Only 34 (3.9%) are non-specialty-only</a:t>
            </a:r>
          </a:p>
        </p:txBody>
      </p:sp>
      <p:sp>
        <p:nvSpPr>
          <p:cNvPr id="8" name="Rounded Rectangle 7"/>
          <p:cNvSpPr/>
          <p:nvPr/>
        </p:nvSpPr>
        <p:spPr>
          <a:xfrm>
            <a:off x="6583679" y="4715466"/>
            <a:ext cx="5059375" cy="1828800"/>
          </a:xfrm>
          <a:prstGeom prst="roundRect">
            <a:avLst>
              <a:gd name="adj" fmla="val 6000"/>
            </a:avLst>
          </a:prstGeom>
          <a:solidFill>
            <a:srgbClr val="ECFDF5"/>
          </a:solidFill>
          <a:ln w="12700">
            <a:solidFill>
              <a:srgbClr val="A7F3D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39712" y="4898346"/>
            <a:ext cx="4547311" cy="1463040"/>
          </a:xfrm>
          <a:prstGeom prst="rect">
            <a:avLst/>
          </a:prstGeom>
          <a:noFill/>
        </p:spPr>
        <p:txBody>
          <a:bodyPr wrap="square" lIns="0" tIns="0" rIns="0" bIns="0" anchor="ctr">
            <a:spAutoFit/>
          </a:bodyPr>
          <a:lstStyle/>
          <a:p>
            <a:pPr algn="l">
              <a:lnSpc>
                <a:spcPct val="106000"/>
              </a:lnSpc>
              <a:spcAft>
                <a:spcPts val="600"/>
              </a:spcAft>
            </a:pPr>
            <a:r>
              <a:rPr sz="1350" b="1" i="0">
                <a:solidFill>
                  <a:srgbClr val="047857"/>
                </a:solidFill>
                <a:latin typeface="Calibri"/>
              </a:rPr>
              <a:t>✓  Safe to drop</a:t>
            </a:r>
          </a:p>
          <a:p>
            <a:pPr algn="l">
              <a:lnSpc>
                <a:spcPct val="112000"/>
              </a:lnSpc>
              <a:spcAft>
                <a:spcPts val="400"/>
              </a:spcAft>
            </a:pPr>
            <a:r>
              <a:rPr sz="1250" b="0" i="0">
                <a:solidFill>
                  <a:srgbClr val="0D1B2A"/>
                </a:solidFill>
                <a:latin typeface="Calibri"/>
              </a:rPr>
              <a:t>Dropping non-specialty labels removes only redundant labels — with 96% overlap confirmed, no unique clinical content is lost.</a:t>
            </a:r>
          </a:p>
        </p:txBody>
      </p:sp>
      <p:graphicFrame>
        <p:nvGraphicFramePr>
          <p:cNvPr id="10" name="Table 9">
            <a:extLst>
              <a:ext uri="{FF2B5EF4-FFF2-40B4-BE49-F238E27FC236}">
                <a16:creationId xmlns:a16="http://schemas.microsoft.com/office/drawing/2014/main" id="{F0C4529B-1A1D-3413-2F72-2363AA96544F}"/>
              </a:ext>
            </a:extLst>
          </p:cNvPr>
          <p:cNvGraphicFramePr>
            <a:graphicFrameLocks noGrp="1"/>
          </p:cNvGraphicFramePr>
          <p:nvPr>
            <p:extLst>
              <p:ext uri="{D42A27DB-BD31-4B8C-83A1-F6EECF244321}">
                <p14:modId xmlns:p14="http://schemas.microsoft.com/office/powerpoint/2010/main" val="1388284070"/>
              </p:ext>
            </p:extLst>
          </p:nvPr>
        </p:nvGraphicFramePr>
        <p:xfrm>
          <a:off x="6621517" y="3431627"/>
          <a:ext cx="4984113" cy="1114336"/>
        </p:xfrm>
        <a:graphic>
          <a:graphicData uri="http://schemas.openxmlformats.org/drawingml/2006/table">
            <a:tbl>
              <a:tblPr firstRow="1" bandRow="1">
                <a:tableStyleId>{5C22544A-7EE6-4342-B048-85BDC9FD1C3A}</a:tableStyleId>
              </a:tblPr>
              <a:tblGrid>
                <a:gridCol w="1742940">
                  <a:extLst>
                    <a:ext uri="{9D8B030D-6E8A-4147-A177-3AD203B41FA5}">
                      <a16:colId xmlns:a16="http://schemas.microsoft.com/office/drawing/2014/main" val="3795943367"/>
                    </a:ext>
                  </a:extLst>
                </a:gridCol>
                <a:gridCol w="3241173">
                  <a:extLst>
                    <a:ext uri="{9D8B030D-6E8A-4147-A177-3AD203B41FA5}">
                      <a16:colId xmlns:a16="http://schemas.microsoft.com/office/drawing/2014/main" val="1143965202"/>
                    </a:ext>
                  </a:extLst>
                </a:gridCol>
              </a:tblGrid>
              <a:tr h="266160">
                <a:tc>
                  <a:txBody>
                    <a:bodyPr/>
                    <a:lstStyle/>
                    <a:p>
                      <a:pPr lvl="0">
                        <a:buNone/>
                      </a:pPr>
                      <a:r>
                        <a:rPr lang="en-US" sz="1800">
                          <a:solidFill>
                            <a:schemeClr val="tx1"/>
                          </a:solidFill>
                        </a:rPr>
                        <a:t>Specialty</a:t>
                      </a:r>
                      <a:endParaRPr lang="en-US" sz="1800" err="1">
                        <a:solidFill>
                          <a:schemeClr val="tx1"/>
                        </a:solidFill>
                      </a:endParaRPr>
                    </a:p>
                  </a:txBody>
                  <a:tcPr>
                    <a:solidFill>
                      <a:schemeClr val="bg2"/>
                    </a:solidFill>
                  </a:tcPr>
                </a:tc>
                <a:tc>
                  <a:txBody>
                    <a:bodyPr/>
                    <a:lstStyle/>
                    <a:p>
                      <a:pPr lvl="0">
                        <a:buNone/>
                      </a:pPr>
                      <a:r>
                        <a:rPr lang="en-US" sz="1800">
                          <a:solidFill>
                            <a:schemeClr val="tx1"/>
                          </a:solidFill>
                        </a:rPr>
                        <a:t>Transcription Note</a:t>
                      </a:r>
                    </a:p>
                  </a:txBody>
                  <a:tcPr>
                    <a:solidFill>
                      <a:schemeClr val="bg2"/>
                    </a:solidFill>
                  </a:tcPr>
                </a:tc>
                <a:extLst>
                  <a:ext uri="{0D108BD9-81ED-4DB2-BD59-A6C34878D82A}">
                    <a16:rowId xmlns:a16="http://schemas.microsoft.com/office/drawing/2014/main" val="3101652804"/>
                  </a:ext>
                </a:extLst>
              </a:tr>
              <a:tr h="374288">
                <a:tc>
                  <a:txBody>
                    <a:bodyPr/>
                    <a:lstStyle/>
                    <a:p>
                      <a:r>
                        <a:rPr lang="en-US" sz="1800" b="0">
                          <a:solidFill>
                            <a:srgbClr val="FF0000"/>
                          </a:solidFill>
                        </a:rPr>
                        <a:t>Office Notes</a:t>
                      </a:r>
                    </a:p>
                  </a:txBody>
                  <a:tcPr>
                    <a:solidFill>
                      <a:schemeClr val="bg2"/>
                    </a:solidFill>
                  </a:tcPr>
                </a:tc>
                <a:tc>
                  <a:txBody>
                    <a:bodyPr/>
                    <a:lstStyle/>
                    <a:p>
                      <a:r>
                        <a:rPr lang="en-US" sz="1800" b="0">
                          <a:solidFill>
                            <a:srgbClr val="00B050"/>
                          </a:solidFill>
                        </a:rPr>
                        <a:t>Patient XYZ has joint pain</a:t>
                      </a:r>
                    </a:p>
                  </a:txBody>
                  <a:tcPr>
                    <a:solidFill>
                      <a:schemeClr val="bg2"/>
                    </a:solidFill>
                  </a:tcPr>
                </a:tc>
                <a:extLst>
                  <a:ext uri="{0D108BD9-81ED-4DB2-BD59-A6C34878D82A}">
                    <a16:rowId xmlns:a16="http://schemas.microsoft.com/office/drawing/2014/main" val="31768523"/>
                  </a:ext>
                </a:extLst>
              </a:tr>
              <a:tr h="374288">
                <a:tc>
                  <a:txBody>
                    <a:bodyPr/>
                    <a:lstStyle/>
                    <a:p>
                      <a:r>
                        <a:rPr lang="en-US" sz="1800" b="0">
                          <a:solidFill>
                            <a:schemeClr val="accent5">
                              <a:lumMod val="76000"/>
                            </a:schemeClr>
                          </a:solidFill>
                        </a:rPr>
                        <a:t>Orthopedic</a:t>
                      </a:r>
                    </a:p>
                  </a:txBody>
                  <a:tcPr>
                    <a:solidFill>
                      <a:schemeClr val="bg2"/>
                    </a:solidFill>
                  </a:tcPr>
                </a:tc>
                <a:tc>
                  <a:txBody>
                    <a:bodyPr/>
                    <a:lstStyle/>
                    <a:p>
                      <a:pPr lvl="0" algn="l">
                        <a:lnSpc>
                          <a:spcPct val="100000"/>
                        </a:lnSpc>
                        <a:spcBef>
                          <a:spcPts val="0"/>
                        </a:spcBef>
                        <a:spcAft>
                          <a:spcPts val="0"/>
                        </a:spcAft>
                        <a:buNone/>
                      </a:pPr>
                      <a:r>
                        <a:rPr lang="en-US" sz="1800" b="0" i="0" u="none" strike="noStrike" noProof="0">
                          <a:solidFill>
                            <a:srgbClr val="00B050"/>
                          </a:solidFill>
                          <a:latin typeface="Calibri"/>
                          <a:ea typeface="Calibri"/>
                          <a:cs typeface="Calibri"/>
                        </a:rPr>
                        <a:t>Patient XYZ has joint pain</a:t>
                      </a:r>
                    </a:p>
                  </a:txBody>
                  <a:tcPr>
                    <a:solidFill>
                      <a:schemeClr val="bg2"/>
                    </a:solidFill>
                  </a:tcPr>
                </a:tc>
                <a:extLst>
                  <a:ext uri="{0D108BD9-81ED-4DB2-BD59-A6C34878D82A}">
                    <a16:rowId xmlns:a16="http://schemas.microsoft.com/office/drawing/2014/main" val="13568022"/>
                  </a:ext>
                </a:extLst>
              </a:tr>
            </a:tbl>
          </a:graphicData>
        </a:graphic>
      </p:graphicFrame>
    </p:spTree>
    <p:extLst>
      <p:ext uri="{BB962C8B-B14F-4D97-AF65-F5344CB8AC3E}">
        <p14:creationId xmlns:p14="http://schemas.microsoft.com/office/powerpoint/2010/main" val="4174043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892807" cy="329184"/>
          </a:xfrm>
          <a:prstGeom prst="rect">
            <a:avLst/>
          </a:prstGeom>
          <a:noFill/>
        </p:spPr>
        <p:txBody>
          <a:bodyPr wrap="square" lIns="0" tIns="0" rIns="0" bIns="0" anchor="ctr">
            <a:spAutoFit/>
          </a:bodyPr>
          <a:lstStyle/>
          <a:p>
            <a:pPr algn="ctr">
              <a:spcAft>
                <a:spcPts val="0"/>
              </a:spcAft>
            </a:pPr>
            <a:r>
              <a:rPr sz="1000" b="1" i="0">
                <a:solidFill>
                  <a:srgbClr val="FFFFFF"/>
                </a:solidFill>
                <a:latin typeface="Calibri"/>
              </a:rPr>
              <a:t>PHASE 1</a:t>
            </a:r>
          </a:p>
        </p:txBody>
      </p:sp>
      <p:sp>
        <p:nvSpPr>
          <p:cNvPr id="4" name="TextBox 3"/>
          <p:cNvSpPr txBox="1"/>
          <p:nvPr/>
        </p:nvSpPr>
        <p:spPr>
          <a:xfrm>
            <a:off x="548640" y="676656"/>
            <a:ext cx="11094415" cy="868680"/>
          </a:xfrm>
          <a:prstGeom prst="rect">
            <a:avLst/>
          </a:prstGeom>
          <a:noFill/>
        </p:spPr>
        <p:txBody>
          <a:bodyPr wrap="square" lIns="0" tIns="0" rIns="0" bIns="0" anchor="ctr">
            <a:spAutoFit/>
          </a:bodyPr>
          <a:lstStyle/>
          <a:p>
            <a:pPr algn="l">
              <a:spcAft>
                <a:spcPts val="0"/>
              </a:spcAft>
            </a:pPr>
            <a:r>
              <a:rPr sz="3100" b="1" i="0">
                <a:solidFill>
                  <a:srgbClr val="0D1B2A"/>
                </a:solidFill>
                <a:latin typeface="Cambria"/>
              </a:rPr>
              <a:t>Surgery: A Cross-Listed Category</a:t>
            </a:r>
          </a:p>
        </p:txBody>
      </p:sp>
      <p:sp>
        <p:nvSpPr>
          <p:cNvPr id="5" name="TextBox 4"/>
          <p:cNvSpPr txBox="1"/>
          <p:nvPr/>
        </p:nvSpPr>
        <p:spPr>
          <a:xfrm>
            <a:off x="548640" y="1591056"/>
            <a:ext cx="11094415" cy="457200"/>
          </a:xfrm>
          <a:prstGeom prst="rect">
            <a:avLst/>
          </a:prstGeom>
          <a:noFill/>
        </p:spPr>
        <p:txBody>
          <a:bodyPr wrap="square" lIns="0" tIns="0" rIns="0" bIns="0" anchor="ctr">
            <a:spAutoFit/>
          </a:bodyPr>
          <a:lstStyle/>
          <a:p>
            <a:pPr algn="l">
              <a:spcAft>
                <a:spcPts val="0"/>
              </a:spcAft>
            </a:pPr>
            <a:r>
              <a:rPr sz="1450" b="0" i="0">
                <a:solidFill>
                  <a:srgbClr val="64748B"/>
                </a:solidFill>
                <a:latin typeface="Calibri"/>
              </a:rPr>
              <a:t>“Surgery” is a procedure type, not a clinical specialty.</a:t>
            </a:r>
          </a:p>
        </p:txBody>
      </p:sp>
      <p:pic>
        <p:nvPicPr>
          <p:cNvPr id="6" name="Picture 5" descr="surgery_donut.png"/>
          <p:cNvPicPr>
            <a:picLocks noChangeAspect="1"/>
          </p:cNvPicPr>
          <p:nvPr/>
        </p:nvPicPr>
        <p:blipFill>
          <a:blip r:embed="rId3"/>
          <a:stretch>
            <a:fillRect/>
          </a:stretch>
        </p:blipFill>
        <p:spPr>
          <a:xfrm>
            <a:off x="548640" y="2194560"/>
            <a:ext cx="3960000" cy="4023360"/>
          </a:xfrm>
          <a:prstGeom prst="rect">
            <a:avLst/>
          </a:prstGeom>
        </p:spPr>
      </p:pic>
      <p:sp>
        <p:nvSpPr>
          <p:cNvPr id="7" name="TextBox 6"/>
          <p:cNvSpPr txBox="1"/>
          <p:nvPr/>
        </p:nvSpPr>
        <p:spPr>
          <a:xfrm>
            <a:off x="5760720" y="2194560"/>
            <a:ext cx="5882335" cy="914400"/>
          </a:xfrm>
          <a:prstGeom prst="rect">
            <a:avLst/>
          </a:prstGeom>
          <a:noFill/>
        </p:spPr>
        <p:txBody>
          <a:bodyPr wrap="square" lIns="0" tIns="0" rIns="0" bIns="0" anchor="t">
            <a:spAutoFit/>
          </a:bodyPr>
          <a:lstStyle/>
          <a:p>
            <a:pPr algn="l">
              <a:lnSpc>
                <a:spcPct val="112000"/>
              </a:lnSpc>
              <a:spcAft>
                <a:spcPts val="0"/>
              </a:spcAft>
            </a:pPr>
            <a:r>
              <a:rPr sz="1300" b="0" i="0">
                <a:solidFill>
                  <a:srgbClr val="0D1B2A"/>
                </a:solidFill>
                <a:latin typeface="Calibri"/>
              </a:rPr>
              <a:t>1,089 unique Surgery notes — 1,040 (95.5%) also appear under a more specific specialty.</a:t>
            </a:r>
          </a:p>
        </p:txBody>
      </p:sp>
      <p:sp>
        <p:nvSpPr>
          <p:cNvPr id="8" name="Rounded Rectangle 7"/>
          <p:cNvSpPr/>
          <p:nvPr/>
        </p:nvSpPr>
        <p:spPr>
          <a:xfrm>
            <a:off x="5760720" y="3200400"/>
            <a:ext cx="5882335" cy="1097280"/>
          </a:xfrm>
          <a:prstGeom prst="roundRect">
            <a:avLst>
              <a:gd name="adj" fmla="val 5000"/>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61888" y="3346704"/>
            <a:ext cx="5479999" cy="804671"/>
          </a:xfrm>
          <a:prstGeom prst="rect">
            <a:avLst/>
          </a:prstGeom>
          <a:noFill/>
        </p:spPr>
        <p:txBody>
          <a:bodyPr wrap="square" lIns="0" tIns="0" rIns="0" bIns="0" anchor="t">
            <a:spAutoFit/>
          </a:bodyPr>
          <a:lstStyle/>
          <a:p>
            <a:pPr algn="l">
              <a:lnSpc>
                <a:spcPct val="105000"/>
              </a:lnSpc>
              <a:spcAft>
                <a:spcPts val="100"/>
              </a:spcAft>
            </a:pPr>
            <a:r>
              <a:rPr sz="1130" b="0" i="0">
                <a:solidFill>
                  <a:srgbClr val="7DD3FC"/>
                </a:solidFill>
                <a:latin typeface="Courier New"/>
              </a:rPr>
              <a:t>"Arthroscopic knee surgery..."</a:t>
            </a:r>
          </a:p>
          <a:p>
            <a:pPr algn="l">
              <a:lnSpc>
                <a:spcPct val="105000"/>
              </a:lnSpc>
              <a:spcAft>
                <a:spcPts val="100"/>
              </a:spcAft>
            </a:pPr>
            <a:r>
              <a:rPr sz="1130" b="0" i="0">
                <a:solidFill>
                  <a:srgbClr val="6EE7B7"/>
                </a:solidFill>
                <a:latin typeface="Courier New"/>
              </a:rPr>
              <a:t>labels: Surgery + Orthopedic</a:t>
            </a:r>
          </a:p>
          <a:p>
            <a:pPr algn="l">
              <a:lnSpc>
                <a:spcPct val="105000"/>
              </a:lnSpc>
              <a:spcAft>
                <a:spcPts val="100"/>
              </a:spcAft>
            </a:pPr>
            <a:r>
              <a:rPr sz="1130" b="0" i="0">
                <a:solidFill>
                  <a:srgbClr val="7DD3FC"/>
                </a:solidFill>
                <a:latin typeface="Courier New"/>
              </a:rPr>
              <a:t>true specialty -&gt; Orthopedic</a:t>
            </a:r>
          </a:p>
        </p:txBody>
      </p:sp>
      <p:sp>
        <p:nvSpPr>
          <p:cNvPr id="10" name="Rounded Rectangle 9"/>
          <p:cNvSpPr/>
          <p:nvPr/>
        </p:nvSpPr>
        <p:spPr>
          <a:xfrm>
            <a:off x="5760720" y="4480560"/>
            <a:ext cx="5882335" cy="1463040"/>
          </a:xfrm>
          <a:prstGeom prst="roundRect">
            <a:avLst>
              <a:gd name="adj" fmla="val 6000"/>
            </a:avLst>
          </a:prstGeom>
          <a:solidFill>
            <a:srgbClr val="FEF2F2"/>
          </a:solidFill>
          <a:ln w="12700">
            <a:solidFill>
              <a:srgbClr val="FECACA"/>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16752" y="4663440"/>
            <a:ext cx="5370271" cy="1097280"/>
          </a:xfrm>
          <a:prstGeom prst="rect">
            <a:avLst/>
          </a:prstGeom>
          <a:noFill/>
        </p:spPr>
        <p:txBody>
          <a:bodyPr wrap="square" lIns="0" tIns="0" rIns="0" bIns="0" anchor="ctr">
            <a:spAutoFit/>
          </a:bodyPr>
          <a:lstStyle/>
          <a:p>
            <a:pPr algn="l">
              <a:lnSpc>
                <a:spcPct val="106000"/>
              </a:lnSpc>
              <a:spcAft>
                <a:spcPts val="600"/>
              </a:spcAft>
            </a:pPr>
            <a:r>
              <a:rPr sz="1350" b="1" i="0">
                <a:solidFill>
                  <a:srgbClr val="B91C1C"/>
                </a:solidFill>
                <a:latin typeface="Calibri"/>
              </a:rPr>
              <a:t>Decision: drop “Surgery”</a:t>
            </a:r>
          </a:p>
          <a:p>
            <a:pPr algn="l">
              <a:lnSpc>
                <a:spcPct val="112000"/>
              </a:lnSpc>
              <a:spcAft>
                <a:spcPts val="400"/>
              </a:spcAft>
            </a:pPr>
            <a:r>
              <a:rPr sz="1250" b="0" i="0">
                <a:solidFill>
                  <a:srgbClr val="0D1B2A"/>
                </a:solidFill>
                <a:latin typeface="Calibri"/>
              </a:rPr>
              <a:t>When a note exists under Surgery and a specific specialty, the specific specialty is the correct target.</a:t>
            </a:r>
          </a:p>
        </p:txBody>
      </p:sp>
    </p:spTree>
    <p:extLst>
      <p:ext uri="{BB962C8B-B14F-4D97-AF65-F5344CB8AC3E}">
        <p14:creationId xmlns:p14="http://schemas.microsoft.com/office/powerpoint/2010/main" val="4252721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892807" cy="329184"/>
          </a:xfrm>
          <a:prstGeom prst="rect">
            <a:avLst/>
          </a:prstGeom>
          <a:noFill/>
        </p:spPr>
        <p:txBody>
          <a:bodyPr wrap="square" lIns="0" tIns="0" rIns="0" bIns="0" anchor="ctr">
            <a:spAutoFit/>
          </a:bodyPr>
          <a:lstStyle/>
          <a:p>
            <a:pPr algn="ctr">
              <a:spcAft>
                <a:spcPts val="0"/>
              </a:spcAft>
            </a:pPr>
            <a:r>
              <a:rPr sz="1000" b="1" i="0">
                <a:solidFill>
                  <a:srgbClr val="FFFFFF"/>
                </a:solidFill>
                <a:latin typeface="Calibri"/>
              </a:rPr>
              <a:t>PHASE 1</a:t>
            </a:r>
          </a:p>
        </p:txBody>
      </p:sp>
      <p:sp>
        <p:nvSpPr>
          <p:cNvPr id="4" name="TextBox 3"/>
          <p:cNvSpPr txBox="1"/>
          <p:nvPr/>
        </p:nvSpPr>
        <p:spPr>
          <a:xfrm>
            <a:off x="548640" y="676656"/>
            <a:ext cx="11094415" cy="868680"/>
          </a:xfrm>
          <a:prstGeom prst="rect">
            <a:avLst/>
          </a:prstGeom>
          <a:noFill/>
        </p:spPr>
        <p:txBody>
          <a:bodyPr wrap="square" lIns="0" tIns="0" rIns="0" bIns="0" anchor="ctr">
            <a:spAutoFit/>
          </a:bodyPr>
          <a:lstStyle/>
          <a:p>
            <a:pPr algn="l">
              <a:spcAft>
                <a:spcPts val="0"/>
              </a:spcAft>
            </a:pPr>
            <a:r>
              <a:rPr sz="3100" b="1" i="0">
                <a:solidFill>
                  <a:srgbClr val="0D1B2A"/>
                </a:solidFill>
                <a:latin typeface="Cambria"/>
              </a:rPr>
              <a:t>Radiology: Another Cross-Listed Category</a:t>
            </a:r>
          </a:p>
        </p:txBody>
      </p:sp>
      <p:sp>
        <p:nvSpPr>
          <p:cNvPr id="5" name="TextBox 4"/>
          <p:cNvSpPr txBox="1"/>
          <p:nvPr/>
        </p:nvSpPr>
        <p:spPr>
          <a:xfrm>
            <a:off x="548640" y="1591056"/>
            <a:ext cx="11094415" cy="457200"/>
          </a:xfrm>
          <a:prstGeom prst="rect">
            <a:avLst/>
          </a:prstGeom>
          <a:noFill/>
        </p:spPr>
        <p:txBody>
          <a:bodyPr wrap="square" lIns="0" tIns="0" rIns="0" bIns="0" anchor="ctr">
            <a:spAutoFit/>
          </a:bodyPr>
          <a:lstStyle/>
          <a:p>
            <a:pPr algn="l">
              <a:spcAft>
                <a:spcPts val="0"/>
              </a:spcAft>
            </a:pPr>
            <a:r>
              <a:rPr sz="1450" b="0" i="0">
                <a:solidFill>
                  <a:srgbClr val="64748B"/>
                </a:solidFill>
                <a:latin typeface="Calibri"/>
              </a:rPr>
              <a:t>Radiology reports describe findings that belong to other specialties.</a:t>
            </a:r>
          </a:p>
        </p:txBody>
      </p:sp>
      <p:pic>
        <p:nvPicPr>
          <p:cNvPr id="6" name="Picture 5" descr="radiology_pie.png"/>
          <p:cNvPicPr>
            <a:picLocks noChangeAspect="1"/>
          </p:cNvPicPr>
          <p:nvPr/>
        </p:nvPicPr>
        <p:blipFill>
          <a:blip r:embed="rId3"/>
          <a:stretch>
            <a:fillRect/>
          </a:stretch>
        </p:blipFill>
        <p:spPr>
          <a:xfrm>
            <a:off x="548640" y="2148840"/>
            <a:ext cx="5852160" cy="3198374"/>
          </a:xfrm>
          <a:prstGeom prst="rect">
            <a:avLst/>
          </a:prstGeom>
        </p:spPr>
      </p:pic>
      <p:sp>
        <p:nvSpPr>
          <p:cNvPr id="7" name="TextBox 6"/>
          <p:cNvSpPr txBox="1"/>
          <p:nvPr/>
        </p:nvSpPr>
        <p:spPr>
          <a:xfrm>
            <a:off x="6675120" y="2194560"/>
            <a:ext cx="4967935" cy="914400"/>
          </a:xfrm>
          <a:prstGeom prst="rect">
            <a:avLst/>
          </a:prstGeom>
          <a:noFill/>
        </p:spPr>
        <p:txBody>
          <a:bodyPr wrap="square" lIns="0" tIns="0" rIns="0" bIns="0" anchor="t">
            <a:spAutoFit/>
          </a:bodyPr>
          <a:lstStyle/>
          <a:p>
            <a:pPr algn="l">
              <a:lnSpc>
                <a:spcPct val="112000"/>
              </a:lnSpc>
              <a:spcAft>
                <a:spcPts val="0"/>
              </a:spcAft>
            </a:pPr>
            <a:r>
              <a:rPr sz="1300" b="0" i="0">
                <a:solidFill>
                  <a:srgbClr val="0D1B2A"/>
                </a:solidFill>
                <a:latin typeface="Calibri"/>
              </a:rPr>
              <a:t>273 Radiology notes — 262 (96%) also appear under another specialty.</a:t>
            </a:r>
          </a:p>
        </p:txBody>
      </p:sp>
      <p:sp>
        <p:nvSpPr>
          <p:cNvPr id="8" name="Rounded Rectangle 7"/>
          <p:cNvSpPr/>
          <p:nvPr/>
        </p:nvSpPr>
        <p:spPr>
          <a:xfrm>
            <a:off x="6675120" y="3200400"/>
            <a:ext cx="4967935" cy="1097280"/>
          </a:xfrm>
          <a:prstGeom prst="roundRect">
            <a:avLst>
              <a:gd name="adj" fmla="val 5000"/>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76288" y="3346704"/>
            <a:ext cx="4565599" cy="804671"/>
          </a:xfrm>
          <a:prstGeom prst="rect">
            <a:avLst/>
          </a:prstGeom>
          <a:noFill/>
        </p:spPr>
        <p:txBody>
          <a:bodyPr wrap="square" lIns="0" tIns="0" rIns="0" bIns="0" anchor="t">
            <a:spAutoFit/>
          </a:bodyPr>
          <a:lstStyle/>
          <a:p>
            <a:pPr algn="l">
              <a:lnSpc>
                <a:spcPct val="105000"/>
              </a:lnSpc>
              <a:spcAft>
                <a:spcPts val="100"/>
              </a:spcAft>
            </a:pPr>
            <a:r>
              <a:rPr sz="1130" b="0" i="0">
                <a:solidFill>
                  <a:srgbClr val="7DD3FC"/>
                </a:solidFill>
                <a:latin typeface="Courier New"/>
              </a:rPr>
              <a:t>"Chest X-ray shows cardiac</a:t>
            </a:r>
          </a:p>
          <a:p>
            <a:pPr algn="l">
              <a:lnSpc>
                <a:spcPct val="105000"/>
              </a:lnSpc>
              <a:spcAft>
                <a:spcPts val="100"/>
              </a:spcAft>
            </a:pPr>
            <a:r>
              <a:rPr sz="1130" b="0" i="0">
                <a:solidFill>
                  <a:srgbClr val="7DD3FC"/>
                </a:solidFill>
                <a:latin typeface="Courier New"/>
              </a:rPr>
              <a:t> enlargement..."</a:t>
            </a:r>
          </a:p>
          <a:p>
            <a:pPr algn="l">
              <a:lnSpc>
                <a:spcPct val="105000"/>
              </a:lnSpc>
              <a:spcAft>
                <a:spcPts val="100"/>
              </a:spcAft>
            </a:pPr>
            <a:r>
              <a:rPr sz="1130" b="0" i="0">
                <a:solidFill>
                  <a:srgbClr val="6EE7B7"/>
                </a:solidFill>
                <a:latin typeface="Courier New"/>
              </a:rPr>
              <a:t>also: Cardiovascular / Pulmonary</a:t>
            </a:r>
          </a:p>
        </p:txBody>
      </p:sp>
      <p:sp>
        <p:nvSpPr>
          <p:cNvPr id="10" name="Rounded Rectangle 9"/>
          <p:cNvSpPr/>
          <p:nvPr/>
        </p:nvSpPr>
        <p:spPr>
          <a:xfrm>
            <a:off x="6675120" y="4480560"/>
            <a:ext cx="4967935" cy="1463040"/>
          </a:xfrm>
          <a:prstGeom prst="roundRect">
            <a:avLst>
              <a:gd name="adj" fmla="val 6000"/>
            </a:avLst>
          </a:prstGeom>
          <a:solidFill>
            <a:srgbClr val="FEF2F2"/>
          </a:solidFill>
          <a:ln w="12700">
            <a:solidFill>
              <a:srgbClr val="FECACA"/>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931152" y="4663440"/>
            <a:ext cx="4455871" cy="1097280"/>
          </a:xfrm>
          <a:prstGeom prst="rect">
            <a:avLst/>
          </a:prstGeom>
          <a:noFill/>
        </p:spPr>
        <p:txBody>
          <a:bodyPr wrap="square" lIns="0" tIns="0" rIns="0" bIns="0" anchor="ctr">
            <a:spAutoFit/>
          </a:bodyPr>
          <a:lstStyle/>
          <a:p>
            <a:pPr algn="l">
              <a:lnSpc>
                <a:spcPct val="106000"/>
              </a:lnSpc>
              <a:spcAft>
                <a:spcPts val="600"/>
              </a:spcAft>
            </a:pPr>
            <a:r>
              <a:rPr sz="1350" b="1" i="0">
                <a:solidFill>
                  <a:srgbClr val="B91C1C"/>
                </a:solidFill>
                <a:latin typeface="Calibri"/>
              </a:rPr>
              <a:t>Decision: drop Radiology</a:t>
            </a:r>
          </a:p>
          <a:p>
            <a:pPr algn="l">
              <a:lnSpc>
                <a:spcPct val="112000"/>
              </a:lnSpc>
              <a:spcAft>
                <a:spcPts val="400"/>
              </a:spcAft>
            </a:pPr>
            <a:r>
              <a:rPr sz="1250" b="0" i="0">
                <a:solidFill>
                  <a:srgbClr val="0D1B2A"/>
                </a:solidFill>
                <a:latin typeface="Calibri"/>
              </a:rPr>
              <a:t>Removing it cuts label ambiguity — reports inherit the clinical context they describe.</a:t>
            </a:r>
          </a:p>
        </p:txBody>
      </p:sp>
    </p:spTree>
    <p:extLst>
      <p:ext uri="{BB962C8B-B14F-4D97-AF65-F5344CB8AC3E}">
        <p14:creationId xmlns:p14="http://schemas.microsoft.com/office/powerpoint/2010/main" val="2822307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892807" cy="329184"/>
          </a:xfrm>
          <a:prstGeom prst="rect">
            <a:avLst/>
          </a:prstGeom>
          <a:noFill/>
        </p:spPr>
        <p:txBody>
          <a:bodyPr wrap="square" lIns="0" tIns="0" rIns="0" bIns="0" anchor="ctr">
            <a:spAutoFit/>
          </a:bodyPr>
          <a:lstStyle/>
          <a:p>
            <a:pPr algn="ctr">
              <a:spcAft>
                <a:spcPts val="0"/>
              </a:spcAft>
            </a:pPr>
            <a:r>
              <a:rPr sz="1000" b="1" i="0">
                <a:solidFill>
                  <a:srgbClr val="FFFFFF"/>
                </a:solidFill>
                <a:latin typeface="Calibri"/>
              </a:rPr>
              <a:t>PHASE 1</a:t>
            </a:r>
          </a:p>
        </p:txBody>
      </p:sp>
      <p:sp>
        <p:nvSpPr>
          <p:cNvPr id="4" name="TextBox 3"/>
          <p:cNvSpPr txBox="1"/>
          <p:nvPr/>
        </p:nvSpPr>
        <p:spPr>
          <a:xfrm>
            <a:off x="548640" y="676656"/>
            <a:ext cx="11094415" cy="868680"/>
          </a:xfrm>
          <a:prstGeom prst="rect">
            <a:avLst/>
          </a:prstGeom>
          <a:noFill/>
        </p:spPr>
        <p:txBody>
          <a:bodyPr wrap="square" lIns="0" tIns="0" rIns="0" bIns="0" anchor="ctr">
            <a:spAutoFit/>
          </a:bodyPr>
          <a:lstStyle/>
          <a:p>
            <a:pPr algn="l">
              <a:spcAft>
                <a:spcPts val="0"/>
              </a:spcAft>
            </a:pPr>
            <a:r>
              <a:rPr sz="3100" b="1" i="0">
                <a:solidFill>
                  <a:srgbClr val="0D1B2A"/>
                </a:solidFill>
                <a:latin typeface="Cambria"/>
              </a:rPr>
              <a:t>Why Rare Specialties Must Be Dropped</a:t>
            </a:r>
          </a:p>
        </p:txBody>
      </p:sp>
      <p:sp>
        <p:nvSpPr>
          <p:cNvPr id="5" name="TextBox 4"/>
          <p:cNvSpPr txBox="1"/>
          <p:nvPr/>
        </p:nvSpPr>
        <p:spPr>
          <a:xfrm>
            <a:off x="548640" y="1591056"/>
            <a:ext cx="11094415" cy="457200"/>
          </a:xfrm>
          <a:prstGeom prst="rect">
            <a:avLst/>
          </a:prstGeom>
          <a:noFill/>
        </p:spPr>
        <p:txBody>
          <a:bodyPr wrap="square" lIns="0" tIns="0" rIns="0" bIns="0" anchor="ctr">
            <a:spAutoFit/>
          </a:bodyPr>
          <a:lstStyle/>
          <a:p>
            <a:pPr algn="l">
              <a:spcAft>
                <a:spcPts val="0"/>
              </a:spcAft>
            </a:pPr>
            <a:r>
              <a:rPr sz="1450" b="0" i="0">
                <a:solidFill>
                  <a:srgbClr val="64748B"/>
                </a:solidFill>
                <a:latin typeface="Calibri"/>
              </a:rPr>
              <a:t>Models need enough examples per class to learn anything reliable.</a:t>
            </a:r>
          </a:p>
        </p:txBody>
      </p:sp>
      <p:graphicFrame>
        <p:nvGraphicFramePr>
          <p:cNvPr id="6" name="Table 5"/>
          <p:cNvGraphicFramePr>
            <a:graphicFrameLocks noGrp="1"/>
          </p:cNvGraphicFramePr>
          <p:nvPr/>
        </p:nvGraphicFramePr>
        <p:xfrm>
          <a:off x="548640" y="2240280"/>
          <a:ext cx="5760720" cy="2304288"/>
        </p:xfrm>
        <a:graphic>
          <a:graphicData uri="http://schemas.openxmlformats.org/drawingml/2006/table">
            <a:tbl>
              <a:tblPr firstRow="1"/>
              <a:tblGrid>
                <a:gridCol w="42976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384048">
                <a:tc>
                  <a:txBody>
                    <a:bodyPr/>
                    <a:lstStyle/>
                    <a:p>
                      <a:pPr algn="l"/>
                      <a:r>
                        <a:rPr sz="1200" b="1">
                          <a:solidFill>
                            <a:srgbClr val="FFFFFF"/>
                          </a:solidFill>
                          <a:latin typeface="Calibri"/>
                        </a:rPr>
                        <a:t>rare specialty (&lt;10 notes)</a:t>
                      </a:r>
                    </a:p>
                  </a:txBody>
                  <a:tcPr marL="82296" marR="82296" marT="18288" marB="18288" anchor="ctr">
                    <a:solidFill>
                      <a:srgbClr val="B91C1C"/>
                    </a:solidFill>
                  </a:tcPr>
                </a:tc>
                <a:tc>
                  <a:txBody>
                    <a:bodyPr/>
                    <a:lstStyle/>
                    <a:p>
                      <a:pPr algn="r"/>
                      <a:r>
                        <a:rPr sz="1200" b="1">
                          <a:solidFill>
                            <a:srgbClr val="FFFFFF"/>
                          </a:solidFill>
                          <a:latin typeface="Calibri"/>
                        </a:rPr>
                        <a:t>notes</a:t>
                      </a:r>
                    </a:p>
                  </a:txBody>
                  <a:tcPr marL="82296" marR="82296" marT="18288" marB="18288" anchor="ctr">
                    <a:solidFill>
                      <a:srgbClr val="B91C1C"/>
                    </a:solidFill>
                  </a:tcPr>
                </a:tc>
                <a:extLst>
                  <a:ext uri="{0D108BD9-81ED-4DB2-BD59-A6C34878D82A}">
                    <a16:rowId xmlns:a16="http://schemas.microsoft.com/office/drawing/2014/main" val="10000"/>
                  </a:ext>
                </a:extLst>
              </a:tr>
              <a:tr h="384048">
                <a:tc>
                  <a:txBody>
                    <a:bodyPr/>
                    <a:lstStyle/>
                    <a:p>
                      <a:pPr algn="l"/>
                      <a:r>
                        <a:rPr sz="1200" b="0">
                          <a:solidFill>
                            <a:srgbClr val="0D1B2A"/>
                          </a:solidFill>
                          <a:latin typeface="Calibri"/>
                        </a:rPr>
                        <a:t>Speech - Language</a:t>
                      </a:r>
                    </a:p>
                  </a:txBody>
                  <a:tcPr marL="82296" marR="82296" marT="18288" marB="18288" anchor="ctr">
                    <a:solidFill>
                      <a:srgbClr val="FFFFFF"/>
                    </a:solidFill>
                  </a:tcPr>
                </a:tc>
                <a:tc>
                  <a:txBody>
                    <a:bodyPr/>
                    <a:lstStyle/>
                    <a:p>
                      <a:pPr algn="r"/>
                      <a:r>
                        <a:rPr sz="1200" b="0">
                          <a:solidFill>
                            <a:srgbClr val="0D1B2A"/>
                          </a:solidFill>
                          <a:latin typeface="Calibri"/>
                        </a:rPr>
                        <a:t>9</a:t>
                      </a:r>
                    </a:p>
                  </a:txBody>
                  <a:tcPr marL="82296" marR="82296" marT="18288" marB="18288" anchor="ctr">
                    <a:solidFill>
                      <a:srgbClr val="FFFFFF"/>
                    </a:solidFill>
                  </a:tcPr>
                </a:tc>
                <a:extLst>
                  <a:ext uri="{0D108BD9-81ED-4DB2-BD59-A6C34878D82A}">
                    <a16:rowId xmlns:a16="http://schemas.microsoft.com/office/drawing/2014/main" val="10001"/>
                  </a:ext>
                </a:extLst>
              </a:tr>
              <a:tr h="384048">
                <a:tc>
                  <a:txBody>
                    <a:bodyPr/>
                    <a:lstStyle/>
                    <a:p>
                      <a:pPr algn="l"/>
                      <a:r>
                        <a:rPr sz="1200" b="0">
                          <a:solidFill>
                            <a:srgbClr val="0D1B2A"/>
                          </a:solidFill>
                          <a:latin typeface="Calibri"/>
                        </a:rPr>
                        <a:t>Autopsy</a:t>
                      </a:r>
                    </a:p>
                  </a:txBody>
                  <a:tcPr marL="82296" marR="82296" marT="18288" marB="18288" anchor="ctr">
                    <a:solidFill>
                      <a:srgbClr val="F1F5F9"/>
                    </a:solidFill>
                  </a:tcPr>
                </a:tc>
                <a:tc>
                  <a:txBody>
                    <a:bodyPr/>
                    <a:lstStyle/>
                    <a:p>
                      <a:pPr algn="r"/>
                      <a:r>
                        <a:rPr sz="1200" b="0">
                          <a:solidFill>
                            <a:srgbClr val="0D1B2A"/>
                          </a:solidFill>
                          <a:latin typeface="Calibri"/>
                        </a:rPr>
                        <a:t>8</a:t>
                      </a:r>
                    </a:p>
                  </a:txBody>
                  <a:tcPr marL="82296" marR="82296" marT="18288" marB="18288" anchor="ctr">
                    <a:solidFill>
                      <a:srgbClr val="F1F5F9"/>
                    </a:solidFill>
                  </a:tcPr>
                </a:tc>
                <a:extLst>
                  <a:ext uri="{0D108BD9-81ED-4DB2-BD59-A6C34878D82A}">
                    <a16:rowId xmlns:a16="http://schemas.microsoft.com/office/drawing/2014/main" val="10002"/>
                  </a:ext>
                </a:extLst>
              </a:tr>
              <a:tr h="384048">
                <a:tc>
                  <a:txBody>
                    <a:bodyPr/>
                    <a:lstStyle/>
                    <a:p>
                      <a:pPr algn="l"/>
                      <a:r>
                        <a:rPr sz="1200" b="0">
                          <a:solidFill>
                            <a:srgbClr val="0D1B2A"/>
                          </a:solidFill>
                          <a:latin typeface="Calibri"/>
                        </a:rPr>
                        <a:t>Lab Medicine - Pathology</a:t>
                      </a:r>
                    </a:p>
                  </a:txBody>
                  <a:tcPr marL="82296" marR="82296" marT="18288" marB="18288" anchor="ctr">
                    <a:solidFill>
                      <a:srgbClr val="FFFFFF"/>
                    </a:solidFill>
                  </a:tcPr>
                </a:tc>
                <a:tc>
                  <a:txBody>
                    <a:bodyPr/>
                    <a:lstStyle/>
                    <a:p>
                      <a:pPr algn="r"/>
                      <a:r>
                        <a:rPr sz="1200" b="0">
                          <a:solidFill>
                            <a:srgbClr val="0D1B2A"/>
                          </a:solidFill>
                          <a:latin typeface="Calibri"/>
                        </a:rPr>
                        <a:t>8</a:t>
                      </a:r>
                    </a:p>
                  </a:txBody>
                  <a:tcPr marL="82296" marR="82296" marT="18288" marB="18288" anchor="ctr">
                    <a:solidFill>
                      <a:srgbClr val="FFFFFF"/>
                    </a:solidFill>
                  </a:tcPr>
                </a:tc>
                <a:extLst>
                  <a:ext uri="{0D108BD9-81ED-4DB2-BD59-A6C34878D82A}">
                    <a16:rowId xmlns:a16="http://schemas.microsoft.com/office/drawing/2014/main" val="10003"/>
                  </a:ext>
                </a:extLst>
              </a:tr>
              <a:tr h="384048">
                <a:tc>
                  <a:txBody>
                    <a:bodyPr/>
                    <a:lstStyle/>
                    <a:p>
                      <a:pPr algn="l"/>
                      <a:r>
                        <a:rPr sz="1200" b="0">
                          <a:solidFill>
                            <a:srgbClr val="0D1B2A"/>
                          </a:solidFill>
                          <a:latin typeface="Calibri"/>
                        </a:rPr>
                        <a:t>Allergy / Immunology</a:t>
                      </a:r>
                    </a:p>
                  </a:txBody>
                  <a:tcPr marL="82296" marR="82296" marT="18288" marB="18288" anchor="ctr">
                    <a:solidFill>
                      <a:srgbClr val="F1F5F9"/>
                    </a:solidFill>
                  </a:tcPr>
                </a:tc>
                <a:tc>
                  <a:txBody>
                    <a:bodyPr/>
                    <a:lstStyle/>
                    <a:p>
                      <a:pPr algn="r"/>
                      <a:r>
                        <a:rPr sz="1200" b="0">
                          <a:solidFill>
                            <a:srgbClr val="0D1B2A"/>
                          </a:solidFill>
                          <a:latin typeface="Calibri"/>
                        </a:rPr>
                        <a:t>7</a:t>
                      </a:r>
                    </a:p>
                  </a:txBody>
                  <a:tcPr marL="82296" marR="82296" marT="18288" marB="18288" anchor="ctr">
                    <a:solidFill>
                      <a:srgbClr val="F1F5F9"/>
                    </a:solidFill>
                  </a:tcPr>
                </a:tc>
                <a:extLst>
                  <a:ext uri="{0D108BD9-81ED-4DB2-BD59-A6C34878D82A}">
                    <a16:rowId xmlns:a16="http://schemas.microsoft.com/office/drawing/2014/main" val="10004"/>
                  </a:ext>
                </a:extLst>
              </a:tr>
              <a:tr h="384048">
                <a:tc>
                  <a:txBody>
                    <a:bodyPr/>
                    <a:lstStyle/>
                    <a:p>
                      <a:pPr algn="l"/>
                      <a:r>
                        <a:rPr sz="1200" b="0">
                          <a:solidFill>
                            <a:srgbClr val="0D1B2A"/>
                          </a:solidFill>
                          <a:latin typeface="Calibri"/>
                        </a:rPr>
                        <a:t>Hospice - Palliative Care</a:t>
                      </a:r>
                    </a:p>
                  </a:txBody>
                  <a:tcPr marL="82296" marR="82296" marT="18288" marB="18288" anchor="ctr">
                    <a:solidFill>
                      <a:srgbClr val="FFFFFF"/>
                    </a:solidFill>
                  </a:tcPr>
                </a:tc>
                <a:tc>
                  <a:txBody>
                    <a:bodyPr/>
                    <a:lstStyle/>
                    <a:p>
                      <a:pPr algn="r"/>
                      <a:r>
                        <a:rPr sz="1200" b="0">
                          <a:solidFill>
                            <a:srgbClr val="0D1B2A"/>
                          </a:solidFill>
                          <a:latin typeface="Calibri"/>
                        </a:rPr>
                        <a:t>6</a:t>
                      </a:r>
                    </a:p>
                  </a:txBody>
                  <a:tcPr marL="82296" marR="82296"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583679" y="2240280"/>
            <a:ext cx="5059375" cy="1463040"/>
          </a:xfrm>
          <a:prstGeom prst="rect">
            <a:avLst/>
          </a:prstGeom>
          <a:noFill/>
        </p:spPr>
        <p:txBody>
          <a:bodyPr wrap="square" lIns="0" tIns="0" rIns="0" bIns="0" anchor="t">
            <a:spAutoFit/>
          </a:bodyPr>
          <a:lstStyle/>
          <a:p>
            <a:pPr algn="l">
              <a:spcAft>
                <a:spcPts val="500"/>
              </a:spcAft>
            </a:pPr>
            <a:r>
              <a:rPr sz="1400" b="1" i="0">
                <a:solidFill>
                  <a:srgbClr val="0D1B2A"/>
                </a:solidFill>
                <a:latin typeface="Calibri"/>
              </a:rPr>
              <a:t>Statistical problems</a:t>
            </a:r>
          </a:p>
          <a:p>
            <a:pPr marL="274320" indent="-228600" algn="l">
              <a:lnSpc>
                <a:spcPct val="105000"/>
              </a:lnSpc>
              <a:spcAft>
                <a:spcPts val="400"/>
              </a:spcAft>
              <a:buClr>
                <a:srgbClr val="B91C1C"/>
              </a:buClr>
              <a:buFont typeface="Arial"/>
              <a:buChar char="•"/>
            </a:pPr>
            <a:r>
              <a:rPr sz="1250" b="0" i="0">
                <a:solidFill>
                  <a:srgbClr val="0D1B2A"/>
                </a:solidFill>
                <a:latin typeface="Calibri"/>
              </a:rPr>
              <a:t>Stratified train/test split becomes unreliable</a:t>
            </a:r>
          </a:p>
          <a:p>
            <a:pPr marL="274320" indent="-228600" algn="l">
              <a:lnSpc>
                <a:spcPct val="105000"/>
              </a:lnSpc>
              <a:spcAft>
                <a:spcPts val="400"/>
              </a:spcAft>
              <a:buClr>
                <a:srgbClr val="B91C1C"/>
              </a:buClr>
              <a:buFont typeface="Arial"/>
              <a:buChar char="•"/>
            </a:pPr>
            <a:r>
              <a:rPr sz="1250" b="0" i="0">
                <a:solidFill>
                  <a:srgbClr val="0D1B2A"/>
                </a:solidFill>
                <a:latin typeface="Calibri"/>
              </a:rPr>
              <a:t>6–9 examples can't teach a generalizable pattern</a:t>
            </a:r>
          </a:p>
          <a:p>
            <a:pPr marL="274320" indent="-228600" algn="l">
              <a:lnSpc>
                <a:spcPct val="105000"/>
              </a:lnSpc>
              <a:spcAft>
                <a:spcPts val="400"/>
              </a:spcAft>
              <a:buClr>
                <a:srgbClr val="B91C1C"/>
              </a:buClr>
              <a:buFont typeface="Arial"/>
              <a:buChar char="•"/>
            </a:pPr>
            <a:r>
              <a:rPr sz="1250" b="0" i="0">
                <a:solidFill>
                  <a:srgbClr val="0D1B2A"/>
                </a:solidFill>
                <a:latin typeface="Calibri"/>
              </a:rPr>
              <a:t>Cross-validation is impossible at this size</a:t>
            </a:r>
          </a:p>
        </p:txBody>
      </p:sp>
      <p:sp>
        <p:nvSpPr>
          <p:cNvPr id="8" name="Rounded Rectangle 7"/>
          <p:cNvSpPr/>
          <p:nvPr/>
        </p:nvSpPr>
        <p:spPr>
          <a:xfrm>
            <a:off x="6583679" y="4114800"/>
            <a:ext cx="5059375" cy="1234440"/>
          </a:xfrm>
          <a:prstGeom prst="roundRect">
            <a:avLst>
              <a:gd name="adj" fmla="val 5000"/>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84847" y="4261104"/>
            <a:ext cx="4657039" cy="941832"/>
          </a:xfrm>
          <a:prstGeom prst="rect">
            <a:avLst/>
          </a:prstGeom>
          <a:noFill/>
        </p:spPr>
        <p:txBody>
          <a:bodyPr wrap="square" lIns="0" tIns="0" rIns="0" bIns="0" anchor="t">
            <a:spAutoFit/>
          </a:bodyPr>
          <a:lstStyle/>
          <a:p>
            <a:pPr algn="l">
              <a:lnSpc>
                <a:spcPct val="105000"/>
              </a:lnSpc>
              <a:spcAft>
                <a:spcPts val="100"/>
              </a:spcAft>
            </a:pPr>
            <a:r>
              <a:rPr sz="1130" b="0" i="0">
                <a:solidFill>
                  <a:srgbClr val="6EE7B7"/>
                </a:solidFill>
                <a:latin typeface="Courier New"/>
              </a:rPr>
              <a:t>80/20 split on 6 notes:</a:t>
            </a:r>
          </a:p>
          <a:p>
            <a:pPr algn="l">
              <a:lnSpc>
                <a:spcPct val="105000"/>
              </a:lnSpc>
              <a:spcAft>
                <a:spcPts val="100"/>
              </a:spcAft>
            </a:pPr>
            <a:r>
              <a:rPr sz="1130" b="0" i="0">
                <a:solidFill>
                  <a:srgbClr val="7DD3FC"/>
                </a:solidFill>
                <a:latin typeface="Courier New"/>
              </a:rPr>
              <a:t>= 4.8 train / 1.2 test</a:t>
            </a:r>
          </a:p>
          <a:p>
            <a:pPr algn="l">
              <a:lnSpc>
                <a:spcPct val="105000"/>
              </a:lnSpc>
              <a:spcAft>
                <a:spcPts val="100"/>
              </a:spcAft>
            </a:pPr>
            <a:r>
              <a:rPr sz="1130" b="0" i="0">
                <a:solidFill>
                  <a:srgbClr val="7DD3FC"/>
                </a:solidFill>
                <a:latin typeface="Courier New"/>
              </a:rPr>
              <a:t>model sees &lt;=5 examples -&gt; can't learn</a:t>
            </a:r>
          </a:p>
        </p:txBody>
      </p:sp>
    </p:spTree>
    <p:extLst>
      <p:ext uri="{BB962C8B-B14F-4D97-AF65-F5344CB8AC3E}">
        <p14:creationId xmlns:p14="http://schemas.microsoft.com/office/powerpoint/2010/main" val="2792634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892807" cy="329184"/>
          </a:xfrm>
          <a:prstGeom prst="rect">
            <a:avLst/>
          </a:prstGeom>
          <a:noFill/>
        </p:spPr>
        <p:txBody>
          <a:bodyPr wrap="square" lIns="0" tIns="0" rIns="0" bIns="0" anchor="ctr">
            <a:spAutoFit/>
          </a:bodyPr>
          <a:lstStyle/>
          <a:p>
            <a:pPr algn="ctr">
              <a:spcAft>
                <a:spcPts val="0"/>
              </a:spcAft>
            </a:pPr>
            <a:r>
              <a:rPr sz="1000" b="1" i="0">
                <a:solidFill>
                  <a:srgbClr val="FFFFFF"/>
                </a:solidFill>
                <a:latin typeface="Calibri"/>
              </a:rPr>
              <a:t>PHASE 1</a:t>
            </a:r>
          </a:p>
        </p:txBody>
      </p:sp>
      <p:sp>
        <p:nvSpPr>
          <p:cNvPr id="4" name="TextBox 3"/>
          <p:cNvSpPr txBox="1"/>
          <p:nvPr/>
        </p:nvSpPr>
        <p:spPr>
          <a:xfrm>
            <a:off x="548640" y="676656"/>
            <a:ext cx="11094415" cy="868680"/>
          </a:xfrm>
          <a:prstGeom prst="rect">
            <a:avLst/>
          </a:prstGeom>
          <a:noFill/>
        </p:spPr>
        <p:txBody>
          <a:bodyPr wrap="square" lIns="0" tIns="0" rIns="0" bIns="0" anchor="ctr">
            <a:spAutoFit/>
          </a:bodyPr>
          <a:lstStyle/>
          <a:p>
            <a:pPr algn="l">
              <a:spcAft>
                <a:spcPts val="0"/>
              </a:spcAft>
            </a:pPr>
            <a:r>
              <a:rPr sz="3100" b="1" i="0">
                <a:solidFill>
                  <a:srgbClr val="0D1B2A"/>
                </a:solidFill>
                <a:latin typeface="Cambria"/>
              </a:rPr>
              <a:t>Step-by-Step: How We Cleaned the Data</a:t>
            </a:r>
          </a:p>
        </p:txBody>
      </p:sp>
      <p:sp>
        <p:nvSpPr>
          <p:cNvPr id="5" name="TextBox 4"/>
          <p:cNvSpPr txBox="1"/>
          <p:nvPr/>
        </p:nvSpPr>
        <p:spPr>
          <a:xfrm>
            <a:off x="548640" y="1591056"/>
            <a:ext cx="11094415" cy="457200"/>
          </a:xfrm>
          <a:prstGeom prst="rect">
            <a:avLst/>
          </a:prstGeom>
          <a:noFill/>
        </p:spPr>
        <p:txBody>
          <a:bodyPr wrap="square" lIns="0" tIns="0" rIns="0" bIns="0" anchor="ctr">
            <a:spAutoFit/>
          </a:bodyPr>
          <a:lstStyle/>
          <a:p>
            <a:pPr algn="l">
              <a:spcAft>
                <a:spcPts val="0"/>
              </a:spcAft>
            </a:pPr>
            <a:r>
              <a:rPr sz="1450" b="0" i="0">
                <a:solidFill>
                  <a:srgbClr val="64748B"/>
                </a:solidFill>
                <a:latin typeface="Calibri"/>
              </a:rPr>
              <a:t>Six ordered filters take 4,999 rows down to 2,586.</a:t>
            </a:r>
          </a:p>
        </p:txBody>
      </p:sp>
      <p:pic>
        <p:nvPicPr>
          <p:cNvPr id="6" name="Picture 5" descr="waterfall.png"/>
          <p:cNvPicPr>
            <a:picLocks noChangeAspect="1"/>
          </p:cNvPicPr>
          <p:nvPr/>
        </p:nvPicPr>
        <p:blipFill>
          <a:blip r:embed="rId3"/>
          <a:stretch>
            <a:fillRect/>
          </a:stretch>
        </p:blipFill>
        <p:spPr>
          <a:xfrm>
            <a:off x="548640" y="2148840"/>
            <a:ext cx="6766560" cy="3421344"/>
          </a:xfrm>
          <a:prstGeom prst="rect">
            <a:avLst/>
          </a:prstGeom>
        </p:spPr>
      </p:pic>
      <p:sp>
        <p:nvSpPr>
          <p:cNvPr id="7" name="TextBox 6"/>
          <p:cNvSpPr txBox="1"/>
          <p:nvPr/>
        </p:nvSpPr>
        <p:spPr>
          <a:xfrm>
            <a:off x="7589520" y="2194560"/>
            <a:ext cx="4053535" cy="4114800"/>
          </a:xfrm>
          <a:prstGeom prst="rect">
            <a:avLst/>
          </a:prstGeom>
          <a:noFill/>
        </p:spPr>
        <p:txBody>
          <a:bodyPr wrap="square" lIns="0" tIns="0" rIns="0" bIns="0" anchor="t">
            <a:spAutoFit/>
          </a:bodyPr>
          <a:lstStyle/>
          <a:p>
            <a:pPr algn="l">
              <a:lnSpc>
                <a:spcPct val="100000"/>
              </a:lnSpc>
              <a:spcAft>
                <a:spcPts val="0"/>
              </a:spcAft>
            </a:pPr>
            <a:r>
              <a:rPr sz="1250" b="1" i="0">
                <a:solidFill>
                  <a:srgbClr val="0E7C7B"/>
                </a:solidFill>
                <a:latin typeface="Calibri"/>
              </a:rPr>
              <a:t>1  Null removal</a:t>
            </a:r>
          </a:p>
          <a:p>
            <a:pPr algn="l">
              <a:lnSpc>
                <a:spcPct val="100000"/>
              </a:lnSpc>
              <a:spcAft>
                <a:spcPts val="800"/>
              </a:spcAft>
            </a:pPr>
            <a:r>
              <a:rPr sz="1150" b="0" i="0">
                <a:solidFill>
                  <a:srgbClr val="64748B"/>
                </a:solidFill>
                <a:latin typeface="Courier New"/>
              </a:rPr>
              <a:t>4,999 → 4,966</a:t>
            </a:r>
          </a:p>
          <a:p>
            <a:pPr algn="l">
              <a:lnSpc>
                <a:spcPct val="100000"/>
              </a:lnSpc>
              <a:spcAft>
                <a:spcPts val="0"/>
              </a:spcAft>
            </a:pPr>
            <a:r>
              <a:rPr sz="1250" b="1" i="0">
                <a:solidFill>
                  <a:srgbClr val="64748B"/>
                </a:solidFill>
                <a:latin typeface="Calibri"/>
              </a:rPr>
              <a:t>2  Whitespace normalize</a:t>
            </a:r>
          </a:p>
          <a:p>
            <a:pPr algn="l">
              <a:lnSpc>
                <a:spcPct val="100000"/>
              </a:lnSpc>
              <a:spcAft>
                <a:spcPts val="800"/>
              </a:spcAft>
            </a:pPr>
            <a:r>
              <a:rPr sz="1150" b="0" i="0">
                <a:solidFill>
                  <a:srgbClr val="64748B"/>
                </a:solidFill>
                <a:latin typeface="Courier New"/>
              </a:rPr>
              <a:t>consistent matching</a:t>
            </a:r>
          </a:p>
          <a:p>
            <a:pPr algn="l">
              <a:lnSpc>
                <a:spcPct val="100000"/>
              </a:lnSpc>
              <a:spcAft>
                <a:spcPts val="0"/>
              </a:spcAft>
            </a:pPr>
            <a:r>
              <a:rPr sz="1250" b="1" i="0">
                <a:solidFill>
                  <a:srgbClr val="0E7C7B"/>
                </a:solidFill>
                <a:latin typeface="Calibri"/>
              </a:rPr>
              <a:t>3  Duplicate removal</a:t>
            </a:r>
          </a:p>
          <a:p>
            <a:pPr algn="l">
              <a:lnSpc>
                <a:spcPct val="100000"/>
              </a:lnSpc>
              <a:spcAft>
                <a:spcPts val="800"/>
              </a:spcAft>
            </a:pPr>
            <a:r>
              <a:rPr sz="1150" b="0" i="0">
                <a:solidFill>
                  <a:srgbClr val="64748B"/>
                </a:solidFill>
                <a:latin typeface="Courier New"/>
              </a:rPr>
              <a:t>4,966 → 4,964</a:t>
            </a:r>
          </a:p>
          <a:p>
            <a:pPr algn="l">
              <a:lnSpc>
                <a:spcPct val="100000"/>
              </a:lnSpc>
              <a:spcAft>
                <a:spcPts val="0"/>
              </a:spcAft>
            </a:pPr>
            <a:r>
              <a:rPr sz="1250" b="1" i="0">
                <a:solidFill>
                  <a:srgbClr val="0E7C7B"/>
                </a:solidFill>
                <a:latin typeface="Calibri"/>
              </a:rPr>
              <a:t>4  Length filter (&lt;100)</a:t>
            </a:r>
          </a:p>
          <a:p>
            <a:pPr algn="l">
              <a:lnSpc>
                <a:spcPct val="100000"/>
              </a:lnSpc>
              <a:spcAft>
                <a:spcPts val="800"/>
              </a:spcAft>
            </a:pPr>
            <a:r>
              <a:rPr sz="1150" b="0" i="0">
                <a:solidFill>
                  <a:srgbClr val="64748B"/>
                </a:solidFill>
                <a:latin typeface="Courier New"/>
              </a:rPr>
              <a:t>4,964 → 4,920</a:t>
            </a:r>
          </a:p>
          <a:p>
            <a:pPr algn="l">
              <a:lnSpc>
                <a:spcPct val="100000"/>
              </a:lnSpc>
              <a:spcAft>
                <a:spcPts val="0"/>
              </a:spcAft>
            </a:pPr>
            <a:r>
              <a:rPr sz="1250" b="1" i="0">
                <a:solidFill>
                  <a:srgbClr val="B45309"/>
                </a:solidFill>
                <a:latin typeface="Calibri"/>
              </a:rPr>
              <a:t>5  Non-specialty removal</a:t>
            </a:r>
          </a:p>
          <a:p>
            <a:pPr algn="l">
              <a:lnSpc>
                <a:spcPct val="100000"/>
              </a:lnSpc>
              <a:spcAft>
                <a:spcPts val="800"/>
              </a:spcAft>
            </a:pPr>
            <a:r>
              <a:rPr sz="1150" b="0" i="0">
                <a:solidFill>
                  <a:srgbClr val="64748B"/>
                </a:solidFill>
                <a:latin typeface="Courier New"/>
              </a:rPr>
              <a:t>4,920 → 2,623</a:t>
            </a:r>
          </a:p>
          <a:p>
            <a:pPr algn="l">
              <a:lnSpc>
                <a:spcPct val="100000"/>
              </a:lnSpc>
              <a:spcAft>
                <a:spcPts val="0"/>
              </a:spcAft>
            </a:pPr>
            <a:r>
              <a:rPr sz="1250" b="1" i="0">
                <a:solidFill>
                  <a:srgbClr val="B91C1C"/>
                </a:solidFill>
                <a:latin typeface="Calibri"/>
              </a:rPr>
              <a:t>6  Rare-class removal</a:t>
            </a:r>
          </a:p>
          <a:p>
            <a:pPr algn="l">
              <a:lnSpc>
                <a:spcPct val="100000"/>
              </a:lnSpc>
              <a:spcAft>
                <a:spcPts val="0"/>
              </a:spcAft>
            </a:pPr>
            <a:r>
              <a:rPr sz="1150" b="0" i="0">
                <a:solidFill>
                  <a:srgbClr val="64748B"/>
                </a:solidFill>
                <a:latin typeface="Courier New"/>
              </a:rPr>
              <a:t>2,623 → 2,586</a:t>
            </a:r>
          </a:p>
        </p:txBody>
      </p:sp>
    </p:spTree>
    <p:extLst>
      <p:ext uri="{BB962C8B-B14F-4D97-AF65-F5344CB8AC3E}">
        <p14:creationId xmlns:p14="http://schemas.microsoft.com/office/powerpoint/2010/main" val="2929772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892807" cy="329184"/>
          </a:xfrm>
          <a:prstGeom prst="rect">
            <a:avLst/>
          </a:prstGeom>
          <a:noFill/>
        </p:spPr>
        <p:txBody>
          <a:bodyPr wrap="square" lIns="0" tIns="0" rIns="0" bIns="0" anchor="ctr">
            <a:spAutoFit/>
          </a:bodyPr>
          <a:lstStyle/>
          <a:p>
            <a:pPr algn="ctr">
              <a:spcAft>
                <a:spcPts val="0"/>
              </a:spcAft>
            </a:pPr>
            <a:r>
              <a:rPr sz="1000" b="1" i="0">
                <a:solidFill>
                  <a:srgbClr val="FFFFFF"/>
                </a:solidFill>
                <a:latin typeface="Calibri"/>
              </a:rPr>
              <a:t>PHASE 1</a:t>
            </a:r>
          </a:p>
        </p:txBody>
      </p:sp>
      <p:sp>
        <p:nvSpPr>
          <p:cNvPr id="4" name="TextBox 3"/>
          <p:cNvSpPr txBox="1"/>
          <p:nvPr/>
        </p:nvSpPr>
        <p:spPr>
          <a:xfrm>
            <a:off x="548640" y="676656"/>
            <a:ext cx="11094415" cy="868680"/>
          </a:xfrm>
          <a:prstGeom prst="rect">
            <a:avLst/>
          </a:prstGeom>
          <a:noFill/>
        </p:spPr>
        <p:txBody>
          <a:bodyPr wrap="square" lIns="0" tIns="0" rIns="0" bIns="0" anchor="ctr">
            <a:spAutoFit/>
          </a:bodyPr>
          <a:lstStyle/>
          <a:p>
            <a:pPr algn="l">
              <a:spcAft>
                <a:spcPts val="0"/>
              </a:spcAft>
            </a:pPr>
            <a:r>
              <a:rPr sz="3100" b="1" i="0">
                <a:solidFill>
                  <a:srgbClr val="0D1B2A"/>
                </a:solidFill>
                <a:latin typeface="Cambria"/>
              </a:rPr>
              <a:t>What We Have Now: The Clean Dataset</a:t>
            </a:r>
          </a:p>
        </p:txBody>
      </p:sp>
      <p:sp>
        <p:nvSpPr>
          <p:cNvPr id="5" name="TextBox 4"/>
          <p:cNvSpPr txBox="1"/>
          <p:nvPr/>
        </p:nvSpPr>
        <p:spPr>
          <a:xfrm>
            <a:off x="548640" y="1591056"/>
            <a:ext cx="11094415" cy="457200"/>
          </a:xfrm>
          <a:prstGeom prst="rect">
            <a:avLst/>
          </a:prstGeom>
          <a:noFill/>
        </p:spPr>
        <p:txBody>
          <a:bodyPr wrap="square" lIns="0" tIns="0" rIns="0" bIns="0" anchor="ctr">
            <a:spAutoFit/>
          </a:bodyPr>
          <a:lstStyle/>
          <a:p>
            <a:pPr algn="l">
              <a:spcAft>
                <a:spcPts val="0"/>
              </a:spcAft>
            </a:pPr>
            <a:r>
              <a:rPr sz="1450" b="0" i="0">
                <a:solidFill>
                  <a:srgbClr val="64748B"/>
                </a:solidFill>
                <a:latin typeface="Calibri"/>
              </a:rPr>
              <a:t>2,586 notes across 26 trainable specialties.</a:t>
            </a:r>
          </a:p>
        </p:txBody>
      </p:sp>
      <p:sp>
        <p:nvSpPr>
          <p:cNvPr id="6" name="Rounded Rectangle 5"/>
          <p:cNvSpPr/>
          <p:nvPr/>
        </p:nvSpPr>
        <p:spPr>
          <a:xfrm>
            <a:off x="548640" y="2194560"/>
            <a:ext cx="5385955" cy="4343400"/>
          </a:xfrm>
          <a:prstGeom prst="roundRect">
            <a:avLst>
              <a:gd name="adj" fmla="val 3500"/>
            </a:avLst>
          </a:prstGeom>
          <a:solidFill>
            <a:srgbClr val="FFFFFF"/>
          </a:solidFill>
          <a:ln w="12700">
            <a:solidFill>
              <a:srgbClr val="E2E8F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pecialty_counts.png"/>
          <p:cNvPicPr>
            <a:picLocks noChangeAspect="1"/>
          </p:cNvPicPr>
          <p:nvPr/>
        </p:nvPicPr>
        <p:blipFill>
          <a:blip r:embed="rId3"/>
          <a:stretch>
            <a:fillRect/>
          </a:stretch>
        </p:blipFill>
        <p:spPr>
          <a:xfrm>
            <a:off x="676656" y="2322576"/>
            <a:ext cx="5129923" cy="4087368"/>
          </a:xfrm>
          <a:prstGeom prst="rect">
            <a:avLst/>
          </a:prstGeom>
        </p:spPr>
      </p:pic>
      <p:sp>
        <p:nvSpPr>
          <p:cNvPr id="8" name="TextBox 7"/>
          <p:cNvSpPr txBox="1"/>
          <p:nvPr/>
        </p:nvSpPr>
        <p:spPr>
          <a:xfrm>
            <a:off x="6766559" y="2240280"/>
            <a:ext cx="4876495" cy="457200"/>
          </a:xfrm>
          <a:prstGeom prst="rect">
            <a:avLst/>
          </a:prstGeom>
          <a:noFill/>
        </p:spPr>
        <p:txBody>
          <a:bodyPr wrap="square" lIns="0" tIns="0" rIns="0" bIns="0" anchor="t">
            <a:spAutoFit/>
          </a:bodyPr>
          <a:lstStyle/>
          <a:p>
            <a:pPr algn="l">
              <a:spcAft>
                <a:spcPts val="0"/>
              </a:spcAft>
            </a:pPr>
            <a:r>
              <a:rPr sz="1400" b="1" i="0">
                <a:solidFill>
                  <a:srgbClr val="0E7C7B"/>
                </a:solidFill>
                <a:latin typeface="Calibri"/>
              </a:rPr>
              <a:t>Quality improvements</a:t>
            </a:r>
          </a:p>
        </p:txBody>
      </p:sp>
      <p:sp>
        <p:nvSpPr>
          <p:cNvPr id="9" name="TextBox 8"/>
          <p:cNvSpPr txBox="1"/>
          <p:nvPr/>
        </p:nvSpPr>
        <p:spPr>
          <a:xfrm>
            <a:off x="6766559" y="2697480"/>
            <a:ext cx="4876495" cy="3108960"/>
          </a:xfrm>
          <a:prstGeom prst="rect">
            <a:avLst/>
          </a:prstGeom>
          <a:noFill/>
        </p:spPr>
        <p:txBody>
          <a:bodyPr wrap="square" lIns="0" tIns="0" rIns="0" bIns="0" anchor="t">
            <a:spAutoFit/>
          </a:bodyPr>
          <a:lstStyle/>
          <a:p>
            <a:pPr marL="274320" indent="-228600" algn="l">
              <a:lnSpc>
                <a:spcPct val="106000"/>
              </a:lnSpc>
              <a:spcAft>
                <a:spcPts val="600"/>
              </a:spcAft>
              <a:buClr>
                <a:srgbClr val="047857"/>
              </a:buClr>
              <a:buFont typeface="Arial"/>
              <a:buChar char="✓"/>
            </a:pPr>
            <a:r>
              <a:rPr sz="1250" b="0" i="0">
                <a:solidFill>
                  <a:srgbClr val="0D1B2A"/>
                </a:solidFill>
                <a:latin typeface="Calibri"/>
              </a:rPr>
              <a:t>No nulls in key columns</a:t>
            </a:r>
          </a:p>
          <a:p>
            <a:pPr marL="274320" indent="-228600" algn="l">
              <a:lnSpc>
                <a:spcPct val="106000"/>
              </a:lnSpc>
              <a:spcAft>
                <a:spcPts val="600"/>
              </a:spcAft>
              <a:buClr>
                <a:srgbClr val="047857"/>
              </a:buClr>
              <a:buFont typeface="Arial"/>
              <a:buChar char="✓"/>
            </a:pPr>
            <a:r>
              <a:rPr sz="1250" b="0" i="0">
                <a:solidFill>
                  <a:srgbClr val="0D1B2A"/>
                </a:solidFill>
                <a:latin typeface="Calibri"/>
              </a:rPr>
              <a:t>No exact duplicates</a:t>
            </a:r>
          </a:p>
          <a:p>
            <a:pPr marL="274320" indent="-228600" algn="l">
              <a:lnSpc>
                <a:spcPct val="106000"/>
              </a:lnSpc>
              <a:spcAft>
                <a:spcPts val="600"/>
              </a:spcAft>
              <a:buClr>
                <a:srgbClr val="047857"/>
              </a:buClr>
              <a:buFont typeface="Arial"/>
              <a:buChar char="✓"/>
            </a:pPr>
            <a:r>
              <a:rPr sz="1250" b="0" i="0">
                <a:solidFill>
                  <a:srgbClr val="0D1B2A"/>
                </a:solidFill>
                <a:latin typeface="Calibri"/>
              </a:rPr>
              <a:t>All notes ≥ 100 characters</a:t>
            </a:r>
          </a:p>
          <a:p>
            <a:pPr marL="274320" indent="-228600" algn="l">
              <a:lnSpc>
                <a:spcPct val="106000"/>
              </a:lnSpc>
              <a:spcAft>
                <a:spcPts val="600"/>
              </a:spcAft>
              <a:buClr>
                <a:srgbClr val="047857"/>
              </a:buClr>
              <a:buFont typeface="Arial"/>
              <a:buChar char="✓"/>
            </a:pPr>
            <a:r>
              <a:rPr sz="1250" b="0" i="0">
                <a:solidFill>
                  <a:srgbClr val="0D1B2A"/>
                </a:solidFill>
                <a:latin typeface="Calibri"/>
              </a:rPr>
              <a:t>All specialties ≥ 10 notes</a:t>
            </a:r>
          </a:p>
          <a:p>
            <a:pPr marL="274320" indent="-228600" algn="l">
              <a:lnSpc>
                <a:spcPct val="106000"/>
              </a:lnSpc>
              <a:spcAft>
                <a:spcPts val="600"/>
              </a:spcAft>
              <a:buClr>
                <a:srgbClr val="047857"/>
              </a:buClr>
              <a:buFont typeface="Arial"/>
              <a:buChar char="✓"/>
            </a:pPr>
            <a:r>
              <a:rPr sz="1250" b="0" i="0">
                <a:solidFill>
                  <a:srgbClr val="0D1B2A"/>
                </a:solidFill>
                <a:latin typeface="Calibri"/>
              </a:rPr>
              <a:t>Only true medical specialties</a:t>
            </a:r>
          </a:p>
          <a:p>
            <a:pPr algn="l">
              <a:spcBef>
                <a:spcPts val="800"/>
              </a:spcBef>
              <a:spcAft>
                <a:spcPts val="0"/>
              </a:spcAft>
            </a:pPr>
            <a:r>
              <a:rPr sz="1250" b="1" i="0">
                <a:solidFill>
                  <a:srgbClr val="0D1B2A"/>
                </a:solidFill>
                <a:latin typeface="Calibri"/>
              </a:rPr>
              <a:t>Imbalance ratio: </a:t>
            </a:r>
            <a:r>
              <a:rPr sz="1250" b="1" i="0">
                <a:solidFill>
                  <a:srgbClr val="B45309"/>
                </a:solidFill>
                <a:latin typeface="Calibri"/>
              </a:rPr>
              <a:t>36 : 1</a:t>
            </a:r>
          </a:p>
        </p:txBody>
      </p:sp>
    </p:spTree>
    <p:extLst>
      <p:ext uri="{BB962C8B-B14F-4D97-AF65-F5344CB8AC3E}">
        <p14:creationId xmlns:p14="http://schemas.microsoft.com/office/powerpoint/2010/main" val="330989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892807" cy="329184"/>
          </a:xfrm>
          <a:prstGeom prst="rect">
            <a:avLst/>
          </a:prstGeom>
          <a:noFill/>
        </p:spPr>
        <p:txBody>
          <a:bodyPr wrap="square" lIns="0" tIns="0" rIns="0" bIns="0" anchor="ctr">
            <a:spAutoFit/>
          </a:bodyPr>
          <a:lstStyle/>
          <a:p>
            <a:pPr algn="ctr">
              <a:spcAft>
                <a:spcPts val="0"/>
              </a:spcAft>
            </a:pPr>
            <a:r>
              <a:rPr sz="1000" b="1" i="0">
                <a:solidFill>
                  <a:srgbClr val="FFFFFF"/>
                </a:solidFill>
                <a:latin typeface="Calibri"/>
              </a:rPr>
              <a:t>PHASE 1</a:t>
            </a:r>
          </a:p>
        </p:txBody>
      </p:sp>
      <p:sp>
        <p:nvSpPr>
          <p:cNvPr id="4" name="TextBox 3"/>
          <p:cNvSpPr txBox="1"/>
          <p:nvPr/>
        </p:nvSpPr>
        <p:spPr>
          <a:xfrm>
            <a:off x="548640" y="676656"/>
            <a:ext cx="11094415" cy="868680"/>
          </a:xfrm>
          <a:prstGeom prst="rect">
            <a:avLst/>
          </a:prstGeom>
          <a:noFill/>
        </p:spPr>
        <p:txBody>
          <a:bodyPr wrap="square" lIns="0" tIns="0" rIns="0" bIns="0" anchor="ctr">
            <a:spAutoFit/>
          </a:bodyPr>
          <a:lstStyle/>
          <a:p>
            <a:pPr algn="l">
              <a:spcAft>
                <a:spcPts val="0"/>
              </a:spcAft>
            </a:pPr>
            <a:r>
              <a:rPr sz="3700" b="1" i="0">
                <a:solidFill>
                  <a:srgbClr val="0D1B2A"/>
                </a:solidFill>
                <a:latin typeface="Cambria"/>
              </a:rPr>
              <a:t>Phase 1.1 Cleaning Outcomes</a:t>
            </a:r>
          </a:p>
        </p:txBody>
      </p:sp>
      <p:sp>
        <p:nvSpPr>
          <p:cNvPr id="5" name="TextBox 4"/>
          <p:cNvSpPr txBox="1"/>
          <p:nvPr/>
        </p:nvSpPr>
        <p:spPr>
          <a:xfrm>
            <a:off x="548640" y="1591056"/>
            <a:ext cx="11094415" cy="457200"/>
          </a:xfrm>
          <a:prstGeom prst="rect">
            <a:avLst/>
          </a:prstGeom>
          <a:noFill/>
        </p:spPr>
        <p:txBody>
          <a:bodyPr wrap="square" lIns="0" tIns="0" rIns="0" bIns="0" anchor="ctr">
            <a:spAutoFit/>
          </a:bodyPr>
          <a:lstStyle/>
          <a:p>
            <a:pPr algn="l">
              <a:spcAft>
                <a:spcPts val="0"/>
              </a:spcAft>
            </a:pPr>
            <a:r>
              <a:rPr sz="1450" b="0" i="0">
                <a:solidFill>
                  <a:srgbClr val="64748B"/>
                </a:solidFill>
                <a:latin typeface="Calibri"/>
              </a:rPr>
              <a:t>Every row dropped had a data-driven justification.</a:t>
            </a:r>
          </a:p>
        </p:txBody>
      </p:sp>
      <p:sp>
        <p:nvSpPr>
          <p:cNvPr id="6" name="Rounded Rectangle 5"/>
          <p:cNvSpPr/>
          <p:nvPr/>
        </p:nvSpPr>
        <p:spPr>
          <a:xfrm>
            <a:off x="548640" y="2286000"/>
            <a:ext cx="2331720" cy="1051560"/>
          </a:xfrm>
          <a:prstGeom prst="roundRect">
            <a:avLst>
              <a:gd name="adj" fmla="val 6000"/>
            </a:avLst>
          </a:prstGeom>
          <a:solidFill>
            <a:srgbClr val="F1F5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2450592"/>
            <a:ext cx="2331720" cy="822960"/>
          </a:xfrm>
          <a:prstGeom prst="rect">
            <a:avLst/>
          </a:prstGeom>
          <a:noFill/>
        </p:spPr>
        <p:txBody>
          <a:bodyPr wrap="square" lIns="0" tIns="0" rIns="0" bIns="0" anchor="ctr">
            <a:spAutoFit/>
          </a:bodyPr>
          <a:lstStyle/>
          <a:p>
            <a:pPr algn="ctr">
              <a:spcAft>
                <a:spcPts val="0"/>
              </a:spcAft>
            </a:pPr>
            <a:r>
              <a:rPr sz="3000" b="1" i="0">
                <a:solidFill>
                  <a:srgbClr val="64748B"/>
                </a:solidFill>
                <a:latin typeface="Cambria"/>
              </a:rPr>
              <a:t>4,999</a:t>
            </a:r>
          </a:p>
          <a:p>
            <a:pPr algn="ctr">
              <a:spcAft>
                <a:spcPts val="0"/>
              </a:spcAft>
            </a:pPr>
            <a:r>
              <a:rPr sz="1100" b="0" i="0">
                <a:solidFill>
                  <a:srgbClr val="64748B"/>
                </a:solidFill>
                <a:latin typeface="Calibri"/>
              </a:rPr>
              <a:t>rows (raw)</a:t>
            </a:r>
          </a:p>
        </p:txBody>
      </p:sp>
      <p:sp>
        <p:nvSpPr>
          <p:cNvPr id="8" name="TextBox 7"/>
          <p:cNvSpPr txBox="1"/>
          <p:nvPr/>
        </p:nvSpPr>
        <p:spPr>
          <a:xfrm>
            <a:off x="2880360" y="2450592"/>
            <a:ext cx="822960" cy="822960"/>
          </a:xfrm>
          <a:prstGeom prst="rect">
            <a:avLst/>
          </a:prstGeom>
          <a:noFill/>
        </p:spPr>
        <p:txBody>
          <a:bodyPr wrap="square" lIns="0" tIns="0" rIns="0" bIns="0" anchor="ctr">
            <a:spAutoFit/>
          </a:bodyPr>
          <a:lstStyle/>
          <a:p>
            <a:pPr algn="ctr">
              <a:spcAft>
                <a:spcPts val="0"/>
              </a:spcAft>
            </a:pPr>
            <a:r>
              <a:rPr sz="2600" b="1" i="0">
                <a:solidFill>
                  <a:srgbClr val="0E7C7B"/>
                </a:solidFill>
                <a:latin typeface="Calibri"/>
              </a:rPr>
              <a:t>→</a:t>
            </a:r>
          </a:p>
        </p:txBody>
      </p:sp>
      <p:sp>
        <p:nvSpPr>
          <p:cNvPr id="9" name="Rounded Rectangle 8"/>
          <p:cNvSpPr/>
          <p:nvPr/>
        </p:nvSpPr>
        <p:spPr>
          <a:xfrm>
            <a:off x="3703320" y="2286000"/>
            <a:ext cx="2331720" cy="1051560"/>
          </a:xfrm>
          <a:prstGeom prst="roundRect">
            <a:avLst>
              <a:gd name="adj" fmla="val 6000"/>
            </a:avLst>
          </a:prstGeom>
          <a:solidFill>
            <a:srgbClr val="E0F7F6"/>
          </a:solidFill>
          <a:ln w="12700">
            <a:solidFill>
              <a:srgbClr val="0E7C7B"/>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703320" y="2450592"/>
            <a:ext cx="2331720" cy="822960"/>
          </a:xfrm>
          <a:prstGeom prst="rect">
            <a:avLst/>
          </a:prstGeom>
          <a:noFill/>
        </p:spPr>
        <p:txBody>
          <a:bodyPr wrap="square" lIns="0" tIns="0" rIns="0" bIns="0" anchor="ctr">
            <a:spAutoFit/>
          </a:bodyPr>
          <a:lstStyle/>
          <a:p>
            <a:pPr algn="ctr">
              <a:spcAft>
                <a:spcPts val="0"/>
              </a:spcAft>
            </a:pPr>
            <a:r>
              <a:rPr sz="3000" b="1" i="0">
                <a:solidFill>
                  <a:srgbClr val="0E7C7B"/>
                </a:solidFill>
                <a:latin typeface="Cambria"/>
              </a:rPr>
              <a:t>2,586</a:t>
            </a:r>
          </a:p>
          <a:p>
            <a:pPr algn="ctr">
              <a:spcAft>
                <a:spcPts val="0"/>
              </a:spcAft>
            </a:pPr>
            <a:r>
              <a:rPr sz="1100" b="0" i="0">
                <a:solidFill>
                  <a:srgbClr val="0E7C7B"/>
                </a:solidFill>
                <a:latin typeface="Calibri"/>
              </a:rPr>
              <a:t>rows (clean)</a:t>
            </a:r>
          </a:p>
        </p:txBody>
      </p:sp>
      <p:sp>
        <p:nvSpPr>
          <p:cNvPr id="11" name="Rounded Rectangle 10"/>
          <p:cNvSpPr/>
          <p:nvPr/>
        </p:nvSpPr>
        <p:spPr>
          <a:xfrm>
            <a:off x="6492240" y="2286000"/>
            <a:ext cx="2331720" cy="1051560"/>
          </a:xfrm>
          <a:prstGeom prst="roundRect">
            <a:avLst>
              <a:gd name="adj" fmla="val 6000"/>
            </a:avLst>
          </a:prstGeom>
          <a:solidFill>
            <a:srgbClr val="F1F5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2450592"/>
            <a:ext cx="2331720" cy="822960"/>
          </a:xfrm>
          <a:prstGeom prst="rect">
            <a:avLst/>
          </a:prstGeom>
          <a:noFill/>
        </p:spPr>
        <p:txBody>
          <a:bodyPr wrap="square" lIns="0" tIns="0" rIns="0" bIns="0" anchor="ctr">
            <a:spAutoFit/>
          </a:bodyPr>
          <a:lstStyle/>
          <a:p>
            <a:pPr algn="ctr">
              <a:spcAft>
                <a:spcPts val="0"/>
              </a:spcAft>
            </a:pPr>
            <a:r>
              <a:rPr sz="3000" b="1" i="0">
                <a:solidFill>
                  <a:srgbClr val="64748B"/>
                </a:solidFill>
                <a:latin typeface="Cambria"/>
              </a:rPr>
              <a:t>40</a:t>
            </a:r>
          </a:p>
          <a:p>
            <a:pPr algn="ctr">
              <a:spcAft>
                <a:spcPts val="0"/>
              </a:spcAft>
            </a:pPr>
            <a:r>
              <a:rPr sz="1100" b="0" i="0">
                <a:solidFill>
                  <a:srgbClr val="64748B"/>
                </a:solidFill>
                <a:latin typeface="Calibri"/>
              </a:rPr>
              <a:t>labels</a:t>
            </a:r>
          </a:p>
        </p:txBody>
      </p:sp>
      <p:sp>
        <p:nvSpPr>
          <p:cNvPr id="13" name="TextBox 12"/>
          <p:cNvSpPr txBox="1"/>
          <p:nvPr/>
        </p:nvSpPr>
        <p:spPr>
          <a:xfrm>
            <a:off x="8823959" y="2450592"/>
            <a:ext cx="822960" cy="822960"/>
          </a:xfrm>
          <a:prstGeom prst="rect">
            <a:avLst/>
          </a:prstGeom>
          <a:noFill/>
        </p:spPr>
        <p:txBody>
          <a:bodyPr wrap="square" lIns="0" tIns="0" rIns="0" bIns="0" anchor="ctr">
            <a:spAutoFit/>
          </a:bodyPr>
          <a:lstStyle/>
          <a:p>
            <a:pPr algn="ctr">
              <a:spcAft>
                <a:spcPts val="0"/>
              </a:spcAft>
            </a:pPr>
            <a:r>
              <a:rPr sz="2600" b="1" i="0">
                <a:solidFill>
                  <a:srgbClr val="0369A1"/>
                </a:solidFill>
                <a:latin typeface="Calibri"/>
              </a:rPr>
              <a:t>→</a:t>
            </a:r>
          </a:p>
        </p:txBody>
      </p:sp>
      <p:sp>
        <p:nvSpPr>
          <p:cNvPr id="14" name="Rounded Rectangle 13"/>
          <p:cNvSpPr/>
          <p:nvPr/>
        </p:nvSpPr>
        <p:spPr>
          <a:xfrm>
            <a:off x="9646919" y="2286000"/>
            <a:ext cx="2331720" cy="1051560"/>
          </a:xfrm>
          <a:prstGeom prst="roundRect">
            <a:avLst>
              <a:gd name="adj" fmla="val 6000"/>
            </a:avLst>
          </a:prstGeom>
          <a:solidFill>
            <a:srgbClr val="EFF6FF"/>
          </a:solidFill>
          <a:ln w="12700">
            <a:solidFill>
              <a:srgbClr val="0369A1"/>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46919" y="2450592"/>
            <a:ext cx="2331720" cy="822960"/>
          </a:xfrm>
          <a:prstGeom prst="rect">
            <a:avLst/>
          </a:prstGeom>
          <a:noFill/>
        </p:spPr>
        <p:txBody>
          <a:bodyPr wrap="square" lIns="0" tIns="0" rIns="0" bIns="0" anchor="ctr">
            <a:spAutoFit/>
          </a:bodyPr>
          <a:lstStyle/>
          <a:p>
            <a:pPr algn="ctr">
              <a:spcAft>
                <a:spcPts val="0"/>
              </a:spcAft>
            </a:pPr>
            <a:r>
              <a:rPr sz="3000" b="1" i="0">
                <a:solidFill>
                  <a:srgbClr val="0369A1"/>
                </a:solidFill>
                <a:latin typeface="Cambria"/>
              </a:rPr>
              <a:t>26</a:t>
            </a:r>
          </a:p>
          <a:p>
            <a:pPr algn="ctr">
              <a:spcAft>
                <a:spcPts val="0"/>
              </a:spcAft>
            </a:pPr>
            <a:r>
              <a:rPr sz="1100" b="0" i="0">
                <a:solidFill>
                  <a:srgbClr val="0369A1"/>
                </a:solidFill>
                <a:latin typeface="Calibri"/>
              </a:rPr>
              <a:t>specialties</a:t>
            </a:r>
          </a:p>
        </p:txBody>
      </p:sp>
      <p:sp>
        <p:nvSpPr>
          <p:cNvPr id="16" name="TextBox 15"/>
          <p:cNvSpPr txBox="1"/>
          <p:nvPr/>
        </p:nvSpPr>
        <p:spPr>
          <a:xfrm>
            <a:off x="548640" y="3520440"/>
            <a:ext cx="11094415" cy="365760"/>
          </a:xfrm>
          <a:prstGeom prst="rect">
            <a:avLst/>
          </a:prstGeom>
          <a:noFill/>
        </p:spPr>
        <p:txBody>
          <a:bodyPr wrap="square" lIns="0" tIns="0" rIns="0" bIns="0" anchor="t">
            <a:spAutoFit/>
          </a:bodyPr>
          <a:lstStyle/>
          <a:p>
            <a:pPr algn="l">
              <a:spcAft>
                <a:spcPts val="0"/>
              </a:spcAft>
            </a:pPr>
            <a:r>
              <a:rPr sz="1250" b="0" i="0">
                <a:solidFill>
                  <a:srgbClr val="64748B"/>
                </a:solidFill>
                <a:latin typeface="Calibri"/>
              </a:rPr>
              <a:t>48% fewer rows, 35% fewer labels — here's where they went:</a:t>
            </a:r>
          </a:p>
        </p:txBody>
      </p:sp>
      <p:graphicFrame>
        <p:nvGraphicFramePr>
          <p:cNvPr id="17" name="Table 16"/>
          <p:cNvGraphicFramePr>
            <a:graphicFrameLocks noGrp="1"/>
          </p:cNvGraphicFramePr>
          <p:nvPr/>
        </p:nvGraphicFramePr>
        <p:xfrm>
          <a:off x="548640" y="4023360"/>
          <a:ext cx="11091672" cy="2194560"/>
        </p:xfrm>
        <a:graphic>
          <a:graphicData uri="http://schemas.openxmlformats.org/drawingml/2006/table">
            <a:tbl>
              <a:tblPr firstRow="1"/>
              <a:tblGrid>
                <a:gridCol w="6035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3776472">
                  <a:extLst>
                    <a:ext uri="{9D8B030D-6E8A-4147-A177-3AD203B41FA5}">
                      <a16:colId xmlns:a16="http://schemas.microsoft.com/office/drawing/2014/main" val="20002"/>
                    </a:ext>
                  </a:extLst>
                </a:gridCol>
              </a:tblGrid>
              <a:tr h="365760">
                <a:tc>
                  <a:txBody>
                    <a:bodyPr/>
                    <a:lstStyle/>
                    <a:p>
                      <a:pPr algn="l"/>
                      <a:r>
                        <a:rPr sz="1200" b="1">
                          <a:solidFill>
                            <a:srgbClr val="FFFFFF"/>
                          </a:solidFill>
                          <a:latin typeface="Calibri"/>
                        </a:rPr>
                        <a:t>removed</a:t>
                      </a:r>
                    </a:p>
                  </a:txBody>
                  <a:tcPr marL="82296" marR="82296" marT="18288" marB="18288" anchor="ctr">
                    <a:solidFill>
                      <a:srgbClr val="0D1B2A"/>
                    </a:solidFill>
                  </a:tcPr>
                </a:tc>
                <a:tc>
                  <a:txBody>
                    <a:bodyPr/>
                    <a:lstStyle/>
                    <a:p>
                      <a:pPr algn="r"/>
                      <a:r>
                        <a:rPr sz="1200" b="1">
                          <a:solidFill>
                            <a:srgbClr val="FFFFFF"/>
                          </a:solidFill>
                          <a:latin typeface="Calibri"/>
                        </a:rPr>
                        <a:t>rows</a:t>
                      </a:r>
                    </a:p>
                  </a:txBody>
                  <a:tcPr marL="82296" marR="82296" marT="18288" marB="18288" anchor="ctr">
                    <a:solidFill>
                      <a:srgbClr val="0D1B2A"/>
                    </a:solidFill>
                  </a:tcPr>
                </a:tc>
                <a:tc>
                  <a:txBody>
                    <a:bodyPr/>
                    <a:lstStyle/>
                    <a:p>
                      <a:pPr algn="l"/>
                      <a:r>
                        <a:rPr sz="1200" b="1">
                          <a:solidFill>
                            <a:srgbClr val="FFFFFF"/>
                          </a:solidFill>
                          <a:latin typeface="Calibri"/>
                        </a:rPr>
                        <a:t>reason</a:t>
                      </a:r>
                    </a:p>
                  </a:txBody>
                  <a:tcPr marL="82296" marR="82296" marT="18288" marB="18288" anchor="ctr">
                    <a:solidFill>
                      <a:srgbClr val="0D1B2A"/>
                    </a:solidFill>
                  </a:tcPr>
                </a:tc>
                <a:extLst>
                  <a:ext uri="{0D108BD9-81ED-4DB2-BD59-A6C34878D82A}">
                    <a16:rowId xmlns:a16="http://schemas.microsoft.com/office/drawing/2014/main" val="10000"/>
                  </a:ext>
                </a:extLst>
              </a:tr>
              <a:tr h="365760">
                <a:tc>
                  <a:txBody>
                    <a:bodyPr/>
                    <a:lstStyle/>
                    <a:p>
                      <a:pPr algn="l"/>
                      <a:r>
                        <a:rPr sz="1200" b="0">
                          <a:solidFill>
                            <a:srgbClr val="0D1B2A"/>
                          </a:solidFill>
                          <a:latin typeface="Calibri"/>
                        </a:rPr>
                        <a:t>Null transcriptions</a:t>
                      </a:r>
                    </a:p>
                  </a:txBody>
                  <a:tcPr marL="82296" marR="82296" marT="18288" marB="18288" anchor="ctr">
                    <a:solidFill>
                      <a:srgbClr val="FFFFFF"/>
                    </a:solidFill>
                  </a:tcPr>
                </a:tc>
                <a:tc>
                  <a:txBody>
                    <a:bodyPr/>
                    <a:lstStyle/>
                    <a:p>
                      <a:pPr algn="r"/>
                      <a:r>
                        <a:rPr sz="1200" b="0">
                          <a:solidFill>
                            <a:srgbClr val="0D1B2A"/>
                          </a:solidFill>
                          <a:latin typeface="Calibri"/>
                        </a:rPr>
                        <a:t>33</a:t>
                      </a:r>
                    </a:p>
                  </a:txBody>
                  <a:tcPr marL="82296" marR="82296" marT="18288" marB="18288" anchor="ctr">
                    <a:solidFill>
                      <a:srgbClr val="FFFFFF"/>
                    </a:solidFill>
                  </a:tcPr>
                </a:tc>
                <a:tc>
                  <a:txBody>
                    <a:bodyPr/>
                    <a:lstStyle/>
                    <a:p>
                      <a:pPr algn="l"/>
                      <a:r>
                        <a:rPr sz="1200" b="0">
                          <a:solidFill>
                            <a:srgbClr val="0D1B2A"/>
                          </a:solidFill>
                          <a:latin typeface="Calibri"/>
                        </a:rPr>
                        <a:t>unusable</a:t>
                      </a:r>
                    </a:p>
                  </a:txBody>
                  <a:tcPr marL="82296" marR="82296" marT="18288" marB="18288" anchor="ctr">
                    <a:solidFill>
                      <a:srgbClr val="FFFFFF"/>
                    </a:solidFill>
                  </a:tcPr>
                </a:tc>
                <a:extLst>
                  <a:ext uri="{0D108BD9-81ED-4DB2-BD59-A6C34878D82A}">
                    <a16:rowId xmlns:a16="http://schemas.microsoft.com/office/drawing/2014/main" val="10001"/>
                  </a:ext>
                </a:extLst>
              </a:tr>
              <a:tr h="365760">
                <a:tc>
                  <a:txBody>
                    <a:bodyPr/>
                    <a:lstStyle/>
                    <a:p>
                      <a:pPr algn="l"/>
                      <a:r>
                        <a:rPr sz="1200" b="0">
                          <a:solidFill>
                            <a:srgbClr val="0D1B2A"/>
                          </a:solidFill>
                          <a:latin typeface="Calibri"/>
                        </a:rPr>
                        <a:t>Too-short notes (&lt;100)</a:t>
                      </a:r>
                    </a:p>
                  </a:txBody>
                  <a:tcPr marL="82296" marR="82296" marT="18288" marB="18288" anchor="ctr">
                    <a:solidFill>
                      <a:srgbClr val="F1F5F9"/>
                    </a:solidFill>
                  </a:tcPr>
                </a:tc>
                <a:tc>
                  <a:txBody>
                    <a:bodyPr/>
                    <a:lstStyle/>
                    <a:p>
                      <a:pPr algn="r"/>
                      <a:r>
                        <a:rPr sz="1200" b="0">
                          <a:solidFill>
                            <a:srgbClr val="0D1B2A"/>
                          </a:solidFill>
                          <a:latin typeface="Calibri"/>
                        </a:rPr>
                        <a:t>44</a:t>
                      </a:r>
                    </a:p>
                  </a:txBody>
                  <a:tcPr marL="82296" marR="82296" marT="18288" marB="18288" anchor="ctr">
                    <a:solidFill>
                      <a:srgbClr val="F1F5F9"/>
                    </a:solidFill>
                  </a:tcPr>
                </a:tc>
                <a:tc>
                  <a:txBody>
                    <a:bodyPr/>
                    <a:lstStyle/>
                    <a:p>
                      <a:pPr algn="l"/>
                      <a:r>
                        <a:rPr sz="1200" b="0">
                          <a:solidFill>
                            <a:srgbClr val="0D1B2A"/>
                          </a:solidFill>
                          <a:latin typeface="Calibri"/>
                        </a:rPr>
                        <a:t>insufficient context</a:t>
                      </a:r>
                    </a:p>
                  </a:txBody>
                  <a:tcPr marL="82296" marR="82296" marT="18288" marB="18288" anchor="ctr">
                    <a:solidFill>
                      <a:srgbClr val="F1F5F9"/>
                    </a:solidFill>
                  </a:tcPr>
                </a:tc>
                <a:extLst>
                  <a:ext uri="{0D108BD9-81ED-4DB2-BD59-A6C34878D82A}">
                    <a16:rowId xmlns:a16="http://schemas.microsoft.com/office/drawing/2014/main" val="10002"/>
                  </a:ext>
                </a:extLst>
              </a:tr>
              <a:tr h="365760">
                <a:tc>
                  <a:txBody>
                    <a:bodyPr/>
                    <a:lstStyle/>
                    <a:p>
                      <a:pPr algn="l"/>
                      <a:r>
                        <a:rPr sz="1200" b="0">
                          <a:solidFill>
                            <a:srgbClr val="0D1B2A"/>
                          </a:solidFill>
                          <a:latin typeface="Calibri"/>
                        </a:rPr>
                        <a:t>Cross-listed labels (Surgery, Radiology, formats)</a:t>
                      </a:r>
                    </a:p>
                  </a:txBody>
                  <a:tcPr marL="82296" marR="82296" marT="18288" marB="18288" anchor="ctr">
                    <a:solidFill>
                      <a:srgbClr val="FFFFFF"/>
                    </a:solidFill>
                  </a:tcPr>
                </a:tc>
                <a:tc>
                  <a:txBody>
                    <a:bodyPr/>
                    <a:lstStyle/>
                    <a:p>
                      <a:pPr algn="r"/>
                      <a:r>
                        <a:rPr sz="1200" b="0">
                          <a:solidFill>
                            <a:srgbClr val="0D1B2A"/>
                          </a:solidFill>
                          <a:latin typeface="Calibri"/>
                        </a:rPr>
                        <a:t>2,297</a:t>
                      </a:r>
                    </a:p>
                  </a:txBody>
                  <a:tcPr marL="82296" marR="82296" marT="18288" marB="18288" anchor="ctr">
                    <a:solidFill>
                      <a:srgbClr val="FFFFFF"/>
                    </a:solidFill>
                  </a:tcPr>
                </a:tc>
                <a:tc>
                  <a:txBody>
                    <a:bodyPr/>
                    <a:lstStyle/>
                    <a:p>
                      <a:pPr algn="l"/>
                      <a:r>
                        <a:rPr sz="1200" b="0">
                          <a:solidFill>
                            <a:srgbClr val="0D1B2A"/>
                          </a:solidFill>
                          <a:latin typeface="Calibri"/>
                        </a:rPr>
                        <a:t>redundant labels</a:t>
                      </a:r>
                    </a:p>
                  </a:txBody>
                  <a:tcPr marL="82296" marR="82296" marT="18288" marB="18288" anchor="ctr">
                    <a:solidFill>
                      <a:srgbClr val="FFFFFF"/>
                    </a:solidFill>
                  </a:tcPr>
                </a:tc>
                <a:extLst>
                  <a:ext uri="{0D108BD9-81ED-4DB2-BD59-A6C34878D82A}">
                    <a16:rowId xmlns:a16="http://schemas.microsoft.com/office/drawing/2014/main" val="10003"/>
                  </a:ext>
                </a:extLst>
              </a:tr>
              <a:tr h="365760">
                <a:tc>
                  <a:txBody>
                    <a:bodyPr/>
                    <a:lstStyle/>
                    <a:p>
                      <a:pPr algn="l"/>
                      <a:r>
                        <a:rPr sz="1200" b="0">
                          <a:solidFill>
                            <a:srgbClr val="0D1B2A"/>
                          </a:solidFill>
                          <a:latin typeface="Calibri"/>
                        </a:rPr>
                        <a:t>Rare-class notes</a:t>
                      </a:r>
                    </a:p>
                  </a:txBody>
                  <a:tcPr marL="82296" marR="82296" marT="18288" marB="18288" anchor="ctr">
                    <a:solidFill>
                      <a:srgbClr val="F1F5F9"/>
                    </a:solidFill>
                  </a:tcPr>
                </a:tc>
                <a:tc>
                  <a:txBody>
                    <a:bodyPr/>
                    <a:lstStyle/>
                    <a:p>
                      <a:pPr algn="r"/>
                      <a:r>
                        <a:rPr sz="1200" b="0">
                          <a:solidFill>
                            <a:srgbClr val="0D1B2A"/>
                          </a:solidFill>
                          <a:latin typeface="Calibri"/>
                        </a:rPr>
                        <a:t>37</a:t>
                      </a:r>
                    </a:p>
                  </a:txBody>
                  <a:tcPr marL="82296" marR="82296" marT="18288" marB="18288" anchor="ctr">
                    <a:solidFill>
                      <a:srgbClr val="F1F5F9"/>
                    </a:solidFill>
                  </a:tcPr>
                </a:tc>
                <a:tc>
                  <a:txBody>
                    <a:bodyPr/>
                    <a:lstStyle/>
                    <a:p>
                      <a:pPr algn="l"/>
                      <a:r>
                        <a:rPr sz="1200" b="0">
                          <a:solidFill>
                            <a:srgbClr val="0D1B2A"/>
                          </a:solidFill>
                          <a:latin typeface="Calibri"/>
                        </a:rPr>
                        <a:t>insufficient to train</a:t>
                      </a:r>
                    </a:p>
                  </a:txBody>
                  <a:tcPr marL="82296" marR="82296" marT="18288" marB="18288" anchor="ctr">
                    <a:solidFill>
                      <a:srgbClr val="F1F5F9"/>
                    </a:solidFill>
                  </a:tcPr>
                </a:tc>
                <a:extLst>
                  <a:ext uri="{0D108BD9-81ED-4DB2-BD59-A6C34878D82A}">
                    <a16:rowId xmlns:a16="http://schemas.microsoft.com/office/drawing/2014/main" val="10004"/>
                  </a:ext>
                </a:extLst>
              </a:tr>
              <a:tr h="365760">
                <a:tc>
                  <a:txBody>
                    <a:bodyPr/>
                    <a:lstStyle/>
                    <a:p>
                      <a:pPr algn="l"/>
                      <a:r>
                        <a:rPr sz="1200" b="0">
                          <a:solidFill>
                            <a:srgbClr val="0D1B2A"/>
                          </a:solidFill>
                          <a:latin typeface="Calibri"/>
                        </a:rPr>
                        <a:t>Exact duplicates</a:t>
                      </a:r>
                    </a:p>
                  </a:txBody>
                  <a:tcPr marL="82296" marR="82296" marT="18288" marB="18288" anchor="ctr">
                    <a:solidFill>
                      <a:srgbClr val="FFFFFF"/>
                    </a:solidFill>
                  </a:tcPr>
                </a:tc>
                <a:tc>
                  <a:txBody>
                    <a:bodyPr/>
                    <a:lstStyle/>
                    <a:p>
                      <a:pPr algn="r"/>
                      <a:r>
                        <a:rPr sz="1200" b="0">
                          <a:solidFill>
                            <a:srgbClr val="0D1B2A"/>
                          </a:solidFill>
                          <a:latin typeface="Calibri"/>
                        </a:rPr>
                        <a:t>2</a:t>
                      </a:r>
                    </a:p>
                  </a:txBody>
                  <a:tcPr marL="82296" marR="82296" marT="18288" marB="18288" anchor="ctr">
                    <a:solidFill>
                      <a:srgbClr val="FFFFFF"/>
                    </a:solidFill>
                  </a:tcPr>
                </a:tc>
                <a:tc>
                  <a:txBody>
                    <a:bodyPr/>
                    <a:lstStyle/>
                    <a:p>
                      <a:pPr algn="l"/>
                      <a:r>
                        <a:rPr sz="1200" b="0">
                          <a:solidFill>
                            <a:srgbClr val="0D1B2A"/>
                          </a:solidFill>
                          <a:latin typeface="Calibri"/>
                        </a:rPr>
                        <a:t>data quality</a:t>
                      </a:r>
                    </a:p>
                  </a:txBody>
                  <a:tcPr marL="82296" marR="82296" marT="18288" marB="18288"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52530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892807" cy="329184"/>
          </a:xfrm>
          <a:prstGeom prst="rect">
            <a:avLst/>
          </a:prstGeom>
          <a:noFill/>
        </p:spPr>
        <p:txBody>
          <a:bodyPr wrap="square" lIns="0" tIns="0" rIns="0" bIns="0" anchor="ctr">
            <a:spAutoFit/>
          </a:bodyPr>
          <a:lstStyle/>
          <a:p>
            <a:pPr algn="ctr">
              <a:spcAft>
                <a:spcPts val="0"/>
              </a:spcAft>
            </a:pPr>
            <a:r>
              <a:rPr sz="1000" b="1" i="0">
                <a:solidFill>
                  <a:srgbClr val="FFFFFF"/>
                </a:solidFill>
                <a:latin typeface="Calibri"/>
              </a:rPr>
              <a:t>PHASE 1</a:t>
            </a:r>
          </a:p>
        </p:txBody>
      </p:sp>
      <p:sp>
        <p:nvSpPr>
          <p:cNvPr id="4" name="TextBox 3"/>
          <p:cNvSpPr txBox="1"/>
          <p:nvPr/>
        </p:nvSpPr>
        <p:spPr>
          <a:xfrm>
            <a:off x="548640" y="676656"/>
            <a:ext cx="11094415" cy="868680"/>
          </a:xfrm>
          <a:prstGeom prst="rect">
            <a:avLst/>
          </a:prstGeom>
          <a:noFill/>
        </p:spPr>
        <p:txBody>
          <a:bodyPr wrap="square" lIns="0" tIns="0" rIns="0" bIns="0" anchor="ctr">
            <a:spAutoFit/>
          </a:bodyPr>
          <a:lstStyle/>
          <a:p>
            <a:pPr algn="l">
              <a:spcAft>
                <a:spcPts val="0"/>
              </a:spcAft>
            </a:pPr>
            <a:r>
              <a:rPr sz="2600" b="1" i="0">
                <a:solidFill>
                  <a:srgbClr val="0D1B2A"/>
                </a:solidFill>
                <a:latin typeface="Cambria"/>
              </a:rPr>
              <a:t>Measuring Note Complexity — Three New Features</a:t>
            </a:r>
          </a:p>
        </p:txBody>
      </p:sp>
      <p:sp>
        <p:nvSpPr>
          <p:cNvPr id="5" name="TextBox 4"/>
          <p:cNvSpPr txBox="1"/>
          <p:nvPr/>
        </p:nvSpPr>
        <p:spPr>
          <a:xfrm>
            <a:off x="548640" y="1591056"/>
            <a:ext cx="11094415" cy="457200"/>
          </a:xfrm>
          <a:prstGeom prst="rect">
            <a:avLst/>
          </a:prstGeom>
          <a:noFill/>
        </p:spPr>
        <p:txBody>
          <a:bodyPr wrap="square" lIns="0" tIns="0" rIns="0" bIns="0" anchor="ctr">
            <a:spAutoFit/>
          </a:bodyPr>
          <a:lstStyle/>
          <a:p>
            <a:pPr algn="l">
              <a:spcAft>
                <a:spcPts val="0"/>
              </a:spcAft>
            </a:pPr>
            <a:r>
              <a:rPr sz="1450" b="0" i="0">
                <a:solidFill>
                  <a:srgbClr val="64748B"/>
                </a:solidFill>
                <a:latin typeface="Calibri"/>
              </a:rPr>
              <a:t>Length signals that may (weakly) separate specialties.</a:t>
            </a:r>
          </a:p>
        </p:txBody>
      </p:sp>
      <p:sp>
        <p:nvSpPr>
          <p:cNvPr id="6" name="Rounded Rectangle 5"/>
          <p:cNvSpPr/>
          <p:nvPr/>
        </p:nvSpPr>
        <p:spPr>
          <a:xfrm>
            <a:off x="851420" y="2148840"/>
            <a:ext cx="10488854" cy="3200400"/>
          </a:xfrm>
          <a:prstGeom prst="roundRect">
            <a:avLst>
              <a:gd name="adj" fmla="val 3500"/>
            </a:avLst>
          </a:prstGeom>
          <a:solidFill>
            <a:srgbClr val="FFFFFF"/>
          </a:solidFill>
          <a:ln w="12700">
            <a:solidFill>
              <a:srgbClr val="E2E8F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ength_distributions.png"/>
          <p:cNvPicPr>
            <a:picLocks noChangeAspect="1"/>
          </p:cNvPicPr>
          <p:nvPr/>
        </p:nvPicPr>
        <p:blipFill>
          <a:blip r:embed="rId3"/>
          <a:stretch>
            <a:fillRect/>
          </a:stretch>
        </p:blipFill>
        <p:spPr>
          <a:xfrm>
            <a:off x="979436" y="2276856"/>
            <a:ext cx="10232822" cy="2944368"/>
          </a:xfrm>
          <a:prstGeom prst="rect">
            <a:avLst/>
          </a:prstGeom>
        </p:spPr>
      </p:pic>
      <p:sp>
        <p:nvSpPr>
          <p:cNvPr id="8" name="TextBox 7"/>
          <p:cNvSpPr txBox="1"/>
          <p:nvPr/>
        </p:nvSpPr>
        <p:spPr>
          <a:xfrm>
            <a:off x="548640" y="5486400"/>
            <a:ext cx="3393338" cy="1097280"/>
          </a:xfrm>
          <a:prstGeom prst="rect">
            <a:avLst/>
          </a:prstGeom>
          <a:noFill/>
        </p:spPr>
        <p:txBody>
          <a:bodyPr wrap="square" lIns="0" tIns="0" rIns="0" bIns="0" anchor="t">
            <a:spAutoFit/>
          </a:bodyPr>
          <a:lstStyle/>
          <a:p>
            <a:pPr algn="l">
              <a:spcAft>
                <a:spcPts val="300"/>
              </a:spcAft>
            </a:pPr>
            <a:r>
              <a:rPr sz="1300" b="1" i="0">
                <a:solidFill>
                  <a:srgbClr val="0E7C7B"/>
                </a:solidFill>
                <a:latin typeface="Calibri"/>
              </a:rPr>
              <a:t>Character length</a:t>
            </a:r>
          </a:p>
          <a:p>
            <a:pPr algn="l">
              <a:lnSpc>
                <a:spcPct val="108000"/>
              </a:lnSpc>
              <a:spcAft>
                <a:spcPts val="0"/>
              </a:spcAft>
            </a:pPr>
            <a:r>
              <a:rPr sz="1150" b="0" i="0">
                <a:solidFill>
                  <a:srgbClr val="64748B"/>
                </a:solidFill>
                <a:latin typeface="Calibri"/>
              </a:rPr>
              <a:t>mean 3,077 — range 100–18,425</a:t>
            </a:r>
          </a:p>
        </p:txBody>
      </p:sp>
      <p:sp>
        <p:nvSpPr>
          <p:cNvPr id="9" name="TextBox 8"/>
          <p:cNvSpPr txBox="1"/>
          <p:nvPr/>
        </p:nvSpPr>
        <p:spPr>
          <a:xfrm>
            <a:off x="4399178" y="5486400"/>
            <a:ext cx="3393338" cy="1097280"/>
          </a:xfrm>
          <a:prstGeom prst="rect">
            <a:avLst/>
          </a:prstGeom>
          <a:noFill/>
        </p:spPr>
        <p:txBody>
          <a:bodyPr wrap="square" lIns="0" tIns="0" rIns="0" bIns="0" anchor="t">
            <a:spAutoFit/>
          </a:bodyPr>
          <a:lstStyle/>
          <a:p>
            <a:pPr algn="l">
              <a:spcAft>
                <a:spcPts val="300"/>
              </a:spcAft>
            </a:pPr>
            <a:r>
              <a:rPr sz="1300" b="1" i="0">
                <a:solidFill>
                  <a:srgbClr val="0369A1"/>
                </a:solidFill>
                <a:latin typeface="Calibri"/>
              </a:rPr>
              <a:t>Word count</a:t>
            </a:r>
          </a:p>
          <a:p>
            <a:pPr algn="l">
              <a:lnSpc>
                <a:spcPct val="108000"/>
              </a:lnSpc>
              <a:spcAft>
                <a:spcPts val="0"/>
              </a:spcAft>
            </a:pPr>
            <a:r>
              <a:rPr sz="1150" b="0" i="0">
                <a:solidFill>
                  <a:srgbClr val="64748B"/>
                </a:solidFill>
                <a:latin typeface="Calibri"/>
              </a:rPr>
              <a:t>mean 469 — range 9–3,029</a:t>
            </a:r>
          </a:p>
        </p:txBody>
      </p:sp>
      <p:sp>
        <p:nvSpPr>
          <p:cNvPr id="10" name="TextBox 9"/>
          <p:cNvSpPr txBox="1"/>
          <p:nvPr/>
        </p:nvSpPr>
        <p:spPr>
          <a:xfrm>
            <a:off x="8249716" y="5486400"/>
            <a:ext cx="3393338" cy="1097280"/>
          </a:xfrm>
          <a:prstGeom prst="rect">
            <a:avLst/>
          </a:prstGeom>
          <a:noFill/>
        </p:spPr>
        <p:txBody>
          <a:bodyPr wrap="square" lIns="0" tIns="0" rIns="0" bIns="0" anchor="t">
            <a:spAutoFit/>
          </a:bodyPr>
          <a:lstStyle/>
          <a:p>
            <a:pPr algn="l">
              <a:spcAft>
                <a:spcPts val="300"/>
              </a:spcAft>
            </a:pPr>
            <a:r>
              <a:rPr sz="1300" b="1" i="0">
                <a:solidFill>
                  <a:srgbClr val="6D28D9"/>
                </a:solidFill>
                <a:latin typeface="Calibri"/>
              </a:rPr>
              <a:t>Sentence count</a:t>
            </a:r>
          </a:p>
          <a:p>
            <a:pPr algn="l">
              <a:lnSpc>
                <a:spcPct val="108000"/>
              </a:lnSpc>
              <a:spcAft>
                <a:spcPts val="0"/>
              </a:spcAft>
            </a:pPr>
            <a:r>
              <a:rPr sz="1150" b="0" i="0">
                <a:solidFill>
                  <a:srgbClr val="64748B"/>
                </a:solidFill>
                <a:latin typeface="Calibri"/>
              </a:rPr>
              <a:t>NLTK tokenizer — mean 30, range 1–159</a:t>
            </a:r>
          </a:p>
        </p:txBody>
      </p:sp>
    </p:spTree>
    <p:extLst>
      <p:ext uri="{BB962C8B-B14F-4D97-AF65-F5344CB8AC3E}">
        <p14:creationId xmlns:p14="http://schemas.microsoft.com/office/powerpoint/2010/main" val="14664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892807" cy="329184"/>
          </a:xfrm>
          <a:prstGeom prst="rect">
            <a:avLst/>
          </a:prstGeom>
          <a:noFill/>
        </p:spPr>
        <p:txBody>
          <a:bodyPr wrap="square" lIns="0" tIns="0" rIns="0" bIns="0" anchor="ctr">
            <a:spAutoFit/>
          </a:bodyPr>
          <a:lstStyle/>
          <a:p>
            <a:pPr algn="ctr">
              <a:spcAft>
                <a:spcPts val="0"/>
              </a:spcAft>
            </a:pPr>
            <a:r>
              <a:rPr sz="1000" b="1" i="0">
                <a:solidFill>
                  <a:srgbClr val="FFFFFF"/>
                </a:solidFill>
                <a:latin typeface="Calibri"/>
              </a:rPr>
              <a:t>PHASE 1</a:t>
            </a:r>
          </a:p>
        </p:txBody>
      </p:sp>
      <p:sp>
        <p:nvSpPr>
          <p:cNvPr id="4" name="TextBox 3"/>
          <p:cNvSpPr txBox="1"/>
          <p:nvPr/>
        </p:nvSpPr>
        <p:spPr>
          <a:xfrm>
            <a:off x="548640" y="676656"/>
            <a:ext cx="11094415" cy="868680"/>
          </a:xfrm>
          <a:prstGeom prst="rect">
            <a:avLst/>
          </a:prstGeom>
          <a:noFill/>
        </p:spPr>
        <p:txBody>
          <a:bodyPr wrap="square" lIns="0" tIns="0" rIns="0" bIns="0" anchor="ctr">
            <a:spAutoFit/>
          </a:bodyPr>
          <a:lstStyle/>
          <a:p>
            <a:pPr algn="l">
              <a:spcAft>
                <a:spcPts val="0"/>
              </a:spcAft>
            </a:pPr>
            <a:r>
              <a:rPr sz="3100" b="1" i="0">
                <a:solidFill>
                  <a:srgbClr val="0D1B2A"/>
                </a:solidFill>
                <a:latin typeface="Cambria"/>
              </a:rPr>
              <a:t>Do Specialties Write Different-Length Notes?</a:t>
            </a:r>
          </a:p>
        </p:txBody>
      </p:sp>
      <p:sp>
        <p:nvSpPr>
          <p:cNvPr id="5" name="TextBox 4"/>
          <p:cNvSpPr txBox="1"/>
          <p:nvPr/>
        </p:nvSpPr>
        <p:spPr>
          <a:xfrm>
            <a:off x="548640" y="1591056"/>
            <a:ext cx="11094415" cy="457200"/>
          </a:xfrm>
          <a:prstGeom prst="rect">
            <a:avLst/>
          </a:prstGeom>
          <a:noFill/>
        </p:spPr>
        <p:txBody>
          <a:bodyPr wrap="square" lIns="0" tIns="0" rIns="0" bIns="0" anchor="ctr">
            <a:spAutoFit/>
          </a:bodyPr>
          <a:lstStyle/>
          <a:p>
            <a:pPr algn="l">
              <a:spcAft>
                <a:spcPts val="0"/>
              </a:spcAft>
            </a:pPr>
            <a:r>
              <a:rPr sz="1450" b="0" i="0">
                <a:solidFill>
                  <a:srgbClr val="64748B"/>
                </a:solidFill>
                <a:latin typeface="Calibri"/>
              </a:rPr>
              <a:t>Word-count distribution across specialties — a weak but real signal.</a:t>
            </a:r>
          </a:p>
        </p:txBody>
      </p:sp>
      <p:sp>
        <p:nvSpPr>
          <p:cNvPr id="6" name="Rounded Rectangle 5"/>
          <p:cNvSpPr/>
          <p:nvPr/>
        </p:nvSpPr>
        <p:spPr>
          <a:xfrm>
            <a:off x="548640" y="2148840"/>
            <a:ext cx="5372146" cy="4343400"/>
          </a:xfrm>
          <a:prstGeom prst="roundRect">
            <a:avLst>
              <a:gd name="adj" fmla="val 3500"/>
            </a:avLst>
          </a:prstGeom>
          <a:solidFill>
            <a:srgbClr val="FFFFFF"/>
          </a:solidFill>
          <a:ln w="12700">
            <a:solidFill>
              <a:srgbClr val="E2E8F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wordcount_by_specialty.png"/>
          <p:cNvPicPr>
            <a:picLocks noChangeAspect="1"/>
          </p:cNvPicPr>
          <p:nvPr/>
        </p:nvPicPr>
        <p:blipFill>
          <a:blip r:embed="rId3"/>
          <a:stretch>
            <a:fillRect/>
          </a:stretch>
        </p:blipFill>
        <p:spPr>
          <a:xfrm>
            <a:off x="676656" y="2276856"/>
            <a:ext cx="5116114" cy="4087368"/>
          </a:xfrm>
          <a:prstGeom prst="rect">
            <a:avLst/>
          </a:prstGeom>
        </p:spPr>
      </p:pic>
      <p:sp>
        <p:nvSpPr>
          <p:cNvPr id="8" name="TextBox 7"/>
          <p:cNvSpPr txBox="1"/>
          <p:nvPr/>
        </p:nvSpPr>
        <p:spPr>
          <a:xfrm>
            <a:off x="6903720" y="2240280"/>
            <a:ext cx="4739335" cy="2194560"/>
          </a:xfrm>
          <a:prstGeom prst="rect">
            <a:avLst/>
          </a:prstGeom>
          <a:noFill/>
        </p:spPr>
        <p:txBody>
          <a:bodyPr wrap="square" lIns="0" tIns="0" rIns="0" bIns="0" anchor="t">
            <a:spAutoFit/>
          </a:bodyPr>
          <a:lstStyle/>
          <a:p>
            <a:pPr algn="l">
              <a:spcAft>
                <a:spcPts val="500"/>
              </a:spcAft>
            </a:pPr>
            <a:r>
              <a:rPr sz="1400" b="1" i="0">
                <a:solidFill>
                  <a:srgbClr val="0D1B2A"/>
                </a:solidFill>
                <a:latin typeface="Calibri"/>
              </a:rPr>
              <a:t>Observations</a:t>
            </a:r>
          </a:p>
          <a:p>
            <a:pPr marL="274320" indent="-228600" algn="l">
              <a:lnSpc>
                <a:spcPct val="108000"/>
              </a:lnSpc>
              <a:spcAft>
                <a:spcPts val="600"/>
              </a:spcAft>
              <a:buClr>
                <a:srgbClr val="0E7C7B"/>
              </a:buClr>
              <a:buFont typeface="Arial"/>
              <a:buChar char="•"/>
            </a:pPr>
            <a:r>
              <a:rPr sz="1250" b="0" i="0">
                <a:solidFill>
                  <a:srgbClr val="0D1B2A"/>
                </a:solidFill>
                <a:latin typeface="Calibri"/>
              </a:rPr>
              <a:t>Psychiatry / Psychology writes the longest notes (median ~650 words) — narrative-heavy</a:t>
            </a:r>
          </a:p>
          <a:p>
            <a:pPr marL="274320" indent="-228600" algn="l">
              <a:lnSpc>
                <a:spcPct val="108000"/>
              </a:lnSpc>
              <a:spcAft>
                <a:spcPts val="600"/>
              </a:spcAft>
              <a:buClr>
                <a:srgbClr val="0E7C7B"/>
              </a:buClr>
              <a:buFont typeface="Arial"/>
              <a:buChar char="•"/>
            </a:pPr>
            <a:r>
              <a:rPr sz="1250" b="0" i="0">
                <a:solidFill>
                  <a:srgbClr val="0D1B2A"/>
                </a:solidFill>
                <a:latin typeface="Calibri"/>
              </a:rPr>
              <a:t>Pain Management is the most concise (median ~220 words)</a:t>
            </a:r>
          </a:p>
          <a:p>
            <a:pPr marL="274320" indent="-228600" algn="l">
              <a:lnSpc>
                <a:spcPct val="108000"/>
              </a:lnSpc>
              <a:spcAft>
                <a:spcPts val="600"/>
              </a:spcAft>
              <a:buClr>
                <a:srgbClr val="0E7C7B"/>
              </a:buClr>
              <a:buFont typeface="Arial"/>
              <a:buChar char="•"/>
            </a:pPr>
            <a:r>
              <a:rPr sz="1250" b="0" i="0">
                <a:solidFill>
                  <a:srgbClr val="0D1B2A"/>
                </a:solidFill>
                <a:latin typeface="Calibri"/>
              </a:rPr>
              <a:t>Every specialty has a long right tail — outliers stretch past 2,000 words</a:t>
            </a:r>
          </a:p>
        </p:txBody>
      </p:sp>
      <p:sp>
        <p:nvSpPr>
          <p:cNvPr id="9" name="Rounded Rectangle 8"/>
          <p:cNvSpPr/>
          <p:nvPr/>
        </p:nvSpPr>
        <p:spPr>
          <a:xfrm>
            <a:off x="6903720" y="4846320"/>
            <a:ext cx="4739335" cy="1371600"/>
          </a:xfrm>
          <a:prstGeom prst="roundRect">
            <a:avLst>
              <a:gd name="adj" fmla="val 6000"/>
            </a:avLst>
          </a:prstGeom>
          <a:solidFill>
            <a:srgbClr val="E0F7F6"/>
          </a:solidFill>
          <a:ln w="12700">
            <a:solidFill>
              <a:srgbClr val="E0F7F6"/>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59752" y="5029200"/>
            <a:ext cx="4227271" cy="1005840"/>
          </a:xfrm>
          <a:prstGeom prst="rect">
            <a:avLst/>
          </a:prstGeom>
          <a:noFill/>
        </p:spPr>
        <p:txBody>
          <a:bodyPr wrap="square" lIns="0" tIns="0" rIns="0" bIns="0" anchor="ctr">
            <a:spAutoFit/>
          </a:bodyPr>
          <a:lstStyle/>
          <a:p>
            <a:pPr algn="l">
              <a:lnSpc>
                <a:spcPct val="112000"/>
              </a:lnSpc>
              <a:spcAft>
                <a:spcPts val="400"/>
              </a:spcAft>
            </a:pPr>
            <a:r>
              <a:rPr sz="1250" b="1" i="0">
                <a:solidFill>
                  <a:srgbClr val="0E7C7B"/>
                </a:solidFill>
                <a:latin typeface="Calibri"/>
              </a:rPr>
              <a:t>Length separates some specialties but overlaps heavily — </a:t>
            </a:r>
            <a:r>
              <a:rPr sz="1250" b="0" i="0">
                <a:solidFill>
                  <a:srgbClr val="0D1B2A"/>
                </a:solidFill>
                <a:latin typeface="Calibri"/>
              </a:rPr>
              <a:t>useful, not decisive. Phase 1.2 adds word-level features.</a:t>
            </a:r>
          </a:p>
        </p:txBody>
      </p:sp>
    </p:spTree>
    <p:extLst>
      <p:ext uri="{BB962C8B-B14F-4D97-AF65-F5344CB8AC3E}">
        <p14:creationId xmlns:p14="http://schemas.microsoft.com/office/powerpoint/2010/main" val="264439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892807" cy="329184"/>
          </a:xfrm>
          <a:prstGeom prst="rect">
            <a:avLst/>
          </a:prstGeom>
          <a:noFill/>
        </p:spPr>
        <p:txBody>
          <a:bodyPr wrap="square" lIns="0" tIns="0" rIns="0" bIns="0" anchor="ctr">
            <a:spAutoFit/>
          </a:bodyPr>
          <a:lstStyle/>
          <a:p>
            <a:pPr algn="ctr">
              <a:spcAft>
                <a:spcPts val="0"/>
              </a:spcAft>
            </a:pPr>
            <a:r>
              <a:rPr sz="1000" b="1" i="0">
                <a:solidFill>
                  <a:srgbClr val="FFFFFF"/>
                </a:solidFill>
                <a:latin typeface="Calibri"/>
              </a:rPr>
              <a:t>PHASE 1</a:t>
            </a:r>
          </a:p>
        </p:txBody>
      </p:sp>
      <p:sp>
        <p:nvSpPr>
          <p:cNvPr id="4" name="TextBox 3"/>
          <p:cNvSpPr txBox="1"/>
          <p:nvPr/>
        </p:nvSpPr>
        <p:spPr>
          <a:xfrm>
            <a:off x="548640" y="676656"/>
            <a:ext cx="11094415" cy="868680"/>
          </a:xfrm>
          <a:prstGeom prst="rect">
            <a:avLst/>
          </a:prstGeom>
          <a:noFill/>
        </p:spPr>
        <p:txBody>
          <a:bodyPr wrap="square" lIns="0" tIns="0" rIns="0" bIns="0" anchor="ctr">
            <a:spAutoFit/>
          </a:bodyPr>
          <a:lstStyle/>
          <a:p>
            <a:pPr algn="l">
              <a:spcAft>
                <a:spcPts val="0"/>
              </a:spcAft>
            </a:pPr>
            <a:r>
              <a:rPr sz="3100" b="1" i="0">
                <a:solidFill>
                  <a:srgbClr val="0D1B2A"/>
                </a:solidFill>
                <a:latin typeface="Cambria"/>
              </a:rPr>
              <a:t>From Raw Text to Analyzable Features</a:t>
            </a:r>
          </a:p>
        </p:txBody>
      </p:sp>
      <p:sp>
        <p:nvSpPr>
          <p:cNvPr id="5" name="TextBox 4"/>
          <p:cNvSpPr txBox="1"/>
          <p:nvPr/>
        </p:nvSpPr>
        <p:spPr>
          <a:xfrm>
            <a:off x="548640" y="1591056"/>
            <a:ext cx="11094415" cy="457200"/>
          </a:xfrm>
          <a:prstGeom prst="rect">
            <a:avLst/>
          </a:prstGeom>
          <a:noFill/>
        </p:spPr>
        <p:txBody>
          <a:bodyPr wrap="square" lIns="0" tIns="0" rIns="0" bIns="0" anchor="ctr">
            <a:spAutoFit/>
          </a:bodyPr>
          <a:lstStyle/>
          <a:p>
            <a:pPr algn="l">
              <a:spcAft>
                <a:spcPts val="0"/>
              </a:spcAft>
            </a:pPr>
            <a:r>
              <a:rPr sz="1450" b="0" i="0">
                <a:solidFill>
                  <a:srgbClr val="64748B"/>
                </a:solidFill>
                <a:latin typeface="Calibri"/>
              </a:rPr>
              <a:t>Strip the noise that hides specialty-specific patterns.</a:t>
            </a:r>
          </a:p>
        </p:txBody>
      </p:sp>
      <p:sp>
        <p:nvSpPr>
          <p:cNvPr id="6" name="Rounded Rectangle 5"/>
          <p:cNvSpPr/>
          <p:nvPr/>
        </p:nvSpPr>
        <p:spPr>
          <a:xfrm>
            <a:off x="548640" y="2240280"/>
            <a:ext cx="5074920" cy="1828800"/>
          </a:xfrm>
          <a:prstGeom prst="roundRect">
            <a:avLst>
              <a:gd name="adj" fmla="val 3500"/>
            </a:avLst>
          </a:prstGeom>
          <a:solidFill>
            <a:srgbClr val="F1F5F9"/>
          </a:solidFill>
          <a:ln w="12700">
            <a:solidFill>
              <a:srgbClr val="E2E8F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2459736"/>
            <a:ext cx="4489704" cy="1417320"/>
          </a:xfrm>
          <a:prstGeom prst="rect">
            <a:avLst/>
          </a:prstGeom>
          <a:noFill/>
        </p:spPr>
        <p:txBody>
          <a:bodyPr wrap="square" lIns="0" tIns="0" rIns="0" bIns="0" anchor="t">
            <a:spAutoFit/>
          </a:bodyPr>
          <a:lstStyle/>
          <a:p>
            <a:pPr algn="l">
              <a:spcAft>
                <a:spcPts val="800"/>
              </a:spcAft>
            </a:pPr>
            <a:r>
              <a:rPr sz="1350" b="1" i="0">
                <a:solidFill>
                  <a:srgbClr val="64748B"/>
                </a:solidFill>
                <a:latin typeface="Calibri"/>
              </a:rPr>
              <a:t>Before</a:t>
            </a:r>
          </a:p>
          <a:p>
            <a:pPr algn="l">
              <a:lnSpc>
                <a:spcPct val="120000"/>
              </a:lnSpc>
              <a:spcAft>
                <a:spcPts val="0"/>
              </a:spcAft>
            </a:pPr>
            <a:r>
              <a:rPr sz="1300" b="0" i="0">
                <a:solidFill>
                  <a:srgbClr val="0D1B2A"/>
                </a:solidFill>
                <a:latin typeface="Courier New"/>
              </a:rPr>
              <a:t>"The patient’s blood pressure is 120/80. Heart sounds are normal."</a:t>
            </a:r>
          </a:p>
        </p:txBody>
      </p:sp>
      <p:sp>
        <p:nvSpPr>
          <p:cNvPr id="8" name="Rounded Rectangle 7"/>
          <p:cNvSpPr/>
          <p:nvPr/>
        </p:nvSpPr>
        <p:spPr>
          <a:xfrm>
            <a:off x="5897879" y="2240280"/>
            <a:ext cx="5074920" cy="1828800"/>
          </a:xfrm>
          <a:prstGeom prst="roundRect">
            <a:avLst>
              <a:gd name="adj" fmla="val 3500"/>
            </a:avLst>
          </a:prstGeom>
          <a:solidFill>
            <a:srgbClr val="E0F7F6"/>
          </a:solidFill>
          <a:ln w="12700">
            <a:solidFill>
              <a:srgbClr val="0E7C7B"/>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90488" y="2459736"/>
            <a:ext cx="4489704" cy="1417320"/>
          </a:xfrm>
          <a:prstGeom prst="rect">
            <a:avLst/>
          </a:prstGeom>
          <a:noFill/>
        </p:spPr>
        <p:txBody>
          <a:bodyPr wrap="square" lIns="0" tIns="0" rIns="0" bIns="0" anchor="t">
            <a:spAutoFit/>
          </a:bodyPr>
          <a:lstStyle/>
          <a:p>
            <a:pPr algn="l">
              <a:spcAft>
                <a:spcPts val="800"/>
              </a:spcAft>
            </a:pPr>
            <a:r>
              <a:rPr sz="1350" b="1" i="0">
                <a:solidFill>
                  <a:srgbClr val="0E7C7B"/>
                </a:solidFill>
                <a:latin typeface="Calibri"/>
              </a:rPr>
              <a:t>After</a:t>
            </a:r>
          </a:p>
          <a:p>
            <a:pPr algn="l">
              <a:lnSpc>
                <a:spcPct val="120000"/>
              </a:lnSpc>
              <a:spcAft>
                <a:spcPts val="0"/>
              </a:spcAft>
            </a:pPr>
            <a:r>
              <a:rPr sz="1300" b="0" i="0">
                <a:solidFill>
                  <a:srgbClr val="0D1B2A"/>
                </a:solidFill>
                <a:latin typeface="Courier New"/>
              </a:rPr>
              <a:t>"patient blood pressure heart sounds normal"</a:t>
            </a:r>
          </a:p>
        </p:txBody>
      </p:sp>
      <p:sp>
        <p:nvSpPr>
          <p:cNvPr id="10" name="TextBox 9"/>
          <p:cNvSpPr txBox="1"/>
          <p:nvPr/>
        </p:nvSpPr>
        <p:spPr>
          <a:xfrm>
            <a:off x="548640" y="4343400"/>
            <a:ext cx="11094415" cy="365760"/>
          </a:xfrm>
          <a:prstGeom prst="rect">
            <a:avLst/>
          </a:prstGeom>
          <a:noFill/>
        </p:spPr>
        <p:txBody>
          <a:bodyPr wrap="square" lIns="0" tIns="0" rIns="0" bIns="0" anchor="t">
            <a:spAutoFit/>
          </a:bodyPr>
          <a:lstStyle/>
          <a:p>
            <a:pPr algn="l">
              <a:spcAft>
                <a:spcPts val="0"/>
              </a:spcAft>
            </a:pPr>
            <a:r>
              <a:rPr sz="1400" b="1" i="0">
                <a:solidFill>
                  <a:srgbClr val="0D1B2A"/>
                </a:solidFill>
                <a:latin typeface="Calibri"/>
              </a:rPr>
              <a:t>The noise we remove</a:t>
            </a:r>
          </a:p>
        </p:txBody>
      </p:sp>
      <p:sp>
        <p:nvSpPr>
          <p:cNvPr id="11" name="Rounded Rectangle 10"/>
          <p:cNvSpPr/>
          <p:nvPr/>
        </p:nvSpPr>
        <p:spPr>
          <a:xfrm>
            <a:off x="548640" y="4800600"/>
            <a:ext cx="2567863" cy="1051560"/>
          </a:xfrm>
          <a:prstGeom prst="roundRect">
            <a:avLst>
              <a:gd name="adj" fmla="val 6000"/>
            </a:avLst>
          </a:prstGeom>
          <a:solidFill>
            <a:srgbClr val="FFFFFF"/>
          </a:solidFill>
          <a:ln w="12700">
            <a:solidFill>
              <a:srgbClr val="E2E8F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4937760"/>
            <a:ext cx="2238679" cy="822960"/>
          </a:xfrm>
          <a:prstGeom prst="rect">
            <a:avLst/>
          </a:prstGeom>
          <a:noFill/>
        </p:spPr>
        <p:txBody>
          <a:bodyPr wrap="square" lIns="0" tIns="0" rIns="0" bIns="0" anchor="ctr">
            <a:spAutoFit/>
          </a:bodyPr>
          <a:lstStyle/>
          <a:p>
            <a:pPr algn="ctr">
              <a:spcAft>
                <a:spcPts val="300"/>
              </a:spcAft>
            </a:pPr>
            <a:r>
              <a:rPr sz="1250" b="1" i="0">
                <a:solidFill>
                  <a:srgbClr val="0E7C7B"/>
                </a:solidFill>
                <a:latin typeface="Calibri"/>
              </a:rPr>
              <a:t>Mixed case</a:t>
            </a:r>
          </a:p>
          <a:p>
            <a:pPr algn="ctr">
              <a:lnSpc>
                <a:spcPct val="105000"/>
              </a:lnSpc>
              <a:spcAft>
                <a:spcPts val="0"/>
              </a:spcAft>
            </a:pPr>
            <a:r>
              <a:rPr sz="1100" b="0" i="0">
                <a:solidFill>
                  <a:srgbClr val="64748B"/>
                </a:solidFill>
                <a:latin typeface="Courier New"/>
              </a:rPr>
              <a:t>“Heart” vs “heart”</a:t>
            </a:r>
          </a:p>
        </p:txBody>
      </p:sp>
      <p:sp>
        <p:nvSpPr>
          <p:cNvPr id="13" name="Rounded Rectangle 12"/>
          <p:cNvSpPr/>
          <p:nvPr/>
        </p:nvSpPr>
        <p:spPr>
          <a:xfrm>
            <a:off x="3390823" y="4800600"/>
            <a:ext cx="2567863" cy="1051560"/>
          </a:xfrm>
          <a:prstGeom prst="roundRect">
            <a:avLst>
              <a:gd name="adj" fmla="val 6000"/>
            </a:avLst>
          </a:prstGeom>
          <a:solidFill>
            <a:srgbClr val="FFFFFF"/>
          </a:solidFill>
          <a:ln w="12700">
            <a:solidFill>
              <a:srgbClr val="E2E8F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55415" y="4937760"/>
            <a:ext cx="2238679" cy="822960"/>
          </a:xfrm>
          <a:prstGeom prst="rect">
            <a:avLst/>
          </a:prstGeom>
          <a:noFill/>
        </p:spPr>
        <p:txBody>
          <a:bodyPr wrap="square" lIns="0" tIns="0" rIns="0" bIns="0" anchor="ctr">
            <a:spAutoFit/>
          </a:bodyPr>
          <a:lstStyle/>
          <a:p>
            <a:pPr algn="ctr">
              <a:spcAft>
                <a:spcPts val="300"/>
              </a:spcAft>
            </a:pPr>
            <a:r>
              <a:rPr sz="1250" b="1" i="0">
                <a:solidFill>
                  <a:srgbClr val="0369A1"/>
                </a:solidFill>
                <a:latin typeface="Calibri"/>
              </a:rPr>
              <a:t>Punctuation</a:t>
            </a:r>
          </a:p>
          <a:p>
            <a:pPr algn="ctr">
              <a:lnSpc>
                <a:spcPct val="105000"/>
              </a:lnSpc>
              <a:spcAft>
                <a:spcPts val="0"/>
              </a:spcAft>
            </a:pPr>
            <a:r>
              <a:rPr sz="1100" b="0" i="0">
                <a:solidFill>
                  <a:srgbClr val="64748B"/>
                </a:solidFill>
                <a:latin typeface="Courier New"/>
              </a:rPr>
              <a:t>“patient.” vs “patient”</a:t>
            </a:r>
          </a:p>
        </p:txBody>
      </p:sp>
      <p:sp>
        <p:nvSpPr>
          <p:cNvPr id="15" name="Rounded Rectangle 14"/>
          <p:cNvSpPr/>
          <p:nvPr/>
        </p:nvSpPr>
        <p:spPr>
          <a:xfrm>
            <a:off x="6233007" y="4800600"/>
            <a:ext cx="2567863" cy="1051560"/>
          </a:xfrm>
          <a:prstGeom prst="roundRect">
            <a:avLst>
              <a:gd name="adj" fmla="val 6000"/>
            </a:avLst>
          </a:prstGeom>
          <a:solidFill>
            <a:srgbClr val="FFFFFF"/>
          </a:solidFill>
          <a:ln w="12700">
            <a:solidFill>
              <a:srgbClr val="E2E8F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97599" y="4937760"/>
            <a:ext cx="2238679" cy="822960"/>
          </a:xfrm>
          <a:prstGeom prst="rect">
            <a:avLst/>
          </a:prstGeom>
          <a:noFill/>
        </p:spPr>
        <p:txBody>
          <a:bodyPr wrap="square" lIns="0" tIns="0" rIns="0" bIns="0" anchor="ctr">
            <a:spAutoFit/>
          </a:bodyPr>
          <a:lstStyle/>
          <a:p>
            <a:pPr algn="ctr">
              <a:spcAft>
                <a:spcPts val="300"/>
              </a:spcAft>
            </a:pPr>
            <a:r>
              <a:rPr sz="1250" b="1" i="0">
                <a:solidFill>
                  <a:srgbClr val="6D28D9"/>
                </a:solidFill>
                <a:latin typeface="Calibri"/>
              </a:rPr>
              <a:t>Stopwords</a:t>
            </a:r>
          </a:p>
          <a:p>
            <a:pPr algn="ctr">
              <a:lnSpc>
                <a:spcPct val="105000"/>
              </a:lnSpc>
              <a:spcAft>
                <a:spcPts val="0"/>
              </a:spcAft>
            </a:pPr>
            <a:r>
              <a:rPr sz="1100" b="0" i="0">
                <a:solidFill>
                  <a:srgbClr val="64748B"/>
                </a:solidFill>
                <a:latin typeface="Courier New"/>
              </a:rPr>
              <a:t>the, and, of</a:t>
            </a:r>
          </a:p>
        </p:txBody>
      </p:sp>
      <p:sp>
        <p:nvSpPr>
          <p:cNvPr id="17" name="Rounded Rectangle 16"/>
          <p:cNvSpPr/>
          <p:nvPr/>
        </p:nvSpPr>
        <p:spPr>
          <a:xfrm>
            <a:off x="9075191" y="4800600"/>
            <a:ext cx="2567863" cy="1051560"/>
          </a:xfrm>
          <a:prstGeom prst="roundRect">
            <a:avLst>
              <a:gd name="adj" fmla="val 6000"/>
            </a:avLst>
          </a:prstGeom>
          <a:solidFill>
            <a:srgbClr val="FFFFFF"/>
          </a:solidFill>
          <a:ln w="12700">
            <a:solidFill>
              <a:srgbClr val="E2E8F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239783" y="4937760"/>
            <a:ext cx="2238679" cy="822960"/>
          </a:xfrm>
          <a:prstGeom prst="rect">
            <a:avLst/>
          </a:prstGeom>
          <a:noFill/>
        </p:spPr>
        <p:txBody>
          <a:bodyPr wrap="square" lIns="0" tIns="0" rIns="0" bIns="0" anchor="ctr">
            <a:spAutoFit/>
          </a:bodyPr>
          <a:lstStyle/>
          <a:p>
            <a:pPr algn="ctr">
              <a:spcAft>
                <a:spcPts val="300"/>
              </a:spcAft>
            </a:pPr>
            <a:r>
              <a:rPr sz="1250" b="1" i="0">
                <a:solidFill>
                  <a:srgbClr val="B45309"/>
                </a:solidFill>
                <a:latin typeface="Calibri"/>
              </a:rPr>
              <a:t>Numbers / symbols</a:t>
            </a:r>
          </a:p>
          <a:p>
            <a:pPr algn="ctr">
              <a:lnSpc>
                <a:spcPct val="105000"/>
              </a:lnSpc>
              <a:spcAft>
                <a:spcPts val="0"/>
              </a:spcAft>
            </a:pPr>
            <a:r>
              <a:rPr sz="1100" b="0" i="0">
                <a:solidFill>
                  <a:srgbClr val="64748B"/>
                </a:solidFill>
                <a:latin typeface="Courier New"/>
              </a:rPr>
              <a:t>dates, 120/80</a:t>
            </a:r>
          </a:p>
        </p:txBody>
      </p:sp>
    </p:spTree>
    <p:extLst>
      <p:ext uri="{BB962C8B-B14F-4D97-AF65-F5344CB8AC3E}">
        <p14:creationId xmlns:p14="http://schemas.microsoft.com/office/powerpoint/2010/main" val="3078542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892807" cy="329184"/>
          </a:xfrm>
          <a:prstGeom prst="rect">
            <a:avLst/>
          </a:prstGeom>
          <a:noFill/>
        </p:spPr>
        <p:txBody>
          <a:bodyPr wrap="square" lIns="0" tIns="0" rIns="0" bIns="0" anchor="ctr">
            <a:spAutoFit/>
          </a:bodyPr>
          <a:lstStyle/>
          <a:p>
            <a:pPr algn="ctr">
              <a:spcAft>
                <a:spcPts val="0"/>
              </a:spcAft>
            </a:pPr>
            <a:r>
              <a:rPr sz="1000" b="1" i="0">
                <a:solidFill>
                  <a:srgbClr val="FFFFFF"/>
                </a:solidFill>
                <a:latin typeface="Calibri"/>
              </a:rPr>
              <a:t>PHASE 1</a:t>
            </a:r>
          </a:p>
        </p:txBody>
      </p:sp>
      <p:sp>
        <p:nvSpPr>
          <p:cNvPr id="4" name="TextBox 3"/>
          <p:cNvSpPr txBox="1"/>
          <p:nvPr/>
        </p:nvSpPr>
        <p:spPr>
          <a:xfrm>
            <a:off x="548640" y="676656"/>
            <a:ext cx="11094415" cy="868680"/>
          </a:xfrm>
          <a:prstGeom prst="rect">
            <a:avLst/>
          </a:prstGeom>
          <a:noFill/>
        </p:spPr>
        <p:txBody>
          <a:bodyPr wrap="square" lIns="0" tIns="0" rIns="0" bIns="0" anchor="ctr">
            <a:spAutoFit/>
          </a:bodyPr>
          <a:lstStyle/>
          <a:p>
            <a:pPr algn="l">
              <a:spcAft>
                <a:spcPts val="0"/>
              </a:spcAft>
            </a:pPr>
            <a:r>
              <a:rPr sz="3700" b="1" i="0">
                <a:solidFill>
                  <a:srgbClr val="0D1B2A"/>
                </a:solidFill>
                <a:latin typeface="Cambria"/>
              </a:rPr>
              <a:t>Text Preprocessing Pipeline</a:t>
            </a:r>
          </a:p>
        </p:txBody>
      </p:sp>
      <p:sp>
        <p:nvSpPr>
          <p:cNvPr id="5" name="TextBox 4"/>
          <p:cNvSpPr txBox="1"/>
          <p:nvPr/>
        </p:nvSpPr>
        <p:spPr>
          <a:xfrm>
            <a:off x="548640" y="1591056"/>
            <a:ext cx="11094415" cy="457200"/>
          </a:xfrm>
          <a:prstGeom prst="rect">
            <a:avLst/>
          </a:prstGeom>
          <a:noFill/>
        </p:spPr>
        <p:txBody>
          <a:bodyPr wrap="square" lIns="0" tIns="0" rIns="0" bIns="0" anchor="ctr">
            <a:spAutoFit/>
          </a:bodyPr>
          <a:lstStyle/>
          <a:p>
            <a:pPr algn="l">
              <a:spcAft>
                <a:spcPts val="0"/>
              </a:spcAft>
            </a:pPr>
            <a:r>
              <a:rPr sz="1450" b="0" i="0">
                <a:solidFill>
                  <a:srgbClr val="64748B"/>
                </a:solidFill>
                <a:latin typeface="Calibri"/>
              </a:rPr>
              <a:t>Five steps turn raw clinical text into clean tokens.</a:t>
            </a:r>
          </a:p>
        </p:txBody>
      </p:sp>
      <p:sp>
        <p:nvSpPr>
          <p:cNvPr id="6" name="Rounded Rectangle 5"/>
          <p:cNvSpPr/>
          <p:nvPr/>
        </p:nvSpPr>
        <p:spPr>
          <a:xfrm>
            <a:off x="548640" y="2240280"/>
            <a:ext cx="5760720" cy="3840480"/>
          </a:xfrm>
          <a:prstGeom prst="roundRect">
            <a:avLst>
              <a:gd name="adj" fmla="val 5000"/>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9808" y="2386584"/>
            <a:ext cx="5358383" cy="3547872"/>
          </a:xfrm>
          <a:prstGeom prst="rect">
            <a:avLst/>
          </a:prstGeom>
          <a:noFill/>
        </p:spPr>
        <p:txBody>
          <a:bodyPr wrap="square" lIns="0" tIns="0" rIns="0" bIns="0" anchor="t">
            <a:spAutoFit/>
          </a:bodyPr>
          <a:lstStyle/>
          <a:p>
            <a:pPr algn="l">
              <a:lnSpc>
                <a:spcPct val="105000"/>
              </a:lnSpc>
              <a:spcAft>
                <a:spcPts val="100"/>
              </a:spcAft>
            </a:pPr>
            <a:r>
              <a:rPr sz="1130" b="0" i="0">
                <a:solidFill>
                  <a:srgbClr val="7DD3FC"/>
                </a:solidFill>
                <a:latin typeface="Courier New"/>
              </a:rPr>
              <a:t>def clean(text):</a:t>
            </a:r>
          </a:p>
          <a:p>
            <a:pPr algn="l">
              <a:lnSpc>
                <a:spcPct val="105000"/>
              </a:lnSpc>
              <a:spcAft>
                <a:spcPts val="100"/>
              </a:spcAft>
            </a:pPr>
            <a:r>
              <a:rPr sz="1130" b="0" i="0">
                <a:solidFill>
                  <a:srgbClr val="7DD3FC"/>
                </a:solidFill>
                <a:latin typeface="Courier New"/>
              </a:rPr>
              <a:t>    text = text.lower()</a:t>
            </a:r>
          </a:p>
          <a:p>
            <a:pPr algn="l">
              <a:lnSpc>
                <a:spcPct val="105000"/>
              </a:lnSpc>
              <a:spcAft>
                <a:spcPts val="100"/>
              </a:spcAft>
            </a:pPr>
            <a:r>
              <a:rPr sz="1130" b="0" i="0">
                <a:solidFill>
                  <a:srgbClr val="6EE7B7"/>
                </a:solidFill>
                <a:latin typeface="Courier New"/>
              </a:rPr>
              <a:t>    # keep letters + spaces only</a:t>
            </a:r>
          </a:p>
          <a:p>
            <a:pPr algn="l">
              <a:lnSpc>
                <a:spcPct val="105000"/>
              </a:lnSpc>
              <a:spcAft>
                <a:spcPts val="100"/>
              </a:spcAft>
            </a:pPr>
            <a:r>
              <a:rPr sz="1130" b="0" i="0">
                <a:solidFill>
                  <a:srgbClr val="7DD3FC"/>
                </a:solidFill>
                <a:latin typeface="Courier New"/>
              </a:rPr>
              <a:t>    text = re.sub(r'[^a-z\s]', ' ', text)</a:t>
            </a:r>
          </a:p>
          <a:p>
            <a:pPr algn="l">
              <a:lnSpc>
                <a:spcPct val="105000"/>
              </a:lnSpc>
              <a:spcAft>
                <a:spcPts val="100"/>
              </a:spcAft>
            </a:pPr>
            <a:r>
              <a:rPr sz="1130" b="0" i="0">
                <a:solidFill>
                  <a:srgbClr val="7DD3FC"/>
                </a:solidFill>
                <a:latin typeface="Courier New"/>
              </a:rPr>
              <a:t>    tokens = text.split()</a:t>
            </a:r>
          </a:p>
          <a:p>
            <a:pPr algn="l">
              <a:lnSpc>
                <a:spcPct val="105000"/>
              </a:lnSpc>
              <a:spcAft>
                <a:spcPts val="100"/>
              </a:spcAft>
            </a:pPr>
            <a:r>
              <a:rPr sz="1130" b="0" i="0">
                <a:solidFill>
                  <a:srgbClr val="7DD3FC"/>
                </a:solidFill>
                <a:latin typeface="Courier New"/>
              </a:rPr>
              <a:t>    tokens = [w for w in tokens</a:t>
            </a:r>
          </a:p>
          <a:p>
            <a:pPr algn="l">
              <a:lnSpc>
                <a:spcPct val="105000"/>
              </a:lnSpc>
              <a:spcAft>
                <a:spcPts val="100"/>
              </a:spcAft>
            </a:pPr>
            <a:r>
              <a:rPr sz="1130" b="0" i="0">
                <a:solidFill>
                  <a:srgbClr val="7DD3FC"/>
                </a:solidFill>
                <a:latin typeface="Courier New"/>
              </a:rPr>
              <a:t>              if w not in stopwords]</a:t>
            </a:r>
          </a:p>
          <a:p>
            <a:pPr algn="l">
              <a:lnSpc>
                <a:spcPct val="105000"/>
              </a:lnSpc>
              <a:spcAft>
                <a:spcPts val="100"/>
              </a:spcAft>
            </a:pPr>
            <a:r>
              <a:rPr sz="1130" b="0" i="0">
                <a:solidFill>
                  <a:srgbClr val="7DD3FC"/>
                </a:solidFill>
                <a:latin typeface="Courier New"/>
              </a:rPr>
              <a:t>    return ' '.join(tokens)</a:t>
            </a:r>
          </a:p>
        </p:txBody>
      </p:sp>
      <p:sp>
        <p:nvSpPr>
          <p:cNvPr id="8" name="TextBox 7"/>
          <p:cNvSpPr txBox="1"/>
          <p:nvPr/>
        </p:nvSpPr>
        <p:spPr>
          <a:xfrm>
            <a:off x="6583679" y="2240280"/>
            <a:ext cx="5059375" cy="3931920"/>
          </a:xfrm>
          <a:prstGeom prst="rect">
            <a:avLst/>
          </a:prstGeom>
          <a:noFill/>
        </p:spPr>
        <p:txBody>
          <a:bodyPr wrap="square" lIns="0" tIns="0" rIns="0" bIns="0" anchor="t">
            <a:spAutoFit/>
          </a:bodyPr>
          <a:lstStyle/>
          <a:p>
            <a:pPr algn="l">
              <a:lnSpc>
                <a:spcPct val="100000"/>
              </a:lnSpc>
              <a:spcAft>
                <a:spcPts val="200"/>
              </a:spcAft>
            </a:pPr>
            <a:r>
              <a:rPr sz="1300" b="1" i="0">
                <a:solidFill>
                  <a:srgbClr val="0E7C7B"/>
                </a:solidFill>
                <a:latin typeface="Calibri"/>
              </a:rPr>
              <a:t>1  Lowercase</a:t>
            </a:r>
          </a:p>
          <a:p>
            <a:pPr algn="l">
              <a:lnSpc>
                <a:spcPct val="105000"/>
              </a:lnSpc>
              <a:spcAft>
                <a:spcPts val="1000"/>
              </a:spcAft>
            </a:pPr>
            <a:r>
              <a:rPr sz="1180" b="0" i="0">
                <a:solidFill>
                  <a:srgbClr val="0D1B2A"/>
                </a:solidFill>
                <a:latin typeface="Calibri"/>
              </a:rPr>
              <a:t>one feature for “Heart” / “heart”</a:t>
            </a:r>
          </a:p>
          <a:p>
            <a:pPr algn="l">
              <a:lnSpc>
                <a:spcPct val="100000"/>
              </a:lnSpc>
              <a:spcAft>
                <a:spcPts val="200"/>
              </a:spcAft>
            </a:pPr>
            <a:r>
              <a:rPr sz="1300" b="1" i="0">
                <a:solidFill>
                  <a:srgbClr val="0E7C7B"/>
                </a:solidFill>
                <a:latin typeface="Calibri"/>
              </a:rPr>
              <a:t>2  Strip punctuation &amp; digits</a:t>
            </a:r>
          </a:p>
          <a:p>
            <a:pPr algn="l">
              <a:lnSpc>
                <a:spcPct val="105000"/>
              </a:lnSpc>
              <a:spcAft>
                <a:spcPts val="1000"/>
              </a:spcAft>
            </a:pPr>
            <a:r>
              <a:rPr sz="1180" b="0" i="0">
                <a:solidFill>
                  <a:srgbClr val="0D1B2A"/>
                </a:solidFill>
                <a:latin typeface="Calibri"/>
              </a:rPr>
              <a:t>replace with space, not empty — avoids word fusion</a:t>
            </a:r>
          </a:p>
          <a:p>
            <a:pPr algn="l">
              <a:lnSpc>
                <a:spcPct val="100000"/>
              </a:lnSpc>
              <a:spcAft>
                <a:spcPts val="200"/>
              </a:spcAft>
            </a:pPr>
            <a:r>
              <a:rPr sz="1300" b="1" i="0">
                <a:solidFill>
                  <a:srgbClr val="0E7C7B"/>
                </a:solidFill>
                <a:latin typeface="Calibri"/>
              </a:rPr>
              <a:t>3  Tokenize on whitespace</a:t>
            </a:r>
          </a:p>
          <a:p>
            <a:pPr algn="l">
              <a:lnSpc>
                <a:spcPct val="105000"/>
              </a:lnSpc>
              <a:spcAft>
                <a:spcPts val="1000"/>
              </a:spcAft>
            </a:pPr>
            <a:r>
              <a:rPr sz="1180" b="0" i="0">
                <a:solidFill>
                  <a:srgbClr val="0D1B2A"/>
                </a:solidFill>
                <a:latin typeface="Calibri"/>
              </a:rPr>
              <a:t>split into a word list</a:t>
            </a:r>
          </a:p>
          <a:p>
            <a:pPr algn="l">
              <a:lnSpc>
                <a:spcPct val="100000"/>
              </a:lnSpc>
              <a:spcAft>
                <a:spcPts val="200"/>
              </a:spcAft>
            </a:pPr>
            <a:r>
              <a:rPr sz="1300" b="1" i="0">
                <a:solidFill>
                  <a:srgbClr val="0E7C7B"/>
                </a:solidFill>
                <a:latin typeface="Calibri"/>
              </a:rPr>
              <a:t>4  Remove stopwords</a:t>
            </a:r>
          </a:p>
          <a:p>
            <a:pPr algn="l">
              <a:lnSpc>
                <a:spcPct val="105000"/>
              </a:lnSpc>
              <a:spcAft>
                <a:spcPts val="1000"/>
              </a:spcAft>
            </a:pPr>
            <a:r>
              <a:rPr sz="1180" b="0" i="0">
                <a:solidFill>
                  <a:srgbClr val="0D1B2A"/>
                </a:solidFill>
                <a:latin typeface="Calibri"/>
              </a:rPr>
              <a:t>drop the/and/of — high frequency, no meaning</a:t>
            </a:r>
          </a:p>
          <a:p>
            <a:pPr algn="l">
              <a:lnSpc>
                <a:spcPct val="100000"/>
              </a:lnSpc>
              <a:spcAft>
                <a:spcPts val="200"/>
              </a:spcAft>
            </a:pPr>
            <a:r>
              <a:rPr sz="1300" b="1" i="0">
                <a:solidFill>
                  <a:srgbClr val="0E7C7B"/>
                </a:solidFill>
                <a:latin typeface="Calibri"/>
              </a:rPr>
              <a:t>5  Rejoin to a string</a:t>
            </a:r>
          </a:p>
          <a:p>
            <a:pPr algn="l">
              <a:lnSpc>
                <a:spcPct val="105000"/>
              </a:lnSpc>
              <a:spcAft>
                <a:spcPts val="0"/>
              </a:spcAft>
            </a:pPr>
            <a:r>
              <a:rPr sz="1180" b="0" i="0">
                <a:solidFill>
                  <a:srgbClr val="0D1B2A"/>
                </a:solidFill>
                <a:latin typeface="Calibri"/>
              </a:rPr>
              <a:t>ready for vectorization</a:t>
            </a:r>
          </a:p>
        </p:txBody>
      </p:sp>
    </p:spTree>
    <p:extLst>
      <p:ext uri="{BB962C8B-B14F-4D97-AF65-F5344CB8AC3E}">
        <p14:creationId xmlns:p14="http://schemas.microsoft.com/office/powerpoint/2010/main" val="1379056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892807" cy="329184"/>
          </a:xfrm>
          <a:prstGeom prst="rect">
            <a:avLst/>
          </a:prstGeom>
          <a:noFill/>
        </p:spPr>
        <p:txBody>
          <a:bodyPr wrap="square" lIns="0" tIns="0" rIns="0" bIns="0" anchor="ctr">
            <a:spAutoFit/>
          </a:bodyPr>
          <a:lstStyle/>
          <a:p>
            <a:pPr algn="ctr">
              <a:spcAft>
                <a:spcPts val="0"/>
              </a:spcAft>
            </a:pPr>
            <a:r>
              <a:rPr sz="1000" b="1" i="0">
                <a:solidFill>
                  <a:srgbClr val="FFFFFF"/>
                </a:solidFill>
                <a:latin typeface="Calibri"/>
              </a:rPr>
              <a:t>PHASE 1</a:t>
            </a:r>
          </a:p>
        </p:txBody>
      </p:sp>
      <p:sp>
        <p:nvSpPr>
          <p:cNvPr id="4" name="TextBox 3"/>
          <p:cNvSpPr txBox="1"/>
          <p:nvPr/>
        </p:nvSpPr>
        <p:spPr>
          <a:xfrm>
            <a:off x="548640" y="676656"/>
            <a:ext cx="11094415" cy="868680"/>
          </a:xfrm>
          <a:prstGeom prst="rect">
            <a:avLst/>
          </a:prstGeom>
          <a:noFill/>
        </p:spPr>
        <p:txBody>
          <a:bodyPr wrap="square" lIns="0" tIns="0" rIns="0" bIns="0" anchor="ctr">
            <a:spAutoFit/>
          </a:bodyPr>
          <a:lstStyle/>
          <a:p>
            <a:pPr algn="l">
              <a:spcAft>
                <a:spcPts val="0"/>
              </a:spcAft>
            </a:pPr>
            <a:r>
              <a:rPr sz="3100" b="1" i="0">
                <a:solidFill>
                  <a:srgbClr val="0D1B2A"/>
                </a:solidFill>
                <a:latin typeface="Cambria"/>
              </a:rPr>
              <a:t>See the Transformation in Action</a:t>
            </a:r>
          </a:p>
        </p:txBody>
      </p:sp>
      <p:sp>
        <p:nvSpPr>
          <p:cNvPr id="5" name="TextBox 4"/>
          <p:cNvSpPr txBox="1"/>
          <p:nvPr/>
        </p:nvSpPr>
        <p:spPr>
          <a:xfrm>
            <a:off x="548640" y="1591056"/>
            <a:ext cx="11094415" cy="457200"/>
          </a:xfrm>
          <a:prstGeom prst="rect">
            <a:avLst/>
          </a:prstGeom>
          <a:noFill/>
        </p:spPr>
        <p:txBody>
          <a:bodyPr wrap="square" lIns="0" tIns="0" rIns="0" bIns="0" anchor="ctr">
            <a:spAutoFit/>
          </a:bodyPr>
          <a:lstStyle/>
          <a:p>
            <a:pPr algn="l">
              <a:spcAft>
                <a:spcPts val="0"/>
              </a:spcAft>
            </a:pPr>
            <a:r>
              <a:rPr sz="1450" b="0" i="0">
                <a:solidFill>
                  <a:srgbClr val="64748B"/>
                </a:solidFill>
                <a:latin typeface="Calibri"/>
              </a:rPr>
              <a:t>One real note through each stage of cleaning.</a:t>
            </a:r>
          </a:p>
        </p:txBody>
      </p:sp>
      <p:sp>
        <p:nvSpPr>
          <p:cNvPr id="6" name="Rounded Rectangle 5"/>
          <p:cNvSpPr/>
          <p:nvPr/>
        </p:nvSpPr>
        <p:spPr>
          <a:xfrm>
            <a:off x="548640" y="2194560"/>
            <a:ext cx="11094415" cy="841248"/>
          </a:xfrm>
          <a:prstGeom prst="roundRect">
            <a:avLst>
              <a:gd name="adj" fmla="val 5000"/>
            </a:avLst>
          </a:prstGeom>
          <a:solidFill>
            <a:srgbClr val="F1F5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59" y="2194560"/>
            <a:ext cx="2103120" cy="841248"/>
          </a:xfrm>
          <a:prstGeom prst="rect">
            <a:avLst/>
          </a:prstGeom>
          <a:noFill/>
        </p:spPr>
        <p:txBody>
          <a:bodyPr wrap="square" lIns="0" tIns="0" rIns="0" bIns="0" anchor="ctr">
            <a:spAutoFit/>
          </a:bodyPr>
          <a:lstStyle/>
          <a:p>
            <a:pPr algn="l">
              <a:lnSpc>
                <a:spcPct val="100000"/>
              </a:lnSpc>
              <a:spcAft>
                <a:spcPts val="0"/>
              </a:spcAft>
            </a:pPr>
            <a:r>
              <a:rPr sz="1250" b="1" i="0">
                <a:solidFill>
                  <a:srgbClr val="64748B"/>
                </a:solidFill>
                <a:latin typeface="Calibri"/>
              </a:rPr>
              <a:t>Original</a:t>
            </a:r>
          </a:p>
        </p:txBody>
      </p:sp>
      <p:sp>
        <p:nvSpPr>
          <p:cNvPr id="8" name="TextBox 7"/>
          <p:cNvSpPr txBox="1"/>
          <p:nvPr/>
        </p:nvSpPr>
        <p:spPr>
          <a:xfrm>
            <a:off x="2971800" y="2286000"/>
            <a:ext cx="8396935" cy="658368"/>
          </a:xfrm>
          <a:prstGeom prst="rect">
            <a:avLst/>
          </a:prstGeom>
          <a:noFill/>
        </p:spPr>
        <p:txBody>
          <a:bodyPr wrap="square" lIns="0" tIns="0" rIns="0" bIns="0" anchor="ctr">
            <a:spAutoFit/>
          </a:bodyPr>
          <a:lstStyle/>
          <a:p>
            <a:pPr algn="l">
              <a:lnSpc>
                <a:spcPct val="112000"/>
              </a:lnSpc>
              <a:spcAft>
                <a:spcPts val="0"/>
              </a:spcAft>
            </a:pPr>
            <a:r>
              <a:rPr sz="1150" b="0" i="0">
                <a:solidFill>
                  <a:srgbClr val="0D1B2A"/>
                </a:solidFill>
                <a:latin typeface="Courier New"/>
              </a:rPr>
              <a:t>past medical history:, he has difficulty climbing stairs, personal care, household chores, severe weight problem...</a:t>
            </a:r>
          </a:p>
        </p:txBody>
      </p:sp>
      <p:sp>
        <p:nvSpPr>
          <p:cNvPr id="9" name="Rounded Rectangle 8"/>
          <p:cNvSpPr/>
          <p:nvPr/>
        </p:nvSpPr>
        <p:spPr>
          <a:xfrm>
            <a:off x="548640" y="3200400"/>
            <a:ext cx="11094415"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59" y="3200400"/>
            <a:ext cx="2103120" cy="841248"/>
          </a:xfrm>
          <a:prstGeom prst="rect">
            <a:avLst/>
          </a:prstGeom>
          <a:noFill/>
        </p:spPr>
        <p:txBody>
          <a:bodyPr wrap="square" lIns="0" tIns="0" rIns="0" bIns="0" anchor="ctr">
            <a:spAutoFit/>
          </a:bodyPr>
          <a:lstStyle/>
          <a:p>
            <a:pPr algn="l">
              <a:lnSpc>
                <a:spcPct val="100000"/>
              </a:lnSpc>
              <a:spcAft>
                <a:spcPts val="0"/>
              </a:spcAft>
            </a:pPr>
            <a:r>
              <a:rPr sz="1250" b="1" i="0">
                <a:solidFill>
                  <a:srgbClr val="0D1B2A"/>
                </a:solidFill>
                <a:latin typeface="Calibri"/>
              </a:rPr>
              <a:t>Lowercase</a:t>
            </a:r>
          </a:p>
        </p:txBody>
      </p:sp>
      <p:sp>
        <p:nvSpPr>
          <p:cNvPr id="11" name="TextBox 10"/>
          <p:cNvSpPr txBox="1"/>
          <p:nvPr/>
        </p:nvSpPr>
        <p:spPr>
          <a:xfrm>
            <a:off x="2971800" y="3291840"/>
            <a:ext cx="8396935" cy="658368"/>
          </a:xfrm>
          <a:prstGeom prst="rect">
            <a:avLst/>
          </a:prstGeom>
          <a:noFill/>
        </p:spPr>
        <p:txBody>
          <a:bodyPr wrap="square" lIns="0" tIns="0" rIns="0" bIns="0" anchor="ctr">
            <a:spAutoFit/>
          </a:bodyPr>
          <a:lstStyle/>
          <a:p>
            <a:pPr algn="l">
              <a:lnSpc>
                <a:spcPct val="112000"/>
              </a:lnSpc>
              <a:spcAft>
                <a:spcPts val="0"/>
              </a:spcAft>
            </a:pPr>
            <a:r>
              <a:rPr sz="1150" b="0" i="0">
                <a:solidFill>
                  <a:srgbClr val="0D1B2A"/>
                </a:solidFill>
                <a:latin typeface="Courier New"/>
              </a:rPr>
              <a:t>past medical history:, he has difficulty climbing stairs, personal care, household chores...</a:t>
            </a:r>
          </a:p>
        </p:txBody>
      </p:sp>
      <p:sp>
        <p:nvSpPr>
          <p:cNvPr id="12" name="Rounded Rectangle 11"/>
          <p:cNvSpPr/>
          <p:nvPr/>
        </p:nvSpPr>
        <p:spPr>
          <a:xfrm>
            <a:off x="548640" y="4206240"/>
            <a:ext cx="11094415"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59" y="4206240"/>
            <a:ext cx="2103120" cy="841248"/>
          </a:xfrm>
          <a:prstGeom prst="rect">
            <a:avLst/>
          </a:prstGeom>
          <a:noFill/>
        </p:spPr>
        <p:txBody>
          <a:bodyPr wrap="square" lIns="0" tIns="0" rIns="0" bIns="0" anchor="ctr">
            <a:spAutoFit/>
          </a:bodyPr>
          <a:lstStyle/>
          <a:p>
            <a:pPr algn="l">
              <a:lnSpc>
                <a:spcPct val="100000"/>
              </a:lnSpc>
              <a:spcAft>
                <a:spcPts val="0"/>
              </a:spcAft>
            </a:pPr>
            <a:r>
              <a:rPr sz="1250" b="1" i="0">
                <a:solidFill>
                  <a:srgbClr val="0D1B2A"/>
                </a:solidFill>
                <a:latin typeface="Calibri"/>
              </a:rPr>
              <a:t>Remove punctuation</a:t>
            </a:r>
          </a:p>
        </p:txBody>
      </p:sp>
      <p:sp>
        <p:nvSpPr>
          <p:cNvPr id="14" name="TextBox 13"/>
          <p:cNvSpPr txBox="1"/>
          <p:nvPr/>
        </p:nvSpPr>
        <p:spPr>
          <a:xfrm>
            <a:off x="2971800" y="4297679"/>
            <a:ext cx="8396935" cy="658368"/>
          </a:xfrm>
          <a:prstGeom prst="rect">
            <a:avLst/>
          </a:prstGeom>
          <a:noFill/>
        </p:spPr>
        <p:txBody>
          <a:bodyPr wrap="square" lIns="0" tIns="0" rIns="0" bIns="0" anchor="ctr">
            <a:spAutoFit/>
          </a:bodyPr>
          <a:lstStyle/>
          <a:p>
            <a:pPr algn="l">
              <a:lnSpc>
                <a:spcPct val="112000"/>
              </a:lnSpc>
              <a:spcAft>
                <a:spcPts val="0"/>
              </a:spcAft>
            </a:pPr>
            <a:r>
              <a:rPr sz="1150" b="0" i="0">
                <a:solidFill>
                  <a:srgbClr val="0D1B2A"/>
                </a:solidFill>
                <a:latin typeface="Courier New"/>
              </a:rPr>
              <a:t>past medical history   he has difficulty climbing stairs  personal care  household chores...</a:t>
            </a:r>
          </a:p>
        </p:txBody>
      </p:sp>
      <p:sp>
        <p:nvSpPr>
          <p:cNvPr id="15" name="Rounded Rectangle 14"/>
          <p:cNvSpPr/>
          <p:nvPr/>
        </p:nvSpPr>
        <p:spPr>
          <a:xfrm>
            <a:off x="548640" y="5212079"/>
            <a:ext cx="11094415" cy="841248"/>
          </a:xfrm>
          <a:prstGeom prst="roundRect">
            <a:avLst>
              <a:gd name="adj" fmla="val 5000"/>
            </a:avLst>
          </a:prstGeom>
          <a:solidFill>
            <a:srgbClr val="E0F7F6"/>
          </a:solidFill>
          <a:ln w="12700">
            <a:solidFill>
              <a:srgbClr val="0E7C7B"/>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59" y="5212079"/>
            <a:ext cx="2103120" cy="841248"/>
          </a:xfrm>
          <a:prstGeom prst="rect">
            <a:avLst/>
          </a:prstGeom>
          <a:noFill/>
        </p:spPr>
        <p:txBody>
          <a:bodyPr wrap="square" lIns="0" tIns="0" rIns="0" bIns="0" anchor="ctr">
            <a:spAutoFit/>
          </a:bodyPr>
          <a:lstStyle/>
          <a:p>
            <a:pPr algn="l">
              <a:lnSpc>
                <a:spcPct val="100000"/>
              </a:lnSpc>
              <a:spcAft>
                <a:spcPts val="0"/>
              </a:spcAft>
            </a:pPr>
            <a:r>
              <a:rPr sz="1250" b="1" i="0">
                <a:solidFill>
                  <a:srgbClr val="0E7C7B"/>
                </a:solidFill>
                <a:latin typeface="Calibri"/>
              </a:rPr>
              <a:t>Remove stopwords</a:t>
            </a:r>
          </a:p>
        </p:txBody>
      </p:sp>
      <p:sp>
        <p:nvSpPr>
          <p:cNvPr id="17" name="TextBox 16"/>
          <p:cNvSpPr txBox="1"/>
          <p:nvPr/>
        </p:nvSpPr>
        <p:spPr>
          <a:xfrm>
            <a:off x="2971800" y="5303519"/>
            <a:ext cx="8396935" cy="658368"/>
          </a:xfrm>
          <a:prstGeom prst="rect">
            <a:avLst/>
          </a:prstGeom>
          <a:noFill/>
        </p:spPr>
        <p:txBody>
          <a:bodyPr wrap="square" lIns="0" tIns="0" rIns="0" bIns="0" anchor="ctr">
            <a:spAutoFit/>
          </a:bodyPr>
          <a:lstStyle/>
          <a:p>
            <a:pPr algn="l">
              <a:lnSpc>
                <a:spcPct val="112000"/>
              </a:lnSpc>
              <a:spcAft>
                <a:spcPts val="0"/>
              </a:spcAft>
            </a:pPr>
            <a:r>
              <a:rPr sz="1150" b="0" i="0">
                <a:solidFill>
                  <a:srgbClr val="0D1B2A"/>
                </a:solidFill>
                <a:latin typeface="Courier New"/>
              </a:rPr>
              <a:t>past medical history difficulty climbing stairs personal care household chores severe weight problem</a:t>
            </a:r>
          </a:p>
        </p:txBody>
      </p:sp>
      <p:sp>
        <p:nvSpPr>
          <p:cNvPr id="18" name="Rounded Rectangle 17"/>
          <p:cNvSpPr/>
          <p:nvPr/>
        </p:nvSpPr>
        <p:spPr>
          <a:xfrm>
            <a:off x="548640" y="6217919"/>
            <a:ext cx="11094415" cy="566928"/>
          </a:xfrm>
          <a:prstGeom prst="roundRect">
            <a:avLst>
              <a:gd name="adj" fmla="val 6000"/>
            </a:avLst>
          </a:prstGeom>
          <a:solidFill>
            <a:srgbClr val="E0F7F6"/>
          </a:solidFill>
          <a:ln w="12700">
            <a:solidFill>
              <a:srgbClr val="E0F7F6"/>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2" y="6400799"/>
            <a:ext cx="10582351" cy="201167"/>
          </a:xfrm>
          <a:prstGeom prst="rect">
            <a:avLst/>
          </a:prstGeom>
          <a:noFill/>
        </p:spPr>
        <p:txBody>
          <a:bodyPr wrap="square" lIns="0" tIns="0" rIns="0" bIns="0" anchor="ctr">
            <a:spAutoFit/>
          </a:bodyPr>
          <a:lstStyle/>
          <a:p>
            <a:pPr algn="l">
              <a:lnSpc>
                <a:spcPct val="106000"/>
              </a:lnSpc>
              <a:spcAft>
                <a:spcPts val="400"/>
              </a:spcAft>
            </a:pPr>
            <a:r>
              <a:rPr sz="1250" b="1" i="0">
                <a:solidFill>
                  <a:srgbClr val="0E7C7B"/>
                </a:solidFill>
                <a:latin typeface="Calibri"/>
              </a:rPr>
              <a:t>82 words → 47 words (43% reduction) — </a:t>
            </a:r>
            <a:r>
              <a:rPr sz="1250" b="0" i="0">
                <a:solidFill>
                  <a:srgbClr val="0D1B2A"/>
                </a:solidFill>
                <a:latin typeface="Calibri"/>
              </a:rPr>
              <a:t>medical terms preserved, grammatical filler dropped.</a:t>
            </a:r>
          </a:p>
        </p:txBody>
      </p:sp>
    </p:spTree>
    <p:extLst>
      <p:ext uri="{BB962C8B-B14F-4D97-AF65-F5344CB8AC3E}">
        <p14:creationId xmlns:p14="http://schemas.microsoft.com/office/powerpoint/2010/main" val="2524142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892807" cy="329184"/>
          </a:xfrm>
          <a:prstGeom prst="rect">
            <a:avLst/>
          </a:prstGeom>
          <a:noFill/>
        </p:spPr>
        <p:txBody>
          <a:bodyPr wrap="square" lIns="0" tIns="0" rIns="0" bIns="0" anchor="ctr">
            <a:spAutoFit/>
          </a:bodyPr>
          <a:lstStyle/>
          <a:p>
            <a:pPr algn="ctr">
              <a:spcAft>
                <a:spcPts val="0"/>
              </a:spcAft>
            </a:pPr>
            <a:r>
              <a:rPr sz="1000" b="1" i="0">
                <a:solidFill>
                  <a:srgbClr val="FFFFFF"/>
                </a:solidFill>
                <a:latin typeface="Calibri"/>
              </a:rPr>
              <a:t>PHASE 1</a:t>
            </a:r>
          </a:p>
        </p:txBody>
      </p:sp>
      <p:sp>
        <p:nvSpPr>
          <p:cNvPr id="4" name="TextBox 3"/>
          <p:cNvSpPr txBox="1"/>
          <p:nvPr/>
        </p:nvSpPr>
        <p:spPr>
          <a:xfrm>
            <a:off x="548640" y="676656"/>
            <a:ext cx="11094415" cy="868680"/>
          </a:xfrm>
          <a:prstGeom prst="rect">
            <a:avLst/>
          </a:prstGeom>
          <a:noFill/>
        </p:spPr>
        <p:txBody>
          <a:bodyPr wrap="square" lIns="0" tIns="0" rIns="0" bIns="0" anchor="ctr">
            <a:spAutoFit/>
          </a:bodyPr>
          <a:lstStyle/>
          <a:p>
            <a:pPr algn="l">
              <a:spcAft>
                <a:spcPts val="0"/>
              </a:spcAft>
            </a:pPr>
            <a:r>
              <a:rPr sz="3700" b="1" i="0">
                <a:solidFill>
                  <a:srgbClr val="0D1B2A"/>
                </a:solidFill>
                <a:latin typeface="Cambria"/>
              </a:rPr>
              <a:t>Top Words After Cleaning</a:t>
            </a:r>
          </a:p>
        </p:txBody>
      </p:sp>
      <p:sp>
        <p:nvSpPr>
          <p:cNvPr id="5" name="TextBox 4"/>
          <p:cNvSpPr txBox="1"/>
          <p:nvPr/>
        </p:nvSpPr>
        <p:spPr>
          <a:xfrm>
            <a:off x="548640" y="1591056"/>
            <a:ext cx="11094415" cy="457200"/>
          </a:xfrm>
          <a:prstGeom prst="rect">
            <a:avLst/>
          </a:prstGeom>
          <a:noFill/>
        </p:spPr>
        <p:txBody>
          <a:bodyPr wrap="square" lIns="0" tIns="0" rIns="0" bIns="0" anchor="ctr">
            <a:spAutoFit/>
          </a:bodyPr>
          <a:lstStyle/>
          <a:p>
            <a:pPr algn="l">
              <a:spcAft>
                <a:spcPts val="0"/>
              </a:spcAft>
            </a:pPr>
            <a:r>
              <a:rPr sz="1450" b="0" i="0">
                <a:solidFill>
                  <a:srgbClr val="64748B"/>
                </a:solidFill>
                <a:latin typeface="Calibri"/>
              </a:rPr>
              <a:t>Medical vocabulary dominates — the cleaning worked.</a:t>
            </a:r>
          </a:p>
        </p:txBody>
      </p:sp>
      <p:pic>
        <p:nvPicPr>
          <p:cNvPr id="6" name="Picture 5" descr="wordcloud.png"/>
          <p:cNvPicPr>
            <a:picLocks noChangeAspect="1"/>
          </p:cNvPicPr>
          <p:nvPr/>
        </p:nvPicPr>
        <p:blipFill>
          <a:blip r:embed="rId3"/>
          <a:stretch>
            <a:fillRect/>
          </a:stretch>
        </p:blipFill>
        <p:spPr>
          <a:xfrm>
            <a:off x="548640" y="2194560"/>
            <a:ext cx="7040880" cy="3681346"/>
          </a:xfrm>
          <a:prstGeom prst="rect">
            <a:avLst/>
          </a:prstGeom>
        </p:spPr>
      </p:pic>
      <p:graphicFrame>
        <p:nvGraphicFramePr>
          <p:cNvPr id="7" name="Table 6"/>
          <p:cNvGraphicFramePr>
            <a:graphicFrameLocks noGrp="1"/>
          </p:cNvGraphicFramePr>
          <p:nvPr/>
        </p:nvGraphicFramePr>
        <p:xfrm>
          <a:off x="7818120" y="2240280"/>
          <a:ext cx="3824934" cy="2194560"/>
        </p:xfrm>
        <a:graphic>
          <a:graphicData uri="http://schemas.openxmlformats.org/drawingml/2006/table">
            <a:tbl>
              <a:tblPr firstRow="1"/>
              <a:tblGrid>
                <a:gridCol w="2218462">
                  <a:extLst>
                    <a:ext uri="{9D8B030D-6E8A-4147-A177-3AD203B41FA5}">
                      <a16:colId xmlns:a16="http://schemas.microsoft.com/office/drawing/2014/main" val="20000"/>
                    </a:ext>
                  </a:extLst>
                </a:gridCol>
                <a:gridCol w="1606472">
                  <a:extLst>
                    <a:ext uri="{9D8B030D-6E8A-4147-A177-3AD203B41FA5}">
                      <a16:colId xmlns:a16="http://schemas.microsoft.com/office/drawing/2014/main" val="20001"/>
                    </a:ext>
                  </a:extLst>
                </a:gridCol>
              </a:tblGrid>
              <a:tr h="365760">
                <a:tc>
                  <a:txBody>
                    <a:bodyPr/>
                    <a:lstStyle/>
                    <a:p>
                      <a:pPr algn="l"/>
                      <a:r>
                        <a:rPr sz="1200" b="1">
                          <a:solidFill>
                            <a:srgbClr val="FFFFFF"/>
                          </a:solidFill>
                          <a:latin typeface="Calibri"/>
                        </a:rPr>
                        <a:t>word</a:t>
                      </a:r>
                    </a:p>
                  </a:txBody>
                  <a:tcPr marL="82296" marR="82296" marT="18288" marB="18288" anchor="ctr">
                    <a:solidFill>
                      <a:srgbClr val="0E7C7B"/>
                    </a:solidFill>
                  </a:tcPr>
                </a:tc>
                <a:tc>
                  <a:txBody>
                    <a:bodyPr/>
                    <a:lstStyle/>
                    <a:p>
                      <a:pPr algn="r"/>
                      <a:r>
                        <a:rPr sz="1200" b="1">
                          <a:solidFill>
                            <a:srgbClr val="FFFFFF"/>
                          </a:solidFill>
                          <a:latin typeface="Calibri"/>
                        </a:rPr>
                        <a:t>count</a:t>
                      </a:r>
                    </a:p>
                  </a:txBody>
                  <a:tcPr marL="82296" marR="82296" marT="18288" marB="18288" anchor="ctr">
                    <a:solidFill>
                      <a:srgbClr val="0E7C7B"/>
                    </a:solidFill>
                  </a:tcPr>
                </a:tc>
                <a:extLst>
                  <a:ext uri="{0D108BD9-81ED-4DB2-BD59-A6C34878D82A}">
                    <a16:rowId xmlns:a16="http://schemas.microsoft.com/office/drawing/2014/main" val="10000"/>
                  </a:ext>
                </a:extLst>
              </a:tr>
              <a:tr h="365760">
                <a:tc>
                  <a:txBody>
                    <a:bodyPr/>
                    <a:lstStyle/>
                    <a:p>
                      <a:pPr algn="l"/>
                      <a:r>
                        <a:rPr sz="1200" b="0">
                          <a:solidFill>
                            <a:srgbClr val="0D1B2A"/>
                          </a:solidFill>
                          <a:latin typeface="Courier New"/>
                        </a:rPr>
                        <a:t>patient</a:t>
                      </a:r>
                    </a:p>
                  </a:txBody>
                  <a:tcPr marL="82296" marR="82296" marT="18288" marB="18288" anchor="ctr">
                    <a:solidFill>
                      <a:srgbClr val="FFFFFF"/>
                    </a:solidFill>
                  </a:tcPr>
                </a:tc>
                <a:tc>
                  <a:txBody>
                    <a:bodyPr/>
                    <a:lstStyle/>
                    <a:p>
                      <a:pPr algn="r"/>
                      <a:r>
                        <a:rPr sz="1200" b="0">
                          <a:solidFill>
                            <a:srgbClr val="0D1B2A"/>
                          </a:solidFill>
                          <a:latin typeface="Calibri"/>
                        </a:rPr>
                        <a:t>12,598</a:t>
                      </a:r>
                    </a:p>
                  </a:txBody>
                  <a:tcPr marL="82296" marR="82296" marT="18288" marB="18288" anchor="ctr">
                    <a:solidFill>
                      <a:srgbClr val="FFFFFF"/>
                    </a:solidFill>
                  </a:tcPr>
                </a:tc>
                <a:extLst>
                  <a:ext uri="{0D108BD9-81ED-4DB2-BD59-A6C34878D82A}">
                    <a16:rowId xmlns:a16="http://schemas.microsoft.com/office/drawing/2014/main" val="10001"/>
                  </a:ext>
                </a:extLst>
              </a:tr>
              <a:tr h="365760">
                <a:tc>
                  <a:txBody>
                    <a:bodyPr/>
                    <a:lstStyle/>
                    <a:p>
                      <a:pPr algn="l"/>
                      <a:r>
                        <a:rPr sz="1200" b="0">
                          <a:solidFill>
                            <a:srgbClr val="0D1B2A"/>
                          </a:solidFill>
                          <a:latin typeface="Courier New"/>
                        </a:rPr>
                        <a:t>right</a:t>
                      </a:r>
                    </a:p>
                  </a:txBody>
                  <a:tcPr marL="82296" marR="82296" marT="18288" marB="18288" anchor="ctr">
                    <a:solidFill>
                      <a:srgbClr val="F1F5F9"/>
                    </a:solidFill>
                  </a:tcPr>
                </a:tc>
                <a:tc>
                  <a:txBody>
                    <a:bodyPr/>
                    <a:lstStyle/>
                    <a:p>
                      <a:pPr algn="r"/>
                      <a:r>
                        <a:rPr sz="1200" b="0">
                          <a:solidFill>
                            <a:srgbClr val="0D1B2A"/>
                          </a:solidFill>
                          <a:latin typeface="Calibri"/>
                        </a:rPr>
                        <a:t>6,038</a:t>
                      </a:r>
                    </a:p>
                  </a:txBody>
                  <a:tcPr marL="82296" marR="82296" marT="18288" marB="18288" anchor="ctr">
                    <a:solidFill>
                      <a:srgbClr val="F1F5F9"/>
                    </a:solidFill>
                  </a:tcPr>
                </a:tc>
                <a:extLst>
                  <a:ext uri="{0D108BD9-81ED-4DB2-BD59-A6C34878D82A}">
                    <a16:rowId xmlns:a16="http://schemas.microsoft.com/office/drawing/2014/main" val="10002"/>
                  </a:ext>
                </a:extLst>
              </a:tr>
              <a:tr h="365760">
                <a:tc>
                  <a:txBody>
                    <a:bodyPr/>
                    <a:lstStyle/>
                    <a:p>
                      <a:pPr algn="l"/>
                      <a:r>
                        <a:rPr sz="1200" b="0">
                          <a:solidFill>
                            <a:srgbClr val="0D1B2A"/>
                          </a:solidFill>
                          <a:latin typeface="Courier New"/>
                        </a:rPr>
                        <a:t>left</a:t>
                      </a:r>
                    </a:p>
                  </a:txBody>
                  <a:tcPr marL="82296" marR="82296" marT="18288" marB="18288" anchor="ctr">
                    <a:solidFill>
                      <a:srgbClr val="FFFFFF"/>
                    </a:solidFill>
                  </a:tcPr>
                </a:tc>
                <a:tc>
                  <a:txBody>
                    <a:bodyPr/>
                    <a:lstStyle/>
                    <a:p>
                      <a:pPr algn="r"/>
                      <a:r>
                        <a:rPr sz="1200" b="0">
                          <a:solidFill>
                            <a:srgbClr val="0D1B2A"/>
                          </a:solidFill>
                          <a:latin typeface="Calibri"/>
                        </a:rPr>
                        <a:t>5,883</a:t>
                      </a:r>
                    </a:p>
                  </a:txBody>
                  <a:tcPr marL="82296" marR="82296" marT="18288" marB="18288" anchor="ctr">
                    <a:solidFill>
                      <a:srgbClr val="FFFFFF"/>
                    </a:solidFill>
                  </a:tcPr>
                </a:tc>
                <a:extLst>
                  <a:ext uri="{0D108BD9-81ED-4DB2-BD59-A6C34878D82A}">
                    <a16:rowId xmlns:a16="http://schemas.microsoft.com/office/drawing/2014/main" val="10003"/>
                  </a:ext>
                </a:extLst>
              </a:tr>
              <a:tr h="365760">
                <a:tc>
                  <a:txBody>
                    <a:bodyPr/>
                    <a:lstStyle/>
                    <a:p>
                      <a:pPr algn="l"/>
                      <a:r>
                        <a:rPr sz="1200" b="0">
                          <a:solidFill>
                            <a:srgbClr val="0D1B2A"/>
                          </a:solidFill>
                          <a:latin typeface="Courier New"/>
                        </a:rPr>
                        <a:t>history</a:t>
                      </a:r>
                    </a:p>
                  </a:txBody>
                  <a:tcPr marL="82296" marR="82296" marT="18288" marB="18288" anchor="ctr">
                    <a:solidFill>
                      <a:srgbClr val="F1F5F9"/>
                    </a:solidFill>
                  </a:tcPr>
                </a:tc>
                <a:tc>
                  <a:txBody>
                    <a:bodyPr/>
                    <a:lstStyle/>
                    <a:p>
                      <a:pPr algn="r"/>
                      <a:r>
                        <a:rPr sz="1200" b="0">
                          <a:solidFill>
                            <a:srgbClr val="0D1B2A"/>
                          </a:solidFill>
                          <a:latin typeface="Calibri"/>
                        </a:rPr>
                        <a:t>4,955</a:t>
                      </a:r>
                    </a:p>
                  </a:txBody>
                  <a:tcPr marL="82296" marR="82296" marT="18288" marB="18288" anchor="ctr">
                    <a:solidFill>
                      <a:srgbClr val="F1F5F9"/>
                    </a:solidFill>
                  </a:tcPr>
                </a:tc>
                <a:extLst>
                  <a:ext uri="{0D108BD9-81ED-4DB2-BD59-A6C34878D82A}">
                    <a16:rowId xmlns:a16="http://schemas.microsoft.com/office/drawing/2014/main" val="10004"/>
                  </a:ext>
                </a:extLst>
              </a:tr>
              <a:tr h="365760">
                <a:tc>
                  <a:txBody>
                    <a:bodyPr/>
                    <a:lstStyle/>
                    <a:p>
                      <a:pPr algn="l"/>
                      <a:r>
                        <a:rPr sz="1200" b="0">
                          <a:solidFill>
                            <a:srgbClr val="0D1B2A"/>
                          </a:solidFill>
                          <a:latin typeface="Courier New"/>
                        </a:rPr>
                        <a:t>procedure</a:t>
                      </a:r>
                    </a:p>
                  </a:txBody>
                  <a:tcPr marL="82296" marR="82296" marT="18288" marB="18288" anchor="ctr">
                    <a:solidFill>
                      <a:srgbClr val="FFFFFF"/>
                    </a:solidFill>
                  </a:tcPr>
                </a:tc>
                <a:tc>
                  <a:txBody>
                    <a:bodyPr/>
                    <a:lstStyle/>
                    <a:p>
                      <a:pPr algn="r"/>
                      <a:r>
                        <a:rPr sz="1200" b="0">
                          <a:solidFill>
                            <a:srgbClr val="0D1B2A"/>
                          </a:solidFill>
                          <a:latin typeface="Calibri"/>
                        </a:rPr>
                        <a:t>3,935</a:t>
                      </a:r>
                    </a:p>
                  </a:txBody>
                  <a:tcPr marL="82296" marR="82296"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8" name="Rounded Rectangle 7"/>
          <p:cNvSpPr/>
          <p:nvPr/>
        </p:nvSpPr>
        <p:spPr>
          <a:xfrm>
            <a:off x="7818120" y="4892040"/>
            <a:ext cx="3824935" cy="1234440"/>
          </a:xfrm>
          <a:prstGeom prst="roundRect">
            <a:avLst>
              <a:gd name="adj" fmla="val 6000"/>
            </a:avLst>
          </a:prstGeom>
          <a:solidFill>
            <a:srgbClr val="ECFDF5"/>
          </a:solidFill>
          <a:ln w="12700">
            <a:solidFill>
              <a:srgbClr val="A7F3D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74152" y="5074920"/>
            <a:ext cx="3312871" cy="868680"/>
          </a:xfrm>
          <a:prstGeom prst="rect">
            <a:avLst/>
          </a:prstGeom>
          <a:noFill/>
        </p:spPr>
        <p:txBody>
          <a:bodyPr wrap="square" lIns="0" tIns="0" rIns="0" bIns="0" anchor="ctr">
            <a:spAutoFit/>
          </a:bodyPr>
          <a:lstStyle/>
          <a:p>
            <a:pPr algn="l">
              <a:lnSpc>
                <a:spcPct val="106000"/>
              </a:lnSpc>
              <a:spcAft>
                <a:spcPts val="400"/>
              </a:spcAft>
            </a:pPr>
            <a:r>
              <a:rPr sz="1250" b="1" i="0">
                <a:solidFill>
                  <a:srgbClr val="047857"/>
                </a:solidFill>
                <a:latin typeface="Calibri"/>
              </a:rPr>
              <a:t>Quality check passed</a:t>
            </a:r>
          </a:p>
          <a:p>
            <a:pPr algn="l">
              <a:lnSpc>
                <a:spcPct val="110000"/>
              </a:lnSpc>
              <a:spcAft>
                <a:spcPts val="400"/>
              </a:spcAft>
            </a:pPr>
            <a:r>
              <a:rPr sz="1150" b="0" i="0">
                <a:solidFill>
                  <a:srgbClr val="0D1B2A"/>
                </a:solidFill>
                <a:latin typeface="Calibri"/>
              </a:rPr>
              <a:t>Output is medical terms, not grammar words. A few artifacts (c, x) remain — handled in TF-IDF.</a:t>
            </a:r>
          </a:p>
        </p:txBody>
      </p:sp>
    </p:spTree>
    <p:extLst>
      <p:ext uri="{BB962C8B-B14F-4D97-AF65-F5344CB8AC3E}">
        <p14:creationId xmlns:p14="http://schemas.microsoft.com/office/powerpoint/2010/main" val="1918357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892807" cy="329184"/>
          </a:xfrm>
          <a:prstGeom prst="rect">
            <a:avLst/>
          </a:prstGeom>
          <a:noFill/>
        </p:spPr>
        <p:txBody>
          <a:bodyPr wrap="square" lIns="0" tIns="0" rIns="0" bIns="0" anchor="ctr">
            <a:spAutoFit/>
          </a:bodyPr>
          <a:lstStyle/>
          <a:p>
            <a:pPr algn="ctr">
              <a:spcAft>
                <a:spcPts val="0"/>
              </a:spcAft>
            </a:pPr>
            <a:r>
              <a:rPr sz="1000" b="1" i="0">
                <a:solidFill>
                  <a:srgbClr val="FFFFFF"/>
                </a:solidFill>
                <a:latin typeface="Calibri"/>
              </a:rPr>
              <a:t>PHASE 1</a:t>
            </a:r>
          </a:p>
        </p:txBody>
      </p:sp>
      <p:sp>
        <p:nvSpPr>
          <p:cNvPr id="4" name="TextBox 3"/>
          <p:cNvSpPr txBox="1"/>
          <p:nvPr/>
        </p:nvSpPr>
        <p:spPr>
          <a:xfrm>
            <a:off x="548640" y="676656"/>
            <a:ext cx="11094415" cy="868680"/>
          </a:xfrm>
          <a:prstGeom prst="rect">
            <a:avLst/>
          </a:prstGeom>
          <a:noFill/>
        </p:spPr>
        <p:txBody>
          <a:bodyPr wrap="square" lIns="0" tIns="0" rIns="0" bIns="0" anchor="ctr">
            <a:spAutoFit/>
          </a:bodyPr>
          <a:lstStyle/>
          <a:p>
            <a:pPr algn="l">
              <a:spcAft>
                <a:spcPts val="0"/>
              </a:spcAft>
            </a:pPr>
            <a:r>
              <a:rPr sz="3100" b="1" i="0">
                <a:solidFill>
                  <a:srgbClr val="0D1B2A"/>
                </a:solidFill>
                <a:latin typeface="Cambria"/>
              </a:rPr>
              <a:t>Specialties Have Signature Vocabulary</a:t>
            </a:r>
          </a:p>
        </p:txBody>
      </p:sp>
      <p:sp>
        <p:nvSpPr>
          <p:cNvPr id="5" name="TextBox 4"/>
          <p:cNvSpPr txBox="1"/>
          <p:nvPr/>
        </p:nvSpPr>
        <p:spPr>
          <a:xfrm>
            <a:off x="548640" y="1591056"/>
            <a:ext cx="11094415" cy="457200"/>
          </a:xfrm>
          <a:prstGeom prst="rect">
            <a:avLst/>
          </a:prstGeom>
          <a:noFill/>
        </p:spPr>
        <p:txBody>
          <a:bodyPr wrap="square" lIns="0" tIns="0" rIns="0" bIns="0" anchor="ctr">
            <a:spAutoFit/>
          </a:bodyPr>
          <a:lstStyle/>
          <a:p>
            <a:pPr algn="l">
              <a:spcAft>
                <a:spcPts val="0"/>
              </a:spcAft>
            </a:pPr>
            <a:r>
              <a:rPr sz="1450" b="0" i="0">
                <a:solidFill>
                  <a:srgbClr val="64748B"/>
                </a:solidFill>
                <a:latin typeface="Calibri"/>
              </a:rPr>
              <a:t>Top words per specialty — the foundation for classification.</a:t>
            </a:r>
          </a:p>
        </p:txBody>
      </p:sp>
      <p:sp>
        <p:nvSpPr>
          <p:cNvPr id="6" name="Rounded Rectangle 5"/>
          <p:cNvSpPr/>
          <p:nvPr/>
        </p:nvSpPr>
        <p:spPr>
          <a:xfrm>
            <a:off x="548640" y="2240280"/>
            <a:ext cx="1999427" cy="3840480"/>
          </a:xfrm>
          <a:prstGeom prst="roundRect">
            <a:avLst>
              <a:gd name="adj" fmla="val 3500"/>
            </a:avLst>
          </a:prstGeom>
          <a:solidFill>
            <a:srgbClr val="FFFFFF"/>
          </a:solidFill>
          <a:ln w="12700">
            <a:solidFill>
              <a:srgbClr val="E2E8F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58368" y="2368296"/>
            <a:ext cx="1779971" cy="603504"/>
          </a:xfrm>
          <a:prstGeom prst="roundRect">
            <a:avLst>
              <a:gd name="adj" fmla="val 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2368296"/>
            <a:ext cx="1779971" cy="603504"/>
          </a:xfrm>
          <a:prstGeom prst="rect">
            <a:avLst/>
          </a:prstGeom>
          <a:noFill/>
        </p:spPr>
        <p:txBody>
          <a:bodyPr wrap="square" lIns="0" tIns="0" rIns="0" bIns="0" anchor="ctr">
            <a:spAutoFit/>
          </a:bodyPr>
          <a:lstStyle/>
          <a:p>
            <a:pPr algn="ctr">
              <a:lnSpc>
                <a:spcPct val="98000"/>
              </a:lnSpc>
              <a:spcAft>
                <a:spcPts val="0"/>
              </a:spcAft>
            </a:pPr>
            <a:r>
              <a:rPr sz="1150" b="1" i="0">
                <a:solidFill>
                  <a:srgbClr val="FFFFFF"/>
                </a:solidFill>
                <a:latin typeface="Calibri"/>
              </a:rPr>
              <a:t>Cardiovascular /
Pulmonary</a:t>
            </a:r>
          </a:p>
        </p:txBody>
      </p:sp>
      <p:sp>
        <p:nvSpPr>
          <p:cNvPr id="9" name="TextBox 8"/>
          <p:cNvSpPr txBox="1"/>
          <p:nvPr/>
        </p:nvSpPr>
        <p:spPr>
          <a:xfrm>
            <a:off x="713232" y="3108960"/>
            <a:ext cx="1670243" cy="2834640"/>
          </a:xfrm>
          <a:prstGeom prst="rect">
            <a:avLst/>
          </a:prstGeom>
          <a:noFill/>
        </p:spPr>
        <p:txBody>
          <a:bodyPr wrap="square" lIns="0" tIns="0" rIns="0" bIns="0" anchor="t">
            <a:spAutoFit/>
          </a:bodyPr>
          <a:lstStyle/>
          <a:p>
            <a:pPr algn="ctr">
              <a:lnSpc>
                <a:spcPct val="100000"/>
              </a:lnSpc>
              <a:spcAft>
                <a:spcPts val="700"/>
              </a:spcAft>
            </a:pPr>
            <a:r>
              <a:rPr sz="1250" b="0" i="0">
                <a:solidFill>
                  <a:srgbClr val="0D1B2A"/>
                </a:solidFill>
                <a:latin typeface="Courier New"/>
              </a:rPr>
              <a:t>coronary</a:t>
            </a:r>
          </a:p>
          <a:p>
            <a:pPr algn="ctr">
              <a:lnSpc>
                <a:spcPct val="100000"/>
              </a:lnSpc>
              <a:spcAft>
                <a:spcPts val="700"/>
              </a:spcAft>
            </a:pPr>
            <a:r>
              <a:rPr sz="1250" b="0" i="0">
                <a:solidFill>
                  <a:srgbClr val="0D1B2A"/>
                </a:solidFill>
                <a:latin typeface="Courier New"/>
              </a:rPr>
              <a:t>artery</a:t>
            </a:r>
          </a:p>
          <a:p>
            <a:pPr algn="ctr">
              <a:lnSpc>
                <a:spcPct val="100000"/>
              </a:lnSpc>
              <a:spcAft>
                <a:spcPts val="700"/>
              </a:spcAft>
            </a:pPr>
            <a:r>
              <a:rPr sz="1250" b="0" i="0">
                <a:solidFill>
                  <a:srgbClr val="0D1B2A"/>
                </a:solidFill>
                <a:latin typeface="Courier New"/>
              </a:rPr>
              <a:t>catheter</a:t>
            </a:r>
          </a:p>
          <a:p>
            <a:pPr algn="ctr">
              <a:lnSpc>
                <a:spcPct val="100000"/>
              </a:lnSpc>
              <a:spcAft>
                <a:spcPts val="700"/>
              </a:spcAft>
            </a:pPr>
            <a:r>
              <a:rPr sz="1250" b="0" i="0">
                <a:solidFill>
                  <a:srgbClr val="0D1B2A"/>
                </a:solidFill>
                <a:latin typeface="Courier New"/>
              </a:rPr>
              <a:t>chest</a:t>
            </a:r>
          </a:p>
          <a:p>
            <a:pPr algn="ctr">
              <a:lnSpc>
                <a:spcPct val="100000"/>
              </a:lnSpc>
              <a:spcAft>
                <a:spcPts val="700"/>
              </a:spcAft>
            </a:pPr>
            <a:r>
              <a:rPr sz="1250" b="0" i="0">
                <a:solidFill>
                  <a:srgbClr val="0D1B2A"/>
                </a:solidFill>
                <a:latin typeface="Courier New"/>
              </a:rPr>
              <a:t>heart</a:t>
            </a:r>
          </a:p>
          <a:p>
            <a:pPr algn="ctr">
              <a:lnSpc>
                <a:spcPct val="100000"/>
              </a:lnSpc>
              <a:spcAft>
                <a:spcPts val="700"/>
              </a:spcAft>
            </a:pPr>
            <a:r>
              <a:rPr sz="1250" b="0" i="0">
                <a:solidFill>
                  <a:srgbClr val="0D1B2A"/>
                </a:solidFill>
                <a:latin typeface="Courier New"/>
              </a:rPr>
              <a:t>pressure</a:t>
            </a:r>
          </a:p>
        </p:txBody>
      </p:sp>
      <p:sp>
        <p:nvSpPr>
          <p:cNvPr id="10" name="Rounded Rectangle 9"/>
          <p:cNvSpPr/>
          <p:nvPr/>
        </p:nvSpPr>
        <p:spPr>
          <a:xfrm>
            <a:off x="2822387" y="2240280"/>
            <a:ext cx="1999427" cy="3840480"/>
          </a:xfrm>
          <a:prstGeom prst="roundRect">
            <a:avLst>
              <a:gd name="adj" fmla="val 3500"/>
            </a:avLst>
          </a:prstGeom>
          <a:solidFill>
            <a:srgbClr val="FFFFFF"/>
          </a:solidFill>
          <a:ln w="12700">
            <a:solidFill>
              <a:srgbClr val="E2E8F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932115" y="2368296"/>
            <a:ext cx="1779971" cy="603504"/>
          </a:xfrm>
          <a:prstGeom prst="roundRect">
            <a:avLst>
              <a:gd name="adj" fmla="val 8000"/>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932115" y="2368296"/>
            <a:ext cx="1779971" cy="603504"/>
          </a:xfrm>
          <a:prstGeom prst="rect">
            <a:avLst/>
          </a:prstGeom>
          <a:noFill/>
        </p:spPr>
        <p:txBody>
          <a:bodyPr wrap="square" lIns="0" tIns="0" rIns="0" bIns="0" anchor="ctr">
            <a:spAutoFit/>
          </a:bodyPr>
          <a:lstStyle/>
          <a:p>
            <a:pPr algn="ctr">
              <a:lnSpc>
                <a:spcPct val="98000"/>
              </a:lnSpc>
              <a:spcAft>
                <a:spcPts val="0"/>
              </a:spcAft>
            </a:pPr>
            <a:r>
              <a:rPr sz="1150" b="1" i="0">
                <a:solidFill>
                  <a:srgbClr val="FFFFFF"/>
                </a:solidFill>
                <a:latin typeface="Calibri"/>
              </a:rPr>
              <a:t>Orthopedic</a:t>
            </a:r>
          </a:p>
        </p:txBody>
      </p:sp>
      <p:sp>
        <p:nvSpPr>
          <p:cNvPr id="13" name="TextBox 12"/>
          <p:cNvSpPr txBox="1"/>
          <p:nvPr/>
        </p:nvSpPr>
        <p:spPr>
          <a:xfrm>
            <a:off x="2986979" y="3108960"/>
            <a:ext cx="1670243" cy="2834640"/>
          </a:xfrm>
          <a:prstGeom prst="rect">
            <a:avLst/>
          </a:prstGeom>
          <a:noFill/>
        </p:spPr>
        <p:txBody>
          <a:bodyPr wrap="square" lIns="0" tIns="0" rIns="0" bIns="0" anchor="t">
            <a:spAutoFit/>
          </a:bodyPr>
          <a:lstStyle/>
          <a:p>
            <a:pPr algn="ctr">
              <a:lnSpc>
                <a:spcPct val="100000"/>
              </a:lnSpc>
              <a:spcAft>
                <a:spcPts val="700"/>
              </a:spcAft>
            </a:pPr>
            <a:r>
              <a:rPr sz="1250" b="0" i="0">
                <a:solidFill>
                  <a:srgbClr val="0D1B2A"/>
                </a:solidFill>
                <a:latin typeface="Courier New"/>
              </a:rPr>
              <a:t>knee</a:t>
            </a:r>
          </a:p>
          <a:p>
            <a:pPr algn="ctr">
              <a:lnSpc>
                <a:spcPct val="100000"/>
              </a:lnSpc>
              <a:spcAft>
                <a:spcPts val="700"/>
              </a:spcAft>
            </a:pPr>
            <a:r>
              <a:rPr sz="1250" b="0" i="0">
                <a:solidFill>
                  <a:srgbClr val="0D1B2A"/>
                </a:solidFill>
                <a:latin typeface="Courier New"/>
              </a:rPr>
              <a:t>incision</a:t>
            </a:r>
          </a:p>
          <a:p>
            <a:pPr algn="ctr">
              <a:lnSpc>
                <a:spcPct val="100000"/>
              </a:lnSpc>
              <a:spcAft>
                <a:spcPts val="700"/>
              </a:spcAft>
            </a:pPr>
            <a:r>
              <a:rPr sz="1250" b="0" i="0">
                <a:solidFill>
                  <a:srgbClr val="0D1B2A"/>
                </a:solidFill>
                <a:latin typeface="Courier New"/>
              </a:rPr>
              <a:t>lateral</a:t>
            </a:r>
          </a:p>
          <a:p>
            <a:pPr algn="ctr">
              <a:lnSpc>
                <a:spcPct val="100000"/>
              </a:lnSpc>
              <a:spcAft>
                <a:spcPts val="700"/>
              </a:spcAft>
            </a:pPr>
            <a:r>
              <a:rPr sz="1250" b="0" i="0">
                <a:solidFill>
                  <a:srgbClr val="0D1B2A"/>
                </a:solidFill>
                <a:latin typeface="Courier New"/>
              </a:rPr>
              <a:t>medial</a:t>
            </a:r>
          </a:p>
          <a:p>
            <a:pPr algn="ctr">
              <a:lnSpc>
                <a:spcPct val="100000"/>
              </a:lnSpc>
              <a:spcAft>
                <a:spcPts val="700"/>
              </a:spcAft>
            </a:pPr>
            <a:r>
              <a:rPr sz="1250" b="0" i="0">
                <a:solidFill>
                  <a:srgbClr val="0D1B2A"/>
                </a:solidFill>
                <a:latin typeface="Courier New"/>
              </a:rPr>
              <a:t>mm</a:t>
            </a:r>
          </a:p>
          <a:p>
            <a:pPr algn="ctr">
              <a:lnSpc>
                <a:spcPct val="100000"/>
              </a:lnSpc>
              <a:spcAft>
                <a:spcPts val="700"/>
              </a:spcAft>
            </a:pPr>
            <a:r>
              <a:rPr sz="1250" b="0" i="0">
                <a:solidFill>
                  <a:srgbClr val="0D1B2A"/>
                </a:solidFill>
                <a:latin typeface="Courier New"/>
              </a:rPr>
              <a:t>fracture</a:t>
            </a:r>
          </a:p>
        </p:txBody>
      </p:sp>
      <p:sp>
        <p:nvSpPr>
          <p:cNvPr id="14" name="Rounded Rectangle 13"/>
          <p:cNvSpPr/>
          <p:nvPr/>
        </p:nvSpPr>
        <p:spPr>
          <a:xfrm>
            <a:off x="5096134" y="2240280"/>
            <a:ext cx="1999427" cy="3840480"/>
          </a:xfrm>
          <a:prstGeom prst="roundRect">
            <a:avLst>
              <a:gd name="adj" fmla="val 3500"/>
            </a:avLst>
          </a:prstGeom>
          <a:solidFill>
            <a:srgbClr val="FFFFFF"/>
          </a:solidFill>
          <a:ln w="12700">
            <a:solidFill>
              <a:srgbClr val="E2E8F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205862" y="2368296"/>
            <a:ext cx="1779971" cy="603504"/>
          </a:xfrm>
          <a:prstGeom prst="roundRect">
            <a:avLst>
              <a:gd name="adj" fmla="val 8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05862" y="2368296"/>
            <a:ext cx="1779971" cy="603504"/>
          </a:xfrm>
          <a:prstGeom prst="rect">
            <a:avLst/>
          </a:prstGeom>
          <a:noFill/>
        </p:spPr>
        <p:txBody>
          <a:bodyPr wrap="square" lIns="0" tIns="0" rIns="0" bIns="0" anchor="ctr">
            <a:spAutoFit/>
          </a:bodyPr>
          <a:lstStyle/>
          <a:p>
            <a:pPr algn="ctr">
              <a:lnSpc>
                <a:spcPct val="98000"/>
              </a:lnSpc>
              <a:spcAft>
                <a:spcPts val="0"/>
              </a:spcAft>
            </a:pPr>
            <a:r>
              <a:rPr sz="1150" b="1" i="0">
                <a:solidFill>
                  <a:srgbClr val="FFFFFF"/>
                </a:solidFill>
                <a:latin typeface="Calibri"/>
              </a:rPr>
              <a:t>General Medicine</a:t>
            </a:r>
          </a:p>
        </p:txBody>
      </p:sp>
      <p:sp>
        <p:nvSpPr>
          <p:cNvPr id="17" name="TextBox 16"/>
          <p:cNvSpPr txBox="1"/>
          <p:nvPr/>
        </p:nvSpPr>
        <p:spPr>
          <a:xfrm>
            <a:off x="5260726" y="3108960"/>
            <a:ext cx="1670243" cy="2834640"/>
          </a:xfrm>
          <a:prstGeom prst="rect">
            <a:avLst/>
          </a:prstGeom>
          <a:noFill/>
        </p:spPr>
        <p:txBody>
          <a:bodyPr wrap="square" lIns="0" tIns="0" rIns="0" bIns="0" anchor="t">
            <a:spAutoFit/>
          </a:bodyPr>
          <a:lstStyle/>
          <a:p>
            <a:pPr algn="ctr">
              <a:lnSpc>
                <a:spcPct val="100000"/>
              </a:lnSpc>
              <a:spcAft>
                <a:spcPts val="700"/>
              </a:spcAft>
            </a:pPr>
            <a:r>
              <a:rPr sz="1250" b="0" i="0">
                <a:solidFill>
                  <a:srgbClr val="0D1B2A"/>
                </a:solidFill>
                <a:latin typeface="Courier New"/>
              </a:rPr>
              <a:t>history</a:t>
            </a:r>
          </a:p>
          <a:p>
            <a:pPr algn="ctr">
              <a:lnSpc>
                <a:spcPct val="100000"/>
              </a:lnSpc>
              <a:spcAft>
                <a:spcPts val="700"/>
              </a:spcAft>
            </a:pPr>
            <a:r>
              <a:rPr sz="1250" b="0" i="0">
                <a:solidFill>
                  <a:srgbClr val="0D1B2A"/>
                </a:solidFill>
                <a:latin typeface="Courier New"/>
              </a:rPr>
              <a:t>medications</a:t>
            </a:r>
          </a:p>
          <a:p>
            <a:pPr algn="ctr">
              <a:lnSpc>
                <a:spcPct val="100000"/>
              </a:lnSpc>
              <a:spcAft>
                <a:spcPts val="700"/>
              </a:spcAft>
            </a:pPr>
            <a:r>
              <a:rPr sz="1250" b="0" i="0">
                <a:solidFill>
                  <a:srgbClr val="0D1B2A"/>
                </a:solidFill>
                <a:latin typeface="Courier New"/>
              </a:rPr>
              <a:t>denies</a:t>
            </a:r>
          </a:p>
          <a:p>
            <a:pPr algn="ctr">
              <a:lnSpc>
                <a:spcPct val="100000"/>
              </a:lnSpc>
              <a:spcAft>
                <a:spcPts val="700"/>
              </a:spcAft>
            </a:pPr>
            <a:r>
              <a:rPr sz="1250" b="0" i="0">
                <a:solidFill>
                  <a:srgbClr val="0D1B2A"/>
                </a:solidFill>
                <a:latin typeface="Courier New"/>
              </a:rPr>
              <a:t>past</a:t>
            </a:r>
          </a:p>
          <a:p>
            <a:pPr algn="ctr">
              <a:lnSpc>
                <a:spcPct val="100000"/>
              </a:lnSpc>
              <a:spcAft>
                <a:spcPts val="700"/>
              </a:spcAft>
            </a:pPr>
            <a:r>
              <a:rPr sz="1250" b="0" i="0">
                <a:solidFill>
                  <a:srgbClr val="0D1B2A"/>
                </a:solidFill>
                <a:latin typeface="Courier New"/>
              </a:rPr>
              <a:t>blood</a:t>
            </a:r>
          </a:p>
          <a:p>
            <a:pPr algn="ctr">
              <a:lnSpc>
                <a:spcPct val="100000"/>
              </a:lnSpc>
              <a:spcAft>
                <a:spcPts val="700"/>
              </a:spcAft>
            </a:pPr>
            <a:r>
              <a:rPr sz="1250" b="0" i="0">
                <a:solidFill>
                  <a:srgbClr val="0D1B2A"/>
                </a:solidFill>
                <a:latin typeface="Courier New"/>
              </a:rPr>
              <a:t>chest</a:t>
            </a:r>
          </a:p>
        </p:txBody>
      </p:sp>
      <p:sp>
        <p:nvSpPr>
          <p:cNvPr id="18" name="Rounded Rectangle 17"/>
          <p:cNvSpPr/>
          <p:nvPr/>
        </p:nvSpPr>
        <p:spPr>
          <a:xfrm>
            <a:off x="7369881" y="2240280"/>
            <a:ext cx="1999427" cy="3840480"/>
          </a:xfrm>
          <a:prstGeom prst="roundRect">
            <a:avLst>
              <a:gd name="adj" fmla="val 3500"/>
            </a:avLst>
          </a:prstGeom>
          <a:solidFill>
            <a:srgbClr val="FFFFFF"/>
          </a:solidFill>
          <a:ln w="12700">
            <a:solidFill>
              <a:srgbClr val="E2E8F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479609" y="2368296"/>
            <a:ext cx="1779971" cy="603504"/>
          </a:xfrm>
          <a:prstGeom prst="roundRect">
            <a:avLst>
              <a:gd name="adj" fmla="val 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79609" y="2368296"/>
            <a:ext cx="1779971" cy="603504"/>
          </a:xfrm>
          <a:prstGeom prst="rect">
            <a:avLst/>
          </a:prstGeom>
          <a:noFill/>
        </p:spPr>
        <p:txBody>
          <a:bodyPr wrap="square" lIns="0" tIns="0" rIns="0" bIns="0" anchor="ctr">
            <a:spAutoFit/>
          </a:bodyPr>
          <a:lstStyle/>
          <a:p>
            <a:pPr algn="ctr">
              <a:lnSpc>
                <a:spcPct val="98000"/>
              </a:lnSpc>
              <a:spcAft>
                <a:spcPts val="0"/>
              </a:spcAft>
            </a:pPr>
            <a:r>
              <a:rPr sz="1150" b="1" i="0">
                <a:solidFill>
                  <a:srgbClr val="FFFFFF"/>
                </a:solidFill>
                <a:latin typeface="Calibri"/>
              </a:rPr>
              <a:t>Neurology</a:t>
            </a:r>
          </a:p>
        </p:txBody>
      </p:sp>
      <p:sp>
        <p:nvSpPr>
          <p:cNvPr id="21" name="TextBox 20"/>
          <p:cNvSpPr txBox="1"/>
          <p:nvPr/>
        </p:nvSpPr>
        <p:spPr>
          <a:xfrm>
            <a:off x="7534473" y="3108960"/>
            <a:ext cx="1670243" cy="2834640"/>
          </a:xfrm>
          <a:prstGeom prst="rect">
            <a:avLst/>
          </a:prstGeom>
          <a:noFill/>
        </p:spPr>
        <p:txBody>
          <a:bodyPr wrap="square" lIns="0" tIns="0" rIns="0" bIns="0" anchor="t">
            <a:spAutoFit/>
          </a:bodyPr>
          <a:lstStyle/>
          <a:p>
            <a:pPr algn="ctr">
              <a:lnSpc>
                <a:spcPct val="100000"/>
              </a:lnSpc>
              <a:spcAft>
                <a:spcPts val="700"/>
              </a:spcAft>
            </a:pPr>
            <a:r>
              <a:rPr sz="1250" b="0" i="0">
                <a:solidFill>
                  <a:srgbClr val="0D1B2A"/>
                </a:solidFill>
                <a:latin typeface="Courier New"/>
              </a:rPr>
              <a:t>motor</a:t>
            </a:r>
          </a:p>
          <a:p>
            <a:pPr algn="ctr">
              <a:lnSpc>
                <a:spcPct val="100000"/>
              </a:lnSpc>
              <a:spcAft>
                <a:spcPts val="700"/>
              </a:spcAft>
            </a:pPr>
            <a:r>
              <a:rPr sz="1250" b="0" i="0">
                <a:solidFill>
                  <a:srgbClr val="0D1B2A"/>
                </a:solidFill>
                <a:latin typeface="Courier New"/>
              </a:rPr>
              <a:t>exam</a:t>
            </a:r>
          </a:p>
          <a:p>
            <a:pPr algn="ctr">
              <a:lnSpc>
                <a:spcPct val="100000"/>
              </a:lnSpc>
              <a:spcAft>
                <a:spcPts val="700"/>
              </a:spcAft>
            </a:pPr>
            <a:r>
              <a:rPr sz="1250" b="0" i="0">
                <a:solidFill>
                  <a:srgbClr val="0D1B2A"/>
                </a:solidFill>
                <a:latin typeface="Courier New"/>
              </a:rPr>
              <a:t>mri</a:t>
            </a:r>
          </a:p>
          <a:p>
            <a:pPr algn="ctr">
              <a:lnSpc>
                <a:spcPct val="100000"/>
              </a:lnSpc>
              <a:spcAft>
                <a:spcPts val="700"/>
              </a:spcAft>
            </a:pPr>
            <a:r>
              <a:rPr sz="1250" b="0" i="0">
                <a:solidFill>
                  <a:srgbClr val="0D1B2A"/>
                </a:solidFill>
                <a:latin typeface="Courier New"/>
              </a:rPr>
              <a:t>brain</a:t>
            </a:r>
          </a:p>
          <a:p>
            <a:pPr algn="ctr">
              <a:lnSpc>
                <a:spcPct val="100000"/>
              </a:lnSpc>
              <a:spcAft>
                <a:spcPts val="700"/>
              </a:spcAft>
            </a:pPr>
            <a:r>
              <a:rPr sz="1250" b="0" i="0">
                <a:solidFill>
                  <a:srgbClr val="0D1B2A"/>
                </a:solidFill>
                <a:latin typeface="Courier New"/>
              </a:rPr>
              <a:t>mild</a:t>
            </a:r>
          </a:p>
          <a:p>
            <a:pPr algn="ctr">
              <a:lnSpc>
                <a:spcPct val="100000"/>
              </a:lnSpc>
              <a:spcAft>
                <a:spcPts val="700"/>
              </a:spcAft>
            </a:pPr>
            <a:r>
              <a:rPr sz="1250" b="0" i="0">
                <a:solidFill>
                  <a:srgbClr val="0D1B2A"/>
                </a:solidFill>
                <a:latin typeface="Courier New"/>
              </a:rPr>
              <a:t>revealed</a:t>
            </a:r>
          </a:p>
        </p:txBody>
      </p:sp>
      <p:sp>
        <p:nvSpPr>
          <p:cNvPr id="22" name="Rounded Rectangle 21"/>
          <p:cNvSpPr/>
          <p:nvPr/>
        </p:nvSpPr>
        <p:spPr>
          <a:xfrm>
            <a:off x="9643628" y="2240280"/>
            <a:ext cx="1999427" cy="3840480"/>
          </a:xfrm>
          <a:prstGeom prst="roundRect">
            <a:avLst>
              <a:gd name="adj" fmla="val 3500"/>
            </a:avLst>
          </a:prstGeom>
          <a:solidFill>
            <a:srgbClr val="FFFFFF"/>
          </a:solidFill>
          <a:ln w="12700">
            <a:solidFill>
              <a:srgbClr val="E2E8F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753356" y="2368296"/>
            <a:ext cx="1779971" cy="603504"/>
          </a:xfrm>
          <a:prstGeom prst="roundRect">
            <a:avLst>
              <a:gd name="adj" fmla="val 8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53356" y="2368296"/>
            <a:ext cx="1779971" cy="603504"/>
          </a:xfrm>
          <a:prstGeom prst="rect">
            <a:avLst/>
          </a:prstGeom>
          <a:noFill/>
        </p:spPr>
        <p:txBody>
          <a:bodyPr wrap="square" lIns="0" tIns="0" rIns="0" bIns="0" anchor="ctr">
            <a:spAutoFit/>
          </a:bodyPr>
          <a:lstStyle/>
          <a:p>
            <a:pPr algn="ctr">
              <a:lnSpc>
                <a:spcPct val="98000"/>
              </a:lnSpc>
              <a:spcAft>
                <a:spcPts val="0"/>
              </a:spcAft>
            </a:pPr>
            <a:r>
              <a:rPr sz="1150" b="1" i="0">
                <a:solidFill>
                  <a:srgbClr val="FFFFFF"/>
                </a:solidFill>
                <a:latin typeface="Calibri"/>
              </a:rPr>
              <a:t>Gastroenterology</a:t>
            </a:r>
          </a:p>
        </p:txBody>
      </p:sp>
      <p:sp>
        <p:nvSpPr>
          <p:cNvPr id="25" name="TextBox 24"/>
          <p:cNvSpPr txBox="1"/>
          <p:nvPr/>
        </p:nvSpPr>
        <p:spPr>
          <a:xfrm>
            <a:off x="9808220" y="3108960"/>
            <a:ext cx="1670243" cy="2834640"/>
          </a:xfrm>
          <a:prstGeom prst="rect">
            <a:avLst/>
          </a:prstGeom>
          <a:noFill/>
        </p:spPr>
        <p:txBody>
          <a:bodyPr wrap="square" lIns="0" tIns="0" rIns="0" bIns="0" anchor="t">
            <a:spAutoFit/>
          </a:bodyPr>
          <a:lstStyle/>
          <a:p>
            <a:pPr algn="ctr">
              <a:lnSpc>
                <a:spcPct val="100000"/>
              </a:lnSpc>
              <a:spcAft>
                <a:spcPts val="700"/>
              </a:spcAft>
            </a:pPr>
            <a:r>
              <a:rPr sz="1250" b="0" i="0">
                <a:solidFill>
                  <a:srgbClr val="0D1B2A"/>
                </a:solidFill>
                <a:latin typeface="Courier New"/>
              </a:rPr>
              <a:t>colon</a:t>
            </a:r>
          </a:p>
          <a:p>
            <a:pPr algn="ctr">
              <a:lnSpc>
                <a:spcPct val="100000"/>
              </a:lnSpc>
              <a:spcAft>
                <a:spcPts val="700"/>
              </a:spcAft>
            </a:pPr>
            <a:r>
              <a:rPr sz="1250" b="0" i="0">
                <a:solidFill>
                  <a:srgbClr val="0D1B2A"/>
                </a:solidFill>
                <a:latin typeface="Courier New"/>
              </a:rPr>
              <a:t>abdomen</a:t>
            </a:r>
          </a:p>
          <a:p>
            <a:pPr algn="ctr">
              <a:lnSpc>
                <a:spcPct val="100000"/>
              </a:lnSpc>
              <a:spcAft>
                <a:spcPts val="700"/>
              </a:spcAft>
            </a:pPr>
            <a:r>
              <a:rPr sz="1250" b="0" i="0">
                <a:solidFill>
                  <a:srgbClr val="0D1B2A"/>
                </a:solidFill>
                <a:latin typeface="Courier New"/>
              </a:rPr>
              <a:t>gallbladder</a:t>
            </a:r>
          </a:p>
          <a:p>
            <a:pPr algn="ctr">
              <a:lnSpc>
                <a:spcPct val="100000"/>
              </a:lnSpc>
              <a:spcAft>
                <a:spcPts val="700"/>
              </a:spcAft>
            </a:pPr>
            <a:r>
              <a:rPr sz="1250" b="0" i="0">
                <a:solidFill>
                  <a:srgbClr val="0D1B2A"/>
                </a:solidFill>
                <a:latin typeface="Courier New"/>
              </a:rPr>
              <a:t>stomach</a:t>
            </a:r>
          </a:p>
          <a:p>
            <a:pPr algn="ctr">
              <a:lnSpc>
                <a:spcPct val="100000"/>
              </a:lnSpc>
              <a:spcAft>
                <a:spcPts val="700"/>
              </a:spcAft>
            </a:pPr>
            <a:r>
              <a:rPr sz="1250" b="0" i="0">
                <a:solidFill>
                  <a:srgbClr val="0D1B2A"/>
                </a:solidFill>
                <a:latin typeface="Courier New"/>
              </a:rPr>
              <a:t>removed</a:t>
            </a:r>
          </a:p>
          <a:p>
            <a:pPr algn="ctr">
              <a:lnSpc>
                <a:spcPct val="100000"/>
              </a:lnSpc>
              <a:spcAft>
                <a:spcPts val="700"/>
              </a:spcAft>
            </a:pPr>
            <a:r>
              <a:rPr sz="1250" b="0" i="0">
                <a:solidFill>
                  <a:srgbClr val="0D1B2A"/>
                </a:solidFill>
                <a:latin typeface="Courier New"/>
              </a:rPr>
              <a:t>bowel</a:t>
            </a:r>
          </a:p>
        </p:txBody>
      </p:sp>
    </p:spTree>
    <p:extLst>
      <p:ext uri="{BB962C8B-B14F-4D97-AF65-F5344CB8AC3E}">
        <p14:creationId xmlns:p14="http://schemas.microsoft.com/office/powerpoint/2010/main" val="7430339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892807" cy="329184"/>
          </a:xfrm>
          <a:prstGeom prst="rect">
            <a:avLst/>
          </a:prstGeom>
          <a:noFill/>
        </p:spPr>
        <p:txBody>
          <a:bodyPr wrap="square" lIns="0" tIns="0" rIns="0" bIns="0" anchor="ctr">
            <a:spAutoFit/>
          </a:bodyPr>
          <a:lstStyle/>
          <a:p>
            <a:pPr algn="ctr">
              <a:spcAft>
                <a:spcPts val="0"/>
              </a:spcAft>
            </a:pPr>
            <a:r>
              <a:rPr sz="1000" b="1" i="0">
                <a:solidFill>
                  <a:srgbClr val="FFFFFF"/>
                </a:solidFill>
                <a:latin typeface="Calibri"/>
              </a:rPr>
              <a:t>PHASE 1</a:t>
            </a:r>
          </a:p>
        </p:txBody>
      </p:sp>
      <p:sp>
        <p:nvSpPr>
          <p:cNvPr id="4" name="TextBox 3"/>
          <p:cNvSpPr txBox="1"/>
          <p:nvPr/>
        </p:nvSpPr>
        <p:spPr>
          <a:xfrm>
            <a:off x="548640" y="676656"/>
            <a:ext cx="11094415" cy="868680"/>
          </a:xfrm>
          <a:prstGeom prst="rect">
            <a:avLst/>
          </a:prstGeom>
          <a:noFill/>
        </p:spPr>
        <p:txBody>
          <a:bodyPr wrap="square" lIns="0" tIns="0" rIns="0" bIns="0" anchor="ctr">
            <a:spAutoFit/>
          </a:bodyPr>
          <a:lstStyle/>
          <a:p>
            <a:pPr algn="l">
              <a:spcAft>
                <a:spcPts val="0"/>
              </a:spcAft>
            </a:pPr>
            <a:r>
              <a:rPr sz="3700" b="1" i="0">
                <a:solidFill>
                  <a:srgbClr val="0D1B2A"/>
                </a:solidFill>
                <a:latin typeface="Cambria"/>
              </a:rPr>
              <a:t>Why Single Words Aren't Enough</a:t>
            </a:r>
          </a:p>
        </p:txBody>
      </p:sp>
      <p:sp>
        <p:nvSpPr>
          <p:cNvPr id="5" name="TextBox 4"/>
          <p:cNvSpPr txBox="1"/>
          <p:nvPr/>
        </p:nvSpPr>
        <p:spPr>
          <a:xfrm>
            <a:off x="548640" y="1591056"/>
            <a:ext cx="11094415" cy="457200"/>
          </a:xfrm>
          <a:prstGeom prst="rect">
            <a:avLst/>
          </a:prstGeom>
          <a:noFill/>
        </p:spPr>
        <p:txBody>
          <a:bodyPr wrap="square" lIns="0" tIns="0" rIns="0" bIns="0" anchor="ctr">
            <a:spAutoFit/>
          </a:bodyPr>
          <a:lstStyle/>
          <a:p>
            <a:pPr algn="l">
              <a:spcAft>
                <a:spcPts val="0"/>
              </a:spcAft>
            </a:pPr>
            <a:r>
              <a:rPr sz="1450" b="0" i="0">
                <a:solidFill>
                  <a:srgbClr val="64748B"/>
                </a:solidFill>
                <a:latin typeface="Calibri"/>
              </a:rPr>
              <a:t>Medical language is phrase-heavy — “blood pressure” is one concept.</a:t>
            </a:r>
          </a:p>
        </p:txBody>
      </p:sp>
      <p:graphicFrame>
        <p:nvGraphicFramePr>
          <p:cNvPr id="6" name="Table 5"/>
          <p:cNvGraphicFramePr>
            <a:graphicFrameLocks noGrp="1"/>
          </p:cNvGraphicFramePr>
          <p:nvPr/>
        </p:nvGraphicFramePr>
        <p:xfrm>
          <a:off x="548640" y="2286000"/>
          <a:ext cx="5074920" cy="2304288"/>
        </p:xfrm>
        <a:graphic>
          <a:graphicData uri="http://schemas.openxmlformats.org/drawingml/2006/table">
            <a:tbl>
              <a:tblPr firstRow="1"/>
              <a:tblGrid>
                <a:gridCol w="36118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384048">
                <a:tc>
                  <a:txBody>
                    <a:bodyPr/>
                    <a:lstStyle/>
                    <a:p>
                      <a:pPr algn="l"/>
                      <a:r>
                        <a:rPr sz="1200" b="1">
                          <a:solidFill>
                            <a:srgbClr val="FFFFFF"/>
                          </a:solidFill>
                          <a:latin typeface="Calibri"/>
                        </a:rPr>
                        <a:t>top bigram</a:t>
                      </a:r>
                    </a:p>
                  </a:txBody>
                  <a:tcPr marL="82296" marR="82296" marT="18288" marB="18288" anchor="ctr">
                    <a:solidFill>
                      <a:srgbClr val="0369A1"/>
                    </a:solidFill>
                  </a:tcPr>
                </a:tc>
                <a:tc>
                  <a:txBody>
                    <a:bodyPr/>
                    <a:lstStyle/>
                    <a:p>
                      <a:pPr algn="r"/>
                      <a:r>
                        <a:rPr sz="1200" b="1">
                          <a:solidFill>
                            <a:srgbClr val="FFFFFF"/>
                          </a:solidFill>
                          <a:latin typeface="Calibri"/>
                        </a:rPr>
                        <a:t>count</a:t>
                      </a:r>
                    </a:p>
                  </a:txBody>
                  <a:tcPr marL="82296" marR="82296" marT="18288" marB="18288" anchor="ctr">
                    <a:solidFill>
                      <a:srgbClr val="0369A1"/>
                    </a:solidFill>
                  </a:tcPr>
                </a:tc>
                <a:extLst>
                  <a:ext uri="{0D108BD9-81ED-4DB2-BD59-A6C34878D82A}">
                    <a16:rowId xmlns:a16="http://schemas.microsoft.com/office/drawing/2014/main" val="10000"/>
                  </a:ext>
                </a:extLst>
              </a:tr>
              <a:tr h="384048">
                <a:tc>
                  <a:txBody>
                    <a:bodyPr/>
                    <a:lstStyle/>
                    <a:p>
                      <a:pPr algn="l"/>
                      <a:r>
                        <a:rPr sz="1200" b="0">
                          <a:solidFill>
                            <a:srgbClr val="0D1B2A"/>
                          </a:solidFill>
                          <a:latin typeface="Courier New"/>
                        </a:rPr>
                        <a:t>year old</a:t>
                      </a:r>
                    </a:p>
                  </a:txBody>
                  <a:tcPr marL="82296" marR="82296" marT="18288" marB="18288" anchor="ctr">
                    <a:solidFill>
                      <a:srgbClr val="FFFFFF"/>
                    </a:solidFill>
                  </a:tcPr>
                </a:tc>
                <a:tc>
                  <a:txBody>
                    <a:bodyPr/>
                    <a:lstStyle/>
                    <a:p>
                      <a:pPr algn="r"/>
                      <a:r>
                        <a:rPr sz="1200" b="0">
                          <a:solidFill>
                            <a:srgbClr val="0D1B2A"/>
                          </a:solidFill>
                          <a:latin typeface="Calibri"/>
                        </a:rPr>
                        <a:t>1,519</a:t>
                      </a:r>
                    </a:p>
                  </a:txBody>
                  <a:tcPr marL="82296" marR="82296" marT="18288" marB="18288" anchor="ctr">
                    <a:solidFill>
                      <a:srgbClr val="FFFFFF"/>
                    </a:solidFill>
                  </a:tcPr>
                </a:tc>
                <a:extLst>
                  <a:ext uri="{0D108BD9-81ED-4DB2-BD59-A6C34878D82A}">
                    <a16:rowId xmlns:a16="http://schemas.microsoft.com/office/drawing/2014/main" val="10001"/>
                  </a:ext>
                </a:extLst>
              </a:tr>
              <a:tr h="384048">
                <a:tc>
                  <a:txBody>
                    <a:bodyPr/>
                    <a:lstStyle/>
                    <a:p>
                      <a:pPr algn="l"/>
                      <a:r>
                        <a:rPr sz="1200" b="0">
                          <a:solidFill>
                            <a:srgbClr val="0D1B2A"/>
                          </a:solidFill>
                          <a:latin typeface="Courier New"/>
                        </a:rPr>
                        <a:t>c c  (artifact)</a:t>
                      </a:r>
                    </a:p>
                  </a:txBody>
                  <a:tcPr marL="82296" marR="82296" marT="18288" marB="18288" anchor="ctr">
                    <a:solidFill>
                      <a:srgbClr val="F1F5F9"/>
                    </a:solidFill>
                  </a:tcPr>
                </a:tc>
                <a:tc>
                  <a:txBody>
                    <a:bodyPr/>
                    <a:lstStyle/>
                    <a:p>
                      <a:pPr algn="r"/>
                      <a:r>
                        <a:rPr sz="1200" b="0">
                          <a:solidFill>
                            <a:srgbClr val="0D1B2A"/>
                          </a:solidFill>
                          <a:latin typeface="Calibri"/>
                        </a:rPr>
                        <a:t>1,188</a:t>
                      </a:r>
                    </a:p>
                  </a:txBody>
                  <a:tcPr marL="82296" marR="82296" marT="18288" marB="18288" anchor="ctr">
                    <a:solidFill>
                      <a:srgbClr val="F1F5F9"/>
                    </a:solidFill>
                  </a:tcPr>
                </a:tc>
                <a:extLst>
                  <a:ext uri="{0D108BD9-81ED-4DB2-BD59-A6C34878D82A}">
                    <a16:rowId xmlns:a16="http://schemas.microsoft.com/office/drawing/2014/main" val="10002"/>
                  </a:ext>
                </a:extLst>
              </a:tr>
              <a:tr h="384048">
                <a:tc>
                  <a:txBody>
                    <a:bodyPr/>
                    <a:lstStyle/>
                    <a:p>
                      <a:pPr algn="l"/>
                      <a:r>
                        <a:rPr sz="1200" b="0">
                          <a:solidFill>
                            <a:srgbClr val="0D1B2A"/>
                          </a:solidFill>
                          <a:latin typeface="Courier New"/>
                        </a:rPr>
                        <a:t>operating room</a:t>
                      </a:r>
                    </a:p>
                  </a:txBody>
                  <a:tcPr marL="82296" marR="82296" marT="18288" marB="18288" anchor="ctr">
                    <a:solidFill>
                      <a:srgbClr val="FFFFFF"/>
                    </a:solidFill>
                  </a:tcPr>
                </a:tc>
                <a:tc>
                  <a:txBody>
                    <a:bodyPr/>
                    <a:lstStyle/>
                    <a:p>
                      <a:pPr algn="r"/>
                      <a:r>
                        <a:rPr sz="1200" b="0">
                          <a:solidFill>
                            <a:srgbClr val="0D1B2A"/>
                          </a:solidFill>
                          <a:latin typeface="Calibri"/>
                        </a:rPr>
                        <a:t>842</a:t>
                      </a:r>
                    </a:p>
                  </a:txBody>
                  <a:tcPr marL="82296" marR="82296" marT="18288" marB="18288" anchor="ctr">
                    <a:solidFill>
                      <a:srgbClr val="FFFFFF"/>
                    </a:solidFill>
                  </a:tcPr>
                </a:tc>
                <a:extLst>
                  <a:ext uri="{0D108BD9-81ED-4DB2-BD59-A6C34878D82A}">
                    <a16:rowId xmlns:a16="http://schemas.microsoft.com/office/drawing/2014/main" val="10003"/>
                  </a:ext>
                </a:extLst>
              </a:tr>
              <a:tr h="384048">
                <a:tc>
                  <a:txBody>
                    <a:bodyPr/>
                    <a:lstStyle/>
                    <a:p>
                      <a:pPr algn="l"/>
                      <a:r>
                        <a:rPr sz="1200" b="0">
                          <a:solidFill>
                            <a:srgbClr val="0D1B2A"/>
                          </a:solidFill>
                          <a:latin typeface="Courier New"/>
                        </a:rPr>
                        <a:t>prepped draped</a:t>
                      </a:r>
                    </a:p>
                  </a:txBody>
                  <a:tcPr marL="82296" marR="82296" marT="18288" marB="18288" anchor="ctr">
                    <a:solidFill>
                      <a:srgbClr val="F1F5F9"/>
                    </a:solidFill>
                  </a:tcPr>
                </a:tc>
                <a:tc>
                  <a:txBody>
                    <a:bodyPr/>
                    <a:lstStyle/>
                    <a:p>
                      <a:pPr algn="r"/>
                      <a:r>
                        <a:rPr sz="1200" b="0">
                          <a:solidFill>
                            <a:srgbClr val="0D1B2A"/>
                          </a:solidFill>
                          <a:latin typeface="Calibri"/>
                        </a:rPr>
                        <a:t>788</a:t>
                      </a:r>
                    </a:p>
                  </a:txBody>
                  <a:tcPr marL="82296" marR="82296" marT="18288" marB="18288" anchor="ctr">
                    <a:solidFill>
                      <a:srgbClr val="F1F5F9"/>
                    </a:solidFill>
                  </a:tcPr>
                </a:tc>
                <a:extLst>
                  <a:ext uri="{0D108BD9-81ED-4DB2-BD59-A6C34878D82A}">
                    <a16:rowId xmlns:a16="http://schemas.microsoft.com/office/drawing/2014/main" val="10004"/>
                  </a:ext>
                </a:extLst>
              </a:tr>
              <a:tr h="384048">
                <a:tc>
                  <a:txBody>
                    <a:bodyPr/>
                    <a:lstStyle/>
                    <a:p>
                      <a:pPr algn="l"/>
                      <a:r>
                        <a:rPr sz="1200" b="0">
                          <a:solidFill>
                            <a:srgbClr val="0D1B2A"/>
                          </a:solidFill>
                          <a:latin typeface="Courier New"/>
                        </a:rPr>
                        <a:t>blood pressure</a:t>
                      </a:r>
                    </a:p>
                  </a:txBody>
                  <a:tcPr marL="82296" marR="82296" marT="18288" marB="18288" anchor="ctr">
                    <a:solidFill>
                      <a:srgbClr val="FFFFFF"/>
                    </a:solidFill>
                  </a:tcPr>
                </a:tc>
                <a:tc>
                  <a:txBody>
                    <a:bodyPr/>
                    <a:lstStyle/>
                    <a:p>
                      <a:pPr algn="r"/>
                      <a:r>
                        <a:rPr sz="1200" b="0">
                          <a:solidFill>
                            <a:srgbClr val="0D1B2A"/>
                          </a:solidFill>
                          <a:latin typeface="Calibri"/>
                        </a:rPr>
                        <a:t>659</a:t>
                      </a:r>
                    </a:p>
                  </a:txBody>
                  <a:tcPr marL="82296" marR="82296" marT="18288" marB="18288" anchor="ctr">
                    <a:solidFill>
                      <a:srgbClr val="FFFFFF"/>
                    </a:solidFill>
                  </a:tcPr>
                </a:tc>
                <a:extLst>
                  <a:ext uri="{0D108BD9-81ED-4DB2-BD59-A6C34878D82A}">
                    <a16:rowId xmlns:a16="http://schemas.microsoft.com/office/drawing/2014/main" val="10005"/>
                  </a:ext>
                </a:extLst>
              </a:tr>
            </a:tbl>
          </a:graphicData>
        </a:graphic>
      </p:graphicFrame>
      <p:graphicFrame>
        <p:nvGraphicFramePr>
          <p:cNvPr id="7" name="Table 6"/>
          <p:cNvGraphicFramePr>
            <a:graphicFrameLocks noGrp="1"/>
          </p:cNvGraphicFramePr>
          <p:nvPr/>
        </p:nvGraphicFramePr>
        <p:xfrm>
          <a:off x="5897879" y="2286000"/>
          <a:ext cx="5074920" cy="1920240"/>
        </p:xfrm>
        <a:graphic>
          <a:graphicData uri="http://schemas.openxmlformats.org/drawingml/2006/table">
            <a:tbl>
              <a:tblPr firstRow="1"/>
              <a:tblGrid>
                <a:gridCol w="36118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384048">
                <a:tc>
                  <a:txBody>
                    <a:bodyPr/>
                    <a:lstStyle/>
                    <a:p>
                      <a:pPr algn="l"/>
                      <a:r>
                        <a:rPr sz="1200" b="1">
                          <a:solidFill>
                            <a:srgbClr val="FFFFFF"/>
                          </a:solidFill>
                          <a:latin typeface="Calibri"/>
                        </a:rPr>
                        <a:t>top trigram</a:t>
                      </a:r>
                    </a:p>
                  </a:txBody>
                  <a:tcPr marL="82296" marR="82296" marT="18288" marB="18288" anchor="ctr">
                    <a:solidFill>
                      <a:srgbClr val="6D28D9"/>
                    </a:solidFill>
                  </a:tcPr>
                </a:tc>
                <a:tc>
                  <a:txBody>
                    <a:bodyPr/>
                    <a:lstStyle/>
                    <a:p>
                      <a:pPr algn="r"/>
                      <a:r>
                        <a:rPr sz="1200" b="1">
                          <a:solidFill>
                            <a:srgbClr val="FFFFFF"/>
                          </a:solidFill>
                          <a:latin typeface="Calibri"/>
                        </a:rPr>
                        <a:t>count</a:t>
                      </a:r>
                    </a:p>
                  </a:txBody>
                  <a:tcPr marL="82296" marR="82296" marT="18288" marB="18288" anchor="ctr">
                    <a:solidFill>
                      <a:srgbClr val="6D28D9"/>
                    </a:solidFill>
                  </a:tcPr>
                </a:tc>
                <a:extLst>
                  <a:ext uri="{0D108BD9-81ED-4DB2-BD59-A6C34878D82A}">
                    <a16:rowId xmlns:a16="http://schemas.microsoft.com/office/drawing/2014/main" val="10000"/>
                  </a:ext>
                </a:extLst>
              </a:tr>
              <a:tr h="384048">
                <a:tc>
                  <a:txBody>
                    <a:bodyPr/>
                    <a:lstStyle/>
                    <a:p>
                      <a:pPr algn="l"/>
                      <a:r>
                        <a:rPr sz="1200" b="0">
                          <a:solidFill>
                            <a:srgbClr val="0D1B2A"/>
                          </a:solidFill>
                          <a:latin typeface="Courier New"/>
                        </a:rPr>
                        <a:t>patient year old</a:t>
                      </a:r>
                    </a:p>
                  </a:txBody>
                  <a:tcPr marL="82296" marR="82296" marT="18288" marB="18288" anchor="ctr">
                    <a:solidFill>
                      <a:srgbClr val="FFFFFF"/>
                    </a:solidFill>
                  </a:tcPr>
                </a:tc>
                <a:tc>
                  <a:txBody>
                    <a:bodyPr/>
                    <a:lstStyle/>
                    <a:p>
                      <a:pPr algn="r"/>
                      <a:r>
                        <a:rPr sz="1200" b="0">
                          <a:solidFill>
                            <a:srgbClr val="0D1B2A"/>
                          </a:solidFill>
                          <a:latin typeface="Calibri"/>
                        </a:rPr>
                        <a:t>681</a:t>
                      </a:r>
                    </a:p>
                  </a:txBody>
                  <a:tcPr marL="82296" marR="82296" marT="18288" marB="18288" anchor="ctr">
                    <a:solidFill>
                      <a:srgbClr val="FFFFFF"/>
                    </a:solidFill>
                  </a:tcPr>
                </a:tc>
                <a:extLst>
                  <a:ext uri="{0D108BD9-81ED-4DB2-BD59-A6C34878D82A}">
                    <a16:rowId xmlns:a16="http://schemas.microsoft.com/office/drawing/2014/main" val="10001"/>
                  </a:ext>
                </a:extLst>
              </a:tr>
              <a:tr h="384048">
                <a:tc>
                  <a:txBody>
                    <a:bodyPr/>
                    <a:lstStyle/>
                    <a:p>
                      <a:pPr algn="l"/>
                      <a:r>
                        <a:rPr sz="1200" b="0">
                          <a:solidFill>
                            <a:srgbClr val="0D1B2A"/>
                          </a:solidFill>
                          <a:latin typeface="Courier New"/>
                        </a:rPr>
                        <a:t>past medical history</a:t>
                      </a:r>
                    </a:p>
                  </a:txBody>
                  <a:tcPr marL="82296" marR="82296" marT="18288" marB="18288" anchor="ctr">
                    <a:solidFill>
                      <a:srgbClr val="F1F5F9"/>
                    </a:solidFill>
                  </a:tcPr>
                </a:tc>
                <a:tc>
                  <a:txBody>
                    <a:bodyPr/>
                    <a:lstStyle/>
                    <a:p>
                      <a:pPr algn="r"/>
                      <a:r>
                        <a:rPr sz="1200" b="0">
                          <a:solidFill>
                            <a:srgbClr val="0D1B2A"/>
                          </a:solidFill>
                          <a:latin typeface="Calibri"/>
                        </a:rPr>
                        <a:t>554</a:t>
                      </a:r>
                    </a:p>
                  </a:txBody>
                  <a:tcPr marL="82296" marR="82296" marT="18288" marB="18288" anchor="ctr">
                    <a:solidFill>
                      <a:srgbClr val="F1F5F9"/>
                    </a:solidFill>
                  </a:tcPr>
                </a:tc>
                <a:extLst>
                  <a:ext uri="{0D108BD9-81ED-4DB2-BD59-A6C34878D82A}">
                    <a16:rowId xmlns:a16="http://schemas.microsoft.com/office/drawing/2014/main" val="10002"/>
                  </a:ext>
                </a:extLst>
              </a:tr>
              <a:tr h="384048">
                <a:tc>
                  <a:txBody>
                    <a:bodyPr/>
                    <a:lstStyle/>
                    <a:p>
                      <a:pPr algn="l"/>
                      <a:r>
                        <a:rPr sz="1200" b="0">
                          <a:solidFill>
                            <a:srgbClr val="0D1B2A"/>
                          </a:solidFill>
                          <a:latin typeface="Courier New"/>
                        </a:rPr>
                        <a:t>history present illness</a:t>
                      </a:r>
                    </a:p>
                  </a:txBody>
                  <a:tcPr marL="82296" marR="82296" marT="18288" marB="18288" anchor="ctr">
                    <a:solidFill>
                      <a:srgbClr val="FFFFFF"/>
                    </a:solidFill>
                  </a:tcPr>
                </a:tc>
                <a:tc>
                  <a:txBody>
                    <a:bodyPr/>
                    <a:lstStyle/>
                    <a:p>
                      <a:pPr algn="r"/>
                      <a:r>
                        <a:rPr sz="1200" b="0">
                          <a:solidFill>
                            <a:srgbClr val="0D1B2A"/>
                          </a:solidFill>
                          <a:latin typeface="Calibri"/>
                        </a:rPr>
                        <a:t>545</a:t>
                      </a:r>
                    </a:p>
                  </a:txBody>
                  <a:tcPr marL="82296" marR="82296" marT="18288" marB="18288" anchor="ctr">
                    <a:solidFill>
                      <a:srgbClr val="FFFFFF"/>
                    </a:solidFill>
                  </a:tcPr>
                </a:tc>
                <a:extLst>
                  <a:ext uri="{0D108BD9-81ED-4DB2-BD59-A6C34878D82A}">
                    <a16:rowId xmlns:a16="http://schemas.microsoft.com/office/drawing/2014/main" val="10003"/>
                  </a:ext>
                </a:extLst>
              </a:tr>
              <a:tr h="384048">
                <a:tc>
                  <a:txBody>
                    <a:bodyPr/>
                    <a:lstStyle/>
                    <a:p>
                      <a:pPr algn="l"/>
                      <a:r>
                        <a:rPr sz="1200" b="0">
                          <a:solidFill>
                            <a:srgbClr val="0D1B2A"/>
                          </a:solidFill>
                          <a:latin typeface="Courier New"/>
                        </a:rPr>
                        <a:t>tolerated procedure well</a:t>
                      </a:r>
                    </a:p>
                  </a:txBody>
                  <a:tcPr marL="82296" marR="82296" marT="18288" marB="18288" anchor="ctr">
                    <a:solidFill>
                      <a:srgbClr val="F1F5F9"/>
                    </a:solidFill>
                  </a:tcPr>
                </a:tc>
                <a:tc>
                  <a:txBody>
                    <a:bodyPr/>
                    <a:lstStyle/>
                    <a:p>
                      <a:pPr algn="r"/>
                      <a:r>
                        <a:rPr sz="1200" b="0">
                          <a:solidFill>
                            <a:srgbClr val="0D1B2A"/>
                          </a:solidFill>
                          <a:latin typeface="Calibri"/>
                        </a:rPr>
                        <a:t>537</a:t>
                      </a:r>
                    </a:p>
                  </a:txBody>
                  <a:tcPr marL="82296" marR="82296" marT="18288" marB="18288" anchor="ctr">
                    <a:solidFill>
                      <a:srgbClr val="F1F5F9"/>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548640" y="5212080"/>
            <a:ext cx="11094415" cy="868680"/>
          </a:xfrm>
          <a:prstGeom prst="roundRect">
            <a:avLst>
              <a:gd name="adj" fmla="val 6000"/>
            </a:avLst>
          </a:prstGeom>
          <a:solidFill>
            <a:srgbClr val="E0F7F6"/>
          </a:solidFill>
          <a:ln w="12700">
            <a:solidFill>
              <a:srgbClr val="E0F7F6"/>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5394960"/>
            <a:ext cx="10582351" cy="502919"/>
          </a:xfrm>
          <a:prstGeom prst="rect">
            <a:avLst/>
          </a:prstGeom>
          <a:noFill/>
        </p:spPr>
        <p:txBody>
          <a:bodyPr wrap="square" lIns="0" tIns="0" rIns="0" bIns="0" anchor="ctr">
            <a:spAutoFit/>
          </a:bodyPr>
          <a:lstStyle/>
          <a:p>
            <a:pPr algn="l">
              <a:lnSpc>
                <a:spcPct val="110000"/>
              </a:lnSpc>
              <a:spcAft>
                <a:spcPts val="400"/>
              </a:spcAft>
            </a:pPr>
            <a:r>
              <a:rPr sz="1300" b="1" i="0">
                <a:solidFill>
                  <a:srgbClr val="0E7C7B"/>
                </a:solidFill>
                <a:latin typeface="Calibri"/>
              </a:rPr>
              <a:t>Key finding: </a:t>
            </a:r>
            <a:r>
              <a:rPr sz="1300" b="0" i="0">
                <a:solidFill>
                  <a:srgbClr val="0D1B2A"/>
                </a:solidFill>
                <a:latin typeface="Calibri"/>
              </a:rPr>
              <a:t>“internal” is generic, but “internal carotid” is a specific anatomical term — bigrams and trigrams carry specialty signal that single words miss.</a:t>
            </a:r>
          </a:p>
        </p:txBody>
      </p:sp>
    </p:spTree>
    <p:extLst>
      <p:ext uri="{BB962C8B-B14F-4D97-AF65-F5344CB8AC3E}">
        <p14:creationId xmlns:p14="http://schemas.microsoft.com/office/powerpoint/2010/main" val="22959113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548640" y="301752"/>
            <a:ext cx="1892807" cy="329184"/>
          </a:xfrm>
          <a:prstGeom prst="roundRect">
            <a:avLst>
              <a:gd name="adj" fmla="val 28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892807" cy="329184"/>
          </a:xfrm>
          <a:prstGeom prst="rect">
            <a:avLst/>
          </a:prstGeom>
          <a:noFill/>
        </p:spPr>
        <p:txBody>
          <a:bodyPr wrap="square" lIns="0" tIns="0" rIns="0" bIns="0" anchor="ctr">
            <a:spAutoFit/>
          </a:bodyPr>
          <a:lstStyle/>
          <a:p>
            <a:pPr algn="ctr">
              <a:spcAft>
                <a:spcPts val="0"/>
              </a:spcAft>
            </a:pPr>
            <a:r>
              <a:rPr sz="1000" b="1" i="0">
                <a:solidFill>
                  <a:srgbClr val="FFFFFF"/>
                </a:solidFill>
                <a:latin typeface="Calibri"/>
              </a:rPr>
              <a:t>PHASE 1</a:t>
            </a:r>
          </a:p>
        </p:txBody>
      </p:sp>
      <p:sp>
        <p:nvSpPr>
          <p:cNvPr id="4" name="TextBox 3"/>
          <p:cNvSpPr txBox="1"/>
          <p:nvPr/>
        </p:nvSpPr>
        <p:spPr>
          <a:xfrm>
            <a:off x="548640" y="676656"/>
            <a:ext cx="11094415" cy="868680"/>
          </a:xfrm>
          <a:prstGeom prst="rect">
            <a:avLst/>
          </a:prstGeom>
          <a:noFill/>
        </p:spPr>
        <p:txBody>
          <a:bodyPr wrap="square" lIns="0" tIns="0" rIns="0" bIns="0" anchor="ctr">
            <a:spAutoFit/>
          </a:bodyPr>
          <a:lstStyle/>
          <a:p>
            <a:pPr algn="l">
              <a:spcAft>
                <a:spcPts val="0"/>
              </a:spcAft>
            </a:pPr>
            <a:r>
              <a:rPr sz="3100" b="1" i="0">
                <a:solidFill>
                  <a:srgbClr val="0D1B2A"/>
                </a:solidFill>
                <a:latin typeface="Cambria"/>
              </a:rPr>
              <a:t>Phase 1 Complete — Ready for Phase 2</a:t>
            </a:r>
          </a:p>
        </p:txBody>
      </p:sp>
      <p:sp>
        <p:nvSpPr>
          <p:cNvPr id="5" name="TextBox 4"/>
          <p:cNvSpPr txBox="1"/>
          <p:nvPr/>
        </p:nvSpPr>
        <p:spPr>
          <a:xfrm>
            <a:off x="548640" y="1591056"/>
            <a:ext cx="11094415" cy="457200"/>
          </a:xfrm>
          <a:prstGeom prst="rect">
            <a:avLst/>
          </a:prstGeom>
          <a:noFill/>
        </p:spPr>
        <p:txBody>
          <a:bodyPr wrap="square" lIns="0" tIns="0" rIns="0" bIns="0" anchor="ctr">
            <a:spAutoFit/>
          </a:bodyPr>
          <a:lstStyle/>
          <a:p>
            <a:pPr algn="l">
              <a:spcAft>
                <a:spcPts val="0"/>
              </a:spcAft>
            </a:pPr>
            <a:r>
              <a:rPr sz="1450" b="0" i="0">
                <a:solidFill>
                  <a:srgbClr val="64748B"/>
                </a:solidFill>
                <a:latin typeface="Calibri"/>
              </a:rPr>
              <a:t>A clean dataset and a confirmed linguistic foundation.</a:t>
            </a:r>
          </a:p>
        </p:txBody>
      </p:sp>
      <p:sp>
        <p:nvSpPr>
          <p:cNvPr id="6" name="Rounded Rectangle 5"/>
          <p:cNvSpPr/>
          <p:nvPr/>
        </p:nvSpPr>
        <p:spPr>
          <a:xfrm>
            <a:off x="548640" y="2240280"/>
            <a:ext cx="5074920" cy="2743200"/>
          </a:xfrm>
          <a:prstGeom prst="roundRect">
            <a:avLst>
              <a:gd name="adj" fmla="val 3500"/>
            </a:avLst>
          </a:prstGeom>
          <a:solidFill>
            <a:srgbClr val="FFFFFF"/>
          </a:solidFill>
          <a:ln w="12700">
            <a:solidFill>
              <a:srgbClr val="E2E8F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496312"/>
            <a:ext cx="4434840" cy="2286000"/>
          </a:xfrm>
          <a:prstGeom prst="rect">
            <a:avLst/>
          </a:prstGeom>
          <a:noFill/>
        </p:spPr>
        <p:txBody>
          <a:bodyPr wrap="square" lIns="0" tIns="0" rIns="0" bIns="0" anchor="t">
            <a:spAutoFit/>
          </a:bodyPr>
          <a:lstStyle/>
          <a:p>
            <a:pPr algn="l">
              <a:spcAft>
                <a:spcPts val="800"/>
              </a:spcAft>
            </a:pPr>
            <a:r>
              <a:rPr sz="1500" b="1" i="0">
                <a:solidFill>
                  <a:srgbClr val="0E7C7B"/>
                </a:solidFill>
                <a:latin typeface="Calibri"/>
              </a:rPr>
              <a:t>Deliverables</a:t>
            </a:r>
          </a:p>
          <a:p>
            <a:pPr marL="274320" indent="-228600" algn="l">
              <a:lnSpc>
                <a:spcPct val="105000"/>
              </a:lnSpc>
              <a:spcAft>
                <a:spcPts val="600"/>
              </a:spcAft>
              <a:buClr>
                <a:srgbClr val="047857"/>
              </a:buClr>
              <a:buFont typeface="Arial"/>
              <a:buChar char="✓"/>
            </a:pPr>
            <a:r>
              <a:rPr sz="1250" b="0" i="0">
                <a:solidFill>
                  <a:srgbClr val="0D1B2A"/>
                </a:solidFill>
                <a:latin typeface="Calibri"/>
              </a:rPr>
              <a:t>Clean dataset: 2,586 notes, 26 specialties</a:t>
            </a:r>
          </a:p>
          <a:p>
            <a:pPr marL="274320" indent="-228600" algn="l">
              <a:lnSpc>
                <a:spcPct val="105000"/>
              </a:lnSpc>
              <a:spcAft>
                <a:spcPts val="600"/>
              </a:spcAft>
              <a:buClr>
                <a:srgbClr val="047857"/>
              </a:buClr>
              <a:buFont typeface="Arial"/>
              <a:buChar char="✓"/>
            </a:pPr>
            <a:r>
              <a:rPr sz="1250" b="0" i="0">
                <a:solidFill>
                  <a:srgbClr val="0D1B2A"/>
                </a:solidFill>
                <a:latin typeface="Calibri"/>
              </a:rPr>
              <a:t>Features: char / word / sentence counts</a:t>
            </a:r>
          </a:p>
          <a:p>
            <a:pPr marL="274320" indent="-228600" algn="l">
              <a:lnSpc>
                <a:spcPct val="105000"/>
              </a:lnSpc>
              <a:spcAft>
                <a:spcPts val="600"/>
              </a:spcAft>
              <a:buClr>
                <a:srgbClr val="047857"/>
              </a:buClr>
              <a:buFont typeface="Arial"/>
              <a:buChar char="✓"/>
            </a:pPr>
            <a:r>
              <a:rPr sz="1250" b="0" i="0">
                <a:solidFill>
                  <a:srgbClr val="0D1B2A"/>
                </a:solidFill>
                <a:latin typeface="Calibri"/>
              </a:rPr>
              <a:t>clean_text column ready for vectorization</a:t>
            </a:r>
          </a:p>
          <a:p>
            <a:pPr marL="274320" indent="-228600" algn="l">
              <a:lnSpc>
                <a:spcPct val="105000"/>
              </a:lnSpc>
              <a:spcAft>
                <a:spcPts val="600"/>
              </a:spcAft>
              <a:buClr>
                <a:srgbClr val="047857"/>
              </a:buClr>
              <a:buFont typeface="Arial"/>
              <a:buChar char="✓"/>
            </a:pPr>
            <a:r>
              <a:rPr sz="1250" b="0" i="0">
                <a:solidFill>
                  <a:srgbClr val="0D1B2A"/>
                </a:solidFill>
                <a:latin typeface="Calibri"/>
              </a:rPr>
              <a:t>Vocabulary: top words, bigrams, trigrams</a:t>
            </a:r>
          </a:p>
          <a:p>
            <a:pPr marL="274320" indent="-228600" algn="l">
              <a:lnSpc>
                <a:spcPct val="105000"/>
              </a:lnSpc>
              <a:spcAft>
                <a:spcPts val="600"/>
              </a:spcAft>
              <a:buClr>
                <a:srgbClr val="047857"/>
              </a:buClr>
              <a:buFont typeface="Arial"/>
              <a:buChar char="✓"/>
            </a:pPr>
            <a:r>
              <a:rPr sz="1250" b="0" i="0">
                <a:solidFill>
                  <a:srgbClr val="0D1B2A"/>
                </a:solidFill>
                <a:latin typeface="Calibri"/>
              </a:rPr>
              <a:t>Saved: cleaned_medical_notes.csv</a:t>
            </a:r>
          </a:p>
        </p:txBody>
      </p:sp>
      <p:sp>
        <p:nvSpPr>
          <p:cNvPr id="8" name="Rounded Rectangle 7"/>
          <p:cNvSpPr/>
          <p:nvPr/>
        </p:nvSpPr>
        <p:spPr>
          <a:xfrm>
            <a:off x="5897879" y="2240280"/>
            <a:ext cx="5074920" cy="2743200"/>
          </a:xfrm>
          <a:prstGeom prst="roundRect">
            <a:avLst>
              <a:gd name="adj" fmla="val 3500"/>
            </a:avLst>
          </a:prstGeom>
          <a:solidFill>
            <a:srgbClr val="FFFFFF"/>
          </a:solidFill>
          <a:ln w="12700">
            <a:solidFill>
              <a:srgbClr val="E2E8F0"/>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19" y="2496312"/>
            <a:ext cx="4434840" cy="2286000"/>
          </a:xfrm>
          <a:prstGeom prst="rect">
            <a:avLst/>
          </a:prstGeom>
          <a:noFill/>
        </p:spPr>
        <p:txBody>
          <a:bodyPr wrap="square" lIns="0" tIns="0" rIns="0" bIns="0" anchor="t">
            <a:spAutoFit/>
          </a:bodyPr>
          <a:lstStyle/>
          <a:p>
            <a:pPr algn="l">
              <a:spcAft>
                <a:spcPts val="800"/>
              </a:spcAft>
            </a:pPr>
            <a:r>
              <a:rPr sz="1500" b="1" i="0">
                <a:solidFill>
                  <a:srgbClr val="0369A1"/>
                </a:solidFill>
                <a:latin typeface="Calibri"/>
              </a:rPr>
              <a:t>Decisions validated</a:t>
            </a:r>
          </a:p>
          <a:p>
            <a:pPr marL="274320" indent="-228600" algn="l">
              <a:lnSpc>
                <a:spcPct val="105000"/>
              </a:lnSpc>
              <a:spcAft>
                <a:spcPts val="600"/>
              </a:spcAft>
              <a:buClr>
                <a:srgbClr val="047857"/>
              </a:buClr>
              <a:buFont typeface="Arial"/>
              <a:buChar char="✓"/>
            </a:pPr>
            <a:r>
              <a:rPr sz="1250" b="0" i="0">
                <a:solidFill>
                  <a:srgbClr val="0D1B2A"/>
                </a:solidFill>
                <a:latin typeface="Calibri"/>
              </a:rPr>
              <a:t>Non-specialty labels removed (96% overlap)</a:t>
            </a:r>
          </a:p>
          <a:p>
            <a:pPr marL="274320" indent="-228600" algn="l">
              <a:lnSpc>
                <a:spcPct val="105000"/>
              </a:lnSpc>
              <a:spcAft>
                <a:spcPts val="600"/>
              </a:spcAft>
              <a:buClr>
                <a:srgbClr val="047857"/>
              </a:buClr>
              <a:buFont typeface="Arial"/>
              <a:buChar char="✓"/>
            </a:pPr>
            <a:r>
              <a:rPr sz="1250" b="0" i="0">
                <a:solidFill>
                  <a:srgbClr val="0D1B2A"/>
                </a:solidFill>
                <a:latin typeface="Calibri"/>
              </a:rPr>
              <a:t>Surgery / Radiology cross-listing eliminated</a:t>
            </a:r>
          </a:p>
          <a:p>
            <a:pPr marL="274320" indent="-228600" algn="l">
              <a:lnSpc>
                <a:spcPct val="105000"/>
              </a:lnSpc>
              <a:spcAft>
                <a:spcPts val="600"/>
              </a:spcAft>
              <a:buClr>
                <a:srgbClr val="047857"/>
              </a:buClr>
              <a:buFont typeface="Arial"/>
              <a:buChar char="✓"/>
            </a:pPr>
            <a:r>
              <a:rPr sz="1250" b="0" i="0">
                <a:solidFill>
                  <a:srgbClr val="0D1B2A"/>
                </a:solidFill>
                <a:latin typeface="Calibri"/>
              </a:rPr>
              <a:t>Rare classes dropped (insufficient data)</a:t>
            </a:r>
          </a:p>
          <a:p>
            <a:pPr marL="274320" indent="-228600" algn="l">
              <a:lnSpc>
                <a:spcPct val="105000"/>
              </a:lnSpc>
              <a:spcAft>
                <a:spcPts val="600"/>
              </a:spcAft>
              <a:buClr>
                <a:srgbClr val="047857"/>
              </a:buClr>
              <a:buFont typeface="Arial"/>
              <a:buChar char="✓"/>
            </a:pPr>
            <a:r>
              <a:rPr sz="1250" b="0" i="0">
                <a:solidFill>
                  <a:srgbClr val="0D1B2A"/>
                </a:solidFill>
                <a:latin typeface="Calibri"/>
              </a:rPr>
              <a:t>Length threshold set (≥100 chars)</a:t>
            </a:r>
          </a:p>
          <a:p>
            <a:pPr marL="274320" indent="-228600" algn="l">
              <a:lnSpc>
                <a:spcPct val="105000"/>
              </a:lnSpc>
              <a:spcAft>
                <a:spcPts val="600"/>
              </a:spcAft>
              <a:buClr>
                <a:srgbClr val="047857"/>
              </a:buClr>
              <a:buFont typeface="Arial"/>
              <a:buChar char="✓"/>
            </a:pPr>
            <a:r>
              <a:rPr sz="1250" b="0" i="0">
                <a:solidFill>
                  <a:srgbClr val="0D1B2A"/>
                </a:solidFill>
                <a:latin typeface="Calibri"/>
              </a:rPr>
              <a:t>Linguistic fingerprints confirmed</a:t>
            </a:r>
          </a:p>
        </p:txBody>
      </p:sp>
      <p:sp>
        <p:nvSpPr>
          <p:cNvPr id="10" name="Rounded Rectangle 9"/>
          <p:cNvSpPr/>
          <p:nvPr/>
        </p:nvSpPr>
        <p:spPr>
          <a:xfrm>
            <a:off x="548640" y="5166360"/>
            <a:ext cx="11094415" cy="868680"/>
          </a:xfrm>
          <a:prstGeom prst="roundRect">
            <a:avLst>
              <a:gd name="adj" fmla="val 6000"/>
            </a:avLst>
          </a:prstGeom>
          <a:solidFill>
            <a:srgbClr val="E0F7F6"/>
          </a:solidFill>
          <a:ln w="12700">
            <a:solidFill>
              <a:srgbClr val="E0F7F6"/>
            </a:solidFill>
          </a:ln>
          <a:effectLst>
            <a:outerShdw blurRad="76200" dist="25400" dir="2700000" algn="bl"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2" y="5349240"/>
            <a:ext cx="10582351" cy="502919"/>
          </a:xfrm>
          <a:prstGeom prst="rect">
            <a:avLst/>
          </a:prstGeom>
          <a:noFill/>
        </p:spPr>
        <p:txBody>
          <a:bodyPr wrap="square" lIns="0" tIns="0" rIns="0" bIns="0" anchor="ctr">
            <a:spAutoFit/>
          </a:bodyPr>
          <a:lstStyle/>
          <a:p>
            <a:pPr algn="l">
              <a:lnSpc>
                <a:spcPct val="106000"/>
              </a:lnSpc>
              <a:spcAft>
                <a:spcPts val="400"/>
              </a:spcAft>
            </a:pPr>
            <a:r>
              <a:rPr sz="1350" b="1" i="0">
                <a:solidFill>
                  <a:srgbClr val="0E7C7B"/>
                </a:solidFill>
                <a:latin typeface="Calibri"/>
              </a:rPr>
              <a:t>Every row dropped had a data-driven justification — </a:t>
            </a:r>
            <a:r>
              <a:rPr sz="1350" b="0" i="1">
                <a:solidFill>
                  <a:srgbClr val="0D1B2A"/>
                </a:solidFill>
                <a:latin typeface="Calibri"/>
              </a:rPr>
              <a:t>we proved nothing valuable was lost.</a:t>
            </a:r>
          </a:p>
        </p:txBody>
      </p:sp>
    </p:spTree>
    <p:extLst>
      <p:ext uri="{BB962C8B-B14F-4D97-AF65-F5344CB8AC3E}">
        <p14:creationId xmlns:p14="http://schemas.microsoft.com/office/powerpoint/2010/main" val="36220918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609600" y="307975"/>
            <a:ext cx="2560320" cy="329184"/>
          </a:xfrm>
          <a:prstGeom prst="round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lIns="101600" rtlCol="0" anchor="ctr"/>
          <a:lstStyle/>
          <a:p>
            <a:pPr algn="ctr" defTabSz="609585"/>
            <a:r>
              <a:rPr sz="1000" b="1">
                <a:solidFill>
                  <a:srgbClr val="FFFFFF"/>
                </a:solidFill>
                <a:latin typeface="Calibri"/>
              </a:rPr>
              <a:t>PHASE 2 -- CHI-SQUARE</a:t>
            </a:r>
          </a:p>
        </p:txBody>
      </p:sp>
      <p:sp>
        <p:nvSpPr>
          <p:cNvPr id="3" name="TextBox 2"/>
          <p:cNvSpPr txBox="1"/>
          <p:nvPr/>
        </p:nvSpPr>
        <p:spPr>
          <a:xfrm>
            <a:off x="609600" y="759079"/>
            <a:ext cx="10972800" cy="642848"/>
          </a:xfrm>
          <a:prstGeom prst="rect">
            <a:avLst/>
          </a:prstGeom>
          <a:noFill/>
        </p:spPr>
        <p:txBody>
          <a:bodyPr wrap="square" lIns="67733" tIns="33867" rIns="67733" bIns="33867">
            <a:spAutoFit/>
          </a:bodyPr>
          <a:lstStyle/>
          <a:p>
            <a:pPr defTabSz="609585"/>
            <a:r>
              <a:rPr sz="3733" b="1">
                <a:solidFill>
                  <a:srgbClr val="0D1B2A"/>
                </a:solidFill>
                <a:latin typeface="Calibri"/>
              </a:rPr>
              <a:t>Chi-Square Test for Term Independence</a:t>
            </a:r>
          </a:p>
        </p:txBody>
      </p:sp>
      <p:sp>
        <p:nvSpPr>
          <p:cNvPr id="4" name="TextBox 3"/>
          <p:cNvSpPr txBox="1"/>
          <p:nvPr/>
        </p:nvSpPr>
        <p:spPr>
          <a:xfrm>
            <a:off x="609600" y="1466216"/>
            <a:ext cx="10972800" cy="273516"/>
          </a:xfrm>
          <a:prstGeom prst="rect">
            <a:avLst/>
          </a:prstGeom>
          <a:noFill/>
        </p:spPr>
        <p:txBody>
          <a:bodyPr wrap="square" lIns="67733" tIns="33867" rIns="67733" bIns="33867">
            <a:spAutoFit/>
          </a:bodyPr>
          <a:lstStyle/>
          <a:p>
            <a:pPr defTabSz="609585"/>
            <a:r>
              <a:rPr sz="1333">
                <a:solidFill>
                  <a:srgbClr val="64748B"/>
                </a:solidFill>
                <a:latin typeface="Calibri"/>
              </a:rPr>
              <a:t>Tests whether a term is statistically bonded to a specialty or just appears by chance.</a:t>
            </a:r>
          </a:p>
        </p:txBody>
      </p:sp>
      <p:sp>
        <p:nvSpPr>
          <p:cNvPr id="5" name="Rounded Rectangle 4"/>
          <p:cNvSpPr/>
          <p:nvPr/>
        </p:nvSpPr>
        <p:spPr>
          <a:xfrm>
            <a:off x="548640" y="1953895"/>
            <a:ext cx="5364480" cy="4389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sz="2400">
              <a:solidFill>
                <a:prstClr val="white"/>
              </a:solidFill>
              <a:latin typeface="Calibri"/>
            </a:endParaRPr>
          </a:p>
        </p:txBody>
      </p:sp>
      <p:sp>
        <p:nvSpPr>
          <p:cNvPr id="6" name="TextBox 5"/>
          <p:cNvSpPr txBox="1"/>
          <p:nvPr/>
        </p:nvSpPr>
        <p:spPr>
          <a:xfrm>
            <a:off x="853440" y="2075815"/>
            <a:ext cx="4876800" cy="263385"/>
          </a:xfrm>
          <a:prstGeom prst="rect">
            <a:avLst/>
          </a:prstGeom>
          <a:noFill/>
        </p:spPr>
        <p:txBody>
          <a:bodyPr wrap="square" lIns="67733" tIns="33867" rIns="67733" bIns="33867">
            <a:spAutoFit/>
          </a:bodyPr>
          <a:lstStyle/>
          <a:p>
            <a:pPr defTabSz="609585"/>
            <a:r>
              <a:rPr sz="1267" b="1">
                <a:solidFill>
                  <a:srgbClr val="0369A1"/>
                </a:solidFill>
                <a:latin typeface="Calibri"/>
              </a:rPr>
              <a:t>Highest Chi-Square Scores (most specialty-bonded)</a:t>
            </a:r>
          </a:p>
        </p:txBody>
      </p:sp>
      <p:sp>
        <p:nvSpPr>
          <p:cNvPr id="7" name="TextBox 6"/>
          <p:cNvSpPr txBox="1"/>
          <p:nvPr/>
        </p:nvSpPr>
        <p:spPr>
          <a:xfrm>
            <a:off x="853440" y="2502533"/>
            <a:ext cx="2438400" cy="263385"/>
          </a:xfrm>
          <a:prstGeom prst="rect">
            <a:avLst/>
          </a:prstGeom>
          <a:noFill/>
        </p:spPr>
        <p:txBody>
          <a:bodyPr wrap="square" lIns="67733" tIns="33867" rIns="67733" bIns="33867">
            <a:spAutoFit/>
          </a:bodyPr>
          <a:lstStyle/>
          <a:p>
            <a:pPr defTabSz="609585"/>
            <a:r>
              <a:rPr sz="1267">
                <a:solidFill>
                  <a:srgbClr val="0D1B2A"/>
                </a:solidFill>
                <a:latin typeface="Calibri"/>
              </a:rPr>
              <a:t>eye</a:t>
            </a:r>
          </a:p>
        </p:txBody>
      </p:sp>
      <p:sp>
        <p:nvSpPr>
          <p:cNvPr id="8" name="TextBox 7"/>
          <p:cNvSpPr txBox="1"/>
          <p:nvPr/>
        </p:nvSpPr>
        <p:spPr>
          <a:xfrm>
            <a:off x="3413760" y="2502533"/>
            <a:ext cx="2194560" cy="263385"/>
          </a:xfrm>
          <a:prstGeom prst="rect">
            <a:avLst/>
          </a:prstGeom>
          <a:noFill/>
        </p:spPr>
        <p:txBody>
          <a:bodyPr wrap="square" lIns="67733" tIns="33867" rIns="67733" bIns="33867">
            <a:spAutoFit/>
          </a:bodyPr>
          <a:lstStyle/>
          <a:p>
            <a:pPr algn="r" defTabSz="609585"/>
            <a:r>
              <a:rPr sz="1267">
                <a:solidFill>
                  <a:srgbClr val="0369A1"/>
                </a:solidFill>
                <a:latin typeface="Calibri"/>
              </a:rPr>
              <a:t>10,173</a:t>
            </a:r>
          </a:p>
        </p:txBody>
      </p:sp>
      <p:sp>
        <p:nvSpPr>
          <p:cNvPr id="9" name="TextBox 8"/>
          <p:cNvSpPr txBox="1"/>
          <p:nvPr/>
        </p:nvSpPr>
        <p:spPr>
          <a:xfrm>
            <a:off x="853440" y="2868293"/>
            <a:ext cx="2438400" cy="263385"/>
          </a:xfrm>
          <a:prstGeom prst="rect">
            <a:avLst/>
          </a:prstGeom>
          <a:noFill/>
        </p:spPr>
        <p:txBody>
          <a:bodyPr wrap="square" lIns="67733" tIns="33867" rIns="67733" bIns="33867">
            <a:spAutoFit/>
          </a:bodyPr>
          <a:lstStyle/>
          <a:p>
            <a:pPr defTabSz="609585"/>
            <a:r>
              <a:rPr sz="1267">
                <a:solidFill>
                  <a:srgbClr val="0D1B2A"/>
                </a:solidFill>
                <a:latin typeface="Calibri"/>
              </a:rPr>
              <a:t>carbohydrate</a:t>
            </a:r>
          </a:p>
        </p:txBody>
      </p:sp>
      <p:sp>
        <p:nvSpPr>
          <p:cNvPr id="10" name="TextBox 9"/>
          <p:cNvSpPr txBox="1"/>
          <p:nvPr/>
        </p:nvSpPr>
        <p:spPr>
          <a:xfrm>
            <a:off x="3413760" y="2868293"/>
            <a:ext cx="2194560" cy="263385"/>
          </a:xfrm>
          <a:prstGeom prst="rect">
            <a:avLst/>
          </a:prstGeom>
          <a:noFill/>
        </p:spPr>
        <p:txBody>
          <a:bodyPr wrap="square" lIns="67733" tIns="33867" rIns="67733" bIns="33867">
            <a:spAutoFit/>
          </a:bodyPr>
          <a:lstStyle/>
          <a:p>
            <a:pPr algn="r" defTabSz="609585"/>
            <a:r>
              <a:rPr sz="1267">
                <a:solidFill>
                  <a:srgbClr val="0369A1"/>
                </a:solidFill>
                <a:latin typeface="Calibri"/>
              </a:rPr>
              <a:t>9,279</a:t>
            </a:r>
          </a:p>
        </p:txBody>
      </p:sp>
      <p:sp>
        <p:nvSpPr>
          <p:cNvPr id="11" name="TextBox 10"/>
          <p:cNvSpPr txBox="1"/>
          <p:nvPr/>
        </p:nvSpPr>
        <p:spPr>
          <a:xfrm>
            <a:off x="853440" y="3234055"/>
            <a:ext cx="2438400" cy="263385"/>
          </a:xfrm>
          <a:prstGeom prst="rect">
            <a:avLst/>
          </a:prstGeom>
          <a:noFill/>
        </p:spPr>
        <p:txBody>
          <a:bodyPr wrap="square" lIns="67733" tIns="33867" rIns="67733" bIns="33867">
            <a:spAutoFit/>
          </a:bodyPr>
          <a:lstStyle/>
          <a:p>
            <a:pPr defTabSz="609585"/>
            <a:r>
              <a:rPr sz="1267">
                <a:solidFill>
                  <a:srgbClr val="0D1B2A"/>
                </a:solidFill>
                <a:latin typeface="Calibri"/>
              </a:rPr>
              <a:t>tooth</a:t>
            </a:r>
          </a:p>
        </p:txBody>
      </p:sp>
      <p:sp>
        <p:nvSpPr>
          <p:cNvPr id="12" name="TextBox 11"/>
          <p:cNvSpPr txBox="1"/>
          <p:nvPr/>
        </p:nvSpPr>
        <p:spPr>
          <a:xfrm>
            <a:off x="3413760" y="3234055"/>
            <a:ext cx="2194560" cy="263385"/>
          </a:xfrm>
          <a:prstGeom prst="rect">
            <a:avLst/>
          </a:prstGeom>
          <a:noFill/>
        </p:spPr>
        <p:txBody>
          <a:bodyPr wrap="square" lIns="67733" tIns="33867" rIns="67733" bIns="33867">
            <a:spAutoFit/>
          </a:bodyPr>
          <a:lstStyle/>
          <a:p>
            <a:pPr algn="r" defTabSz="609585"/>
            <a:r>
              <a:rPr sz="1267">
                <a:solidFill>
                  <a:srgbClr val="0369A1"/>
                </a:solidFill>
                <a:latin typeface="Calibri"/>
              </a:rPr>
              <a:t>7,868</a:t>
            </a:r>
          </a:p>
        </p:txBody>
      </p:sp>
      <p:sp>
        <p:nvSpPr>
          <p:cNvPr id="13" name="TextBox 12"/>
          <p:cNvSpPr txBox="1"/>
          <p:nvPr/>
        </p:nvSpPr>
        <p:spPr>
          <a:xfrm>
            <a:off x="853440" y="3599813"/>
            <a:ext cx="2438400" cy="263385"/>
          </a:xfrm>
          <a:prstGeom prst="rect">
            <a:avLst/>
          </a:prstGeom>
          <a:noFill/>
        </p:spPr>
        <p:txBody>
          <a:bodyPr wrap="square" lIns="67733" tIns="33867" rIns="67733" bIns="33867">
            <a:spAutoFit/>
          </a:bodyPr>
          <a:lstStyle/>
          <a:p>
            <a:pPr defTabSz="609585"/>
            <a:r>
              <a:rPr sz="1267">
                <a:solidFill>
                  <a:srgbClr val="0D1B2A"/>
                </a:solidFill>
                <a:latin typeface="Calibri"/>
              </a:rPr>
              <a:t>thyroid</a:t>
            </a:r>
          </a:p>
        </p:txBody>
      </p:sp>
      <p:sp>
        <p:nvSpPr>
          <p:cNvPr id="14" name="TextBox 13"/>
          <p:cNvSpPr txBox="1"/>
          <p:nvPr/>
        </p:nvSpPr>
        <p:spPr>
          <a:xfrm>
            <a:off x="3413760" y="3599813"/>
            <a:ext cx="2194560" cy="263385"/>
          </a:xfrm>
          <a:prstGeom prst="rect">
            <a:avLst/>
          </a:prstGeom>
          <a:noFill/>
        </p:spPr>
        <p:txBody>
          <a:bodyPr wrap="square" lIns="67733" tIns="33867" rIns="67733" bIns="33867">
            <a:spAutoFit/>
          </a:bodyPr>
          <a:lstStyle/>
          <a:p>
            <a:pPr algn="r" defTabSz="609585"/>
            <a:r>
              <a:rPr sz="1267">
                <a:solidFill>
                  <a:srgbClr val="0369A1"/>
                </a:solidFill>
                <a:latin typeface="Calibri"/>
              </a:rPr>
              <a:t>7,350</a:t>
            </a:r>
          </a:p>
        </p:txBody>
      </p:sp>
      <p:sp>
        <p:nvSpPr>
          <p:cNvPr id="15" name="TextBox 14"/>
          <p:cNvSpPr txBox="1"/>
          <p:nvPr/>
        </p:nvSpPr>
        <p:spPr>
          <a:xfrm>
            <a:off x="853440" y="3965575"/>
            <a:ext cx="2438400" cy="263385"/>
          </a:xfrm>
          <a:prstGeom prst="rect">
            <a:avLst/>
          </a:prstGeom>
          <a:noFill/>
        </p:spPr>
        <p:txBody>
          <a:bodyPr wrap="square" lIns="67733" tIns="33867" rIns="67733" bIns="33867">
            <a:spAutoFit/>
          </a:bodyPr>
          <a:lstStyle/>
          <a:p>
            <a:pPr defTabSz="609585"/>
            <a:r>
              <a:rPr sz="1267">
                <a:solidFill>
                  <a:srgbClr val="0D1B2A"/>
                </a:solidFill>
                <a:latin typeface="Calibri"/>
              </a:rPr>
              <a:t>teeth</a:t>
            </a:r>
          </a:p>
        </p:txBody>
      </p:sp>
      <p:sp>
        <p:nvSpPr>
          <p:cNvPr id="16" name="TextBox 15"/>
          <p:cNvSpPr txBox="1"/>
          <p:nvPr/>
        </p:nvSpPr>
        <p:spPr>
          <a:xfrm>
            <a:off x="3413760" y="3965575"/>
            <a:ext cx="2194560" cy="263385"/>
          </a:xfrm>
          <a:prstGeom prst="rect">
            <a:avLst/>
          </a:prstGeom>
          <a:noFill/>
        </p:spPr>
        <p:txBody>
          <a:bodyPr wrap="square" lIns="67733" tIns="33867" rIns="67733" bIns="33867">
            <a:spAutoFit/>
          </a:bodyPr>
          <a:lstStyle/>
          <a:p>
            <a:pPr algn="r" defTabSz="609585"/>
            <a:r>
              <a:rPr sz="1267">
                <a:solidFill>
                  <a:srgbClr val="0369A1"/>
                </a:solidFill>
                <a:latin typeface="Calibri"/>
              </a:rPr>
              <a:t>6,075</a:t>
            </a:r>
          </a:p>
        </p:txBody>
      </p:sp>
      <p:sp>
        <p:nvSpPr>
          <p:cNvPr id="17" name="TextBox 16"/>
          <p:cNvSpPr txBox="1"/>
          <p:nvPr/>
        </p:nvSpPr>
        <p:spPr>
          <a:xfrm>
            <a:off x="853440" y="4331335"/>
            <a:ext cx="2438400" cy="263385"/>
          </a:xfrm>
          <a:prstGeom prst="rect">
            <a:avLst/>
          </a:prstGeom>
          <a:noFill/>
        </p:spPr>
        <p:txBody>
          <a:bodyPr wrap="square" lIns="67733" tIns="33867" rIns="67733" bIns="33867">
            <a:spAutoFit/>
          </a:bodyPr>
          <a:lstStyle/>
          <a:p>
            <a:pPr defTabSz="609585"/>
            <a:r>
              <a:rPr sz="1267">
                <a:solidFill>
                  <a:srgbClr val="0D1B2A"/>
                </a:solidFill>
                <a:latin typeface="Calibri"/>
              </a:rPr>
              <a:t>sleep</a:t>
            </a:r>
          </a:p>
        </p:txBody>
      </p:sp>
      <p:sp>
        <p:nvSpPr>
          <p:cNvPr id="18" name="TextBox 17"/>
          <p:cNvSpPr txBox="1"/>
          <p:nvPr/>
        </p:nvSpPr>
        <p:spPr>
          <a:xfrm>
            <a:off x="3413760" y="4331335"/>
            <a:ext cx="2194560" cy="263385"/>
          </a:xfrm>
          <a:prstGeom prst="rect">
            <a:avLst/>
          </a:prstGeom>
          <a:noFill/>
        </p:spPr>
        <p:txBody>
          <a:bodyPr wrap="square" lIns="67733" tIns="33867" rIns="67733" bIns="33867">
            <a:spAutoFit/>
          </a:bodyPr>
          <a:lstStyle/>
          <a:p>
            <a:pPr algn="r" defTabSz="609585"/>
            <a:r>
              <a:rPr sz="1267">
                <a:solidFill>
                  <a:srgbClr val="0369A1"/>
                </a:solidFill>
                <a:latin typeface="Calibri"/>
              </a:rPr>
              <a:t>6,024</a:t>
            </a:r>
          </a:p>
        </p:txBody>
      </p:sp>
      <p:sp>
        <p:nvSpPr>
          <p:cNvPr id="19" name="TextBox 18"/>
          <p:cNvSpPr txBox="1"/>
          <p:nvPr/>
        </p:nvSpPr>
        <p:spPr>
          <a:xfrm>
            <a:off x="853440" y="4697093"/>
            <a:ext cx="2438400" cy="263385"/>
          </a:xfrm>
          <a:prstGeom prst="rect">
            <a:avLst/>
          </a:prstGeom>
          <a:noFill/>
        </p:spPr>
        <p:txBody>
          <a:bodyPr wrap="square" lIns="67733" tIns="33867" rIns="67733" bIns="33867">
            <a:spAutoFit/>
          </a:bodyPr>
          <a:lstStyle/>
          <a:p>
            <a:pPr defTabSz="609585"/>
            <a:r>
              <a:rPr sz="1267">
                <a:solidFill>
                  <a:srgbClr val="0D1B2A"/>
                </a:solidFill>
                <a:latin typeface="Calibri"/>
              </a:rPr>
              <a:t>foot</a:t>
            </a:r>
          </a:p>
        </p:txBody>
      </p:sp>
      <p:sp>
        <p:nvSpPr>
          <p:cNvPr id="20" name="TextBox 19"/>
          <p:cNvSpPr txBox="1"/>
          <p:nvPr/>
        </p:nvSpPr>
        <p:spPr>
          <a:xfrm>
            <a:off x="3413760" y="4697093"/>
            <a:ext cx="2194560" cy="263385"/>
          </a:xfrm>
          <a:prstGeom prst="rect">
            <a:avLst/>
          </a:prstGeom>
          <a:noFill/>
        </p:spPr>
        <p:txBody>
          <a:bodyPr wrap="square" lIns="67733" tIns="33867" rIns="67733" bIns="33867">
            <a:spAutoFit/>
          </a:bodyPr>
          <a:lstStyle/>
          <a:p>
            <a:pPr algn="r" defTabSz="609585"/>
            <a:r>
              <a:rPr sz="1267">
                <a:solidFill>
                  <a:srgbClr val="0369A1"/>
                </a:solidFill>
                <a:latin typeface="Calibri"/>
              </a:rPr>
              <a:t>4,872</a:t>
            </a:r>
          </a:p>
        </p:txBody>
      </p:sp>
      <p:sp>
        <p:nvSpPr>
          <p:cNvPr id="21" name="TextBox 20"/>
          <p:cNvSpPr txBox="1"/>
          <p:nvPr/>
        </p:nvSpPr>
        <p:spPr>
          <a:xfrm>
            <a:off x="853440" y="5062855"/>
            <a:ext cx="2438400" cy="263385"/>
          </a:xfrm>
          <a:prstGeom prst="rect">
            <a:avLst/>
          </a:prstGeom>
          <a:noFill/>
        </p:spPr>
        <p:txBody>
          <a:bodyPr wrap="square" lIns="67733" tIns="33867" rIns="67733" bIns="33867">
            <a:spAutoFit/>
          </a:bodyPr>
          <a:lstStyle/>
          <a:p>
            <a:pPr defTabSz="609585"/>
            <a:r>
              <a:rPr sz="1267">
                <a:solidFill>
                  <a:srgbClr val="0D1B2A"/>
                </a:solidFill>
                <a:latin typeface="Calibri"/>
              </a:rPr>
              <a:t>uterus</a:t>
            </a:r>
          </a:p>
        </p:txBody>
      </p:sp>
      <p:sp>
        <p:nvSpPr>
          <p:cNvPr id="22" name="TextBox 21"/>
          <p:cNvSpPr txBox="1"/>
          <p:nvPr/>
        </p:nvSpPr>
        <p:spPr>
          <a:xfrm>
            <a:off x="3413760" y="5062855"/>
            <a:ext cx="2194560" cy="263385"/>
          </a:xfrm>
          <a:prstGeom prst="rect">
            <a:avLst/>
          </a:prstGeom>
          <a:noFill/>
        </p:spPr>
        <p:txBody>
          <a:bodyPr wrap="square" lIns="67733" tIns="33867" rIns="67733" bIns="33867">
            <a:spAutoFit/>
          </a:bodyPr>
          <a:lstStyle/>
          <a:p>
            <a:pPr algn="r" defTabSz="609585"/>
            <a:r>
              <a:rPr sz="1267">
                <a:solidFill>
                  <a:srgbClr val="0369A1"/>
                </a:solidFill>
                <a:latin typeface="Calibri"/>
              </a:rPr>
              <a:t>4,381</a:t>
            </a:r>
          </a:p>
        </p:txBody>
      </p:sp>
      <p:sp>
        <p:nvSpPr>
          <p:cNvPr id="23" name="TextBox 22"/>
          <p:cNvSpPr txBox="1"/>
          <p:nvPr/>
        </p:nvSpPr>
        <p:spPr>
          <a:xfrm>
            <a:off x="853440" y="5428613"/>
            <a:ext cx="2438400" cy="263385"/>
          </a:xfrm>
          <a:prstGeom prst="rect">
            <a:avLst/>
          </a:prstGeom>
          <a:noFill/>
        </p:spPr>
        <p:txBody>
          <a:bodyPr wrap="square" lIns="67733" tIns="33867" rIns="67733" bIns="33867">
            <a:spAutoFit/>
          </a:bodyPr>
          <a:lstStyle/>
          <a:p>
            <a:pPr defTabSz="609585"/>
            <a:r>
              <a:rPr sz="1267">
                <a:solidFill>
                  <a:srgbClr val="0D1B2A"/>
                </a:solidFill>
                <a:latin typeface="Calibri"/>
              </a:rPr>
              <a:t>artery</a:t>
            </a:r>
          </a:p>
        </p:txBody>
      </p:sp>
      <p:sp>
        <p:nvSpPr>
          <p:cNvPr id="24" name="TextBox 23"/>
          <p:cNvSpPr txBox="1"/>
          <p:nvPr/>
        </p:nvSpPr>
        <p:spPr>
          <a:xfrm>
            <a:off x="3413760" y="5428613"/>
            <a:ext cx="2194560" cy="263385"/>
          </a:xfrm>
          <a:prstGeom prst="rect">
            <a:avLst/>
          </a:prstGeom>
          <a:noFill/>
        </p:spPr>
        <p:txBody>
          <a:bodyPr wrap="square" lIns="67733" tIns="33867" rIns="67733" bIns="33867">
            <a:spAutoFit/>
          </a:bodyPr>
          <a:lstStyle/>
          <a:p>
            <a:pPr algn="r" defTabSz="609585"/>
            <a:r>
              <a:rPr sz="1267">
                <a:solidFill>
                  <a:srgbClr val="0369A1"/>
                </a:solidFill>
                <a:latin typeface="Calibri"/>
              </a:rPr>
              <a:t>4,137</a:t>
            </a:r>
          </a:p>
        </p:txBody>
      </p:sp>
      <p:sp>
        <p:nvSpPr>
          <p:cNvPr id="25" name="TextBox 24"/>
          <p:cNvSpPr txBox="1"/>
          <p:nvPr/>
        </p:nvSpPr>
        <p:spPr>
          <a:xfrm>
            <a:off x="853440" y="5794375"/>
            <a:ext cx="2438400" cy="263385"/>
          </a:xfrm>
          <a:prstGeom prst="rect">
            <a:avLst/>
          </a:prstGeom>
          <a:noFill/>
        </p:spPr>
        <p:txBody>
          <a:bodyPr wrap="square" lIns="67733" tIns="33867" rIns="67733" bIns="33867">
            <a:spAutoFit/>
          </a:bodyPr>
          <a:lstStyle/>
          <a:p>
            <a:pPr defTabSz="609585"/>
            <a:r>
              <a:rPr sz="1267">
                <a:solidFill>
                  <a:srgbClr val="0D1B2A"/>
                </a:solidFill>
                <a:latin typeface="Calibri"/>
              </a:rPr>
              <a:t>renal</a:t>
            </a:r>
          </a:p>
        </p:txBody>
      </p:sp>
      <p:sp>
        <p:nvSpPr>
          <p:cNvPr id="26" name="TextBox 25"/>
          <p:cNvSpPr txBox="1"/>
          <p:nvPr/>
        </p:nvSpPr>
        <p:spPr>
          <a:xfrm>
            <a:off x="3413760" y="5794375"/>
            <a:ext cx="2194560" cy="263385"/>
          </a:xfrm>
          <a:prstGeom prst="rect">
            <a:avLst/>
          </a:prstGeom>
          <a:noFill/>
        </p:spPr>
        <p:txBody>
          <a:bodyPr wrap="square" lIns="67733" tIns="33867" rIns="67733" bIns="33867">
            <a:spAutoFit/>
          </a:bodyPr>
          <a:lstStyle/>
          <a:p>
            <a:pPr algn="r" defTabSz="609585"/>
            <a:r>
              <a:rPr sz="1267">
                <a:solidFill>
                  <a:srgbClr val="0369A1"/>
                </a:solidFill>
                <a:latin typeface="Calibri"/>
              </a:rPr>
              <a:t>3,616</a:t>
            </a:r>
          </a:p>
        </p:txBody>
      </p:sp>
      <p:sp>
        <p:nvSpPr>
          <p:cNvPr id="27" name="Rounded Rectangle 26"/>
          <p:cNvSpPr/>
          <p:nvPr/>
        </p:nvSpPr>
        <p:spPr>
          <a:xfrm>
            <a:off x="6217920" y="1953895"/>
            <a:ext cx="5486400" cy="4389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sz="2400">
              <a:solidFill>
                <a:prstClr val="white"/>
              </a:solidFill>
              <a:latin typeface="Calibri"/>
            </a:endParaRPr>
          </a:p>
        </p:txBody>
      </p:sp>
      <p:sp>
        <p:nvSpPr>
          <p:cNvPr id="28" name="TextBox 27"/>
          <p:cNvSpPr txBox="1"/>
          <p:nvPr/>
        </p:nvSpPr>
        <p:spPr>
          <a:xfrm>
            <a:off x="6461761" y="2075815"/>
            <a:ext cx="4998719" cy="263385"/>
          </a:xfrm>
          <a:prstGeom prst="rect">
            <a:avLst/>
          </a:prstGeom>
          <a:noFill/>
        </p:spPr>
        <p:txBody>
          <a:bodyPr wrap="square" lIns="67733" tIns="33867" rIns="67733" bIns="33867">
            <a:spAutoFit/>
          </a:bodyPr>
          <a:lstStyle/>
          <a:p>
            <a:pPr defTabSz="609585"/>
            <a:r>
              <a:rPr sz="1267" b="1">
                <a:solidFill>
                  <a:srgbClr val="0369A1"/>
                </a:solidFill>
                <a:latin typeface="Calibri"/>
              </a:rPr>
              <a:t>Top Chi-Square Words per Specialty</a:t>
            </a:r>
          </a:p>
        </p:txBody>
      </p:sp>
      <p:sp>
        <p:nvSpPr>
          <p:cNvPr id="29" name="TextBox 28"/>
          <p:cNvSpPr txBox="1"/>
          <p:nvPr/>
        </p:nvSpPr>
        <p:spPr>
          <a:xfrm>
            <a:off x="6461760" y="2502534"/>
            <a:ext cx="2194560" cy="242739"/>
          </a:xfrm>
          <a:prstGeom prst="rect">
            <a:avLst/>
          </a:prstGeom>
          <a:noFill/>
        </p:spPr>
        <p:txBody>
          <a:bodyPr wrap="square" lIns="67733" tIns="33867" rIns="67733" bIns="33867">
            <a:spAutoFit/>
          </a:bodyPr>
          <a:lstStyle/>
          <a:p>
            <a:pPr defTabSz="609585"/>
            <a:r>
              <a:rPr sz="1133" b="1">
                <a:solidFill>
                  <a:srgbClr val="0D1B2A"/>
                </a:solidFill>
                <a:latin typeface="Calibri"/>
              </a:rPr>
              <a:t>Cardiovascular</a:t>
            </a:r>
          </a:p>
        </p:txBody>
      </p:sp>
      <p:sp>
        <p:nvSpPr>
          <p:cNvPr id="30" name="TextBox 29"/>
          <p:cNvSpPr txBox="1"/>
          <p:nvPr/>
        </p:nvSpPr>
        <p:spPr>
          <a:xfrm>
            <a:off x="6461761" y="2746375"/>
            <a:ext cx="4998719" cy="242739"/>
          </a:xfrm>
          <a:prstGeom prst="rect">
            <a:avLst/>
          </a:prstGeom>
          <a:noFill/>
        </p:spPr>
        <p:txBody>
          <a:bodyPr wrap="square" lIns="67733" tIns="33867" rIns="67733" bIns="33867">
            <a:spAutoFit/>
          </a:bodyPr>
          <a:lstStyle/>
          <a:p>
            <a:pPr defTabSz="609585"/>
            <a:r>
              <a:rPr sz="1133">
                <a:solidFill>
                  <a:srgbClr val="64748B"/>
                </a:solidFill>
                <a:latin typeface="Calibri"/>
              </a:rPr>
              <a:t>artery, coronary, pulmonary, ventricular, aortic</a:t>
            </a:r>
          </a:p>
        </p:txBody>
      </p:sp>
      <p:sp>
        <p:nvSpPr>
          <p:cNvPr id="31" name="TextBox 30"/>
          <p:cNvSpPr txBox="1"/>
          <p:nvPr/>
        </p:nvSpPr>
        <p:spPr>
          <a:xfrm>
            <a:off x="6461760" y="3038983"/>
            <a:ext cx="2194560" cy="242739"/>
          </a:xfrm>
          <a:prstGeom prst="rect">
            <a:avLst/>
          </a:prstGeom>
          <a:noFill/>
        </p:spPr>
        <p:txBody>
          <a:bodyPr wrap="square" lIns="67733" tIns="33867" rIns="67733" bIns="33867">
            <a:spAutoFit/>
          </a:bodyPr>
          <a:lstStyle/>
          <a:p>
            <a:pPr defTabSz="609585"/>
            <a:r>
              <a:rPr sz="1133" b="1">
                <a:solidFill>
                  <a:srgbClr val="0D1B2A"/>
                </a:solidFill>
                <a:latin typeface="Calibri"/>
              </a:rPr>
              <a:t>Orthopedic</a:t>
            </a:r>
          </a:p>
        </p:txBody>
      </p:sp>
      <p:sp>
        <p:nvSpPr>
          <p:cNvPr id="32" name="TextBox 31"/>
          <p:cNvSpPr txBox="1"/>
          <p:nvPr/>
        </p:nvSpPr>
        <p:spPr>
          <a:xfrm>
            <a:off x="6461761" y="3282823"/>
            <a:ext cx="4998719" cy="242739"/>
          </a:xfrm>
          <a:prstGeom prst="rect">
            <a:avLst/>
          </a:prstGeom>
          <a:noFill/>
        </p:spPr>
        <p:txBody>
          <a:bodyPr wrap="square" lIns="67733" tIns="33867" rIns="67733" bIns="33867">
            <a:spAutoFit/>
          </a:bodyPr>
          <a:lstStyle/>
          <a:p>
            <a:pPr defTabSz="609585"/>
            <a:r>
              <a:rPr sz="1133">
                <a:solidFill>
                  <a:srgbClr val="64748B"/>
                </a:solidFill>
                <a:latin typeface="Calibri"/>
              </a:rPr>
              <a:t>knee, fracture, tourniquet, tendon, joint</a:t>
            </a:r>
          </a:p>
        </p:txBody>
      </p:sp>
      <p:sp>
        <p:nvSpPr>
          <p:cNvPr id="33" name="TextBox 32"/>
          <p:cNvSpPr txBox="1"/>
          <p:nvPr/>
        </p:nvSpPr>
        <p:spPr>
          <a:xfrm>
            <a:off x="6461760" y="3575430"/>
            <a:ext cx="2194560" cy="242739"/>
          </a:xfrm>
          <a:prstGeom prst="rect">
            <a:avLst/>
          </a:prstGeom>
          <a:noFill/>
        </p:spPr>
        <p:txBody>
          <a:bodyPr wrap="square" lIns="67733" tIns="33867" rIns="67733" bIns="33867">
            <a:spAutoFit/>
          </a:bodyPr>
          <a:lstStyle/>
          <a:p>
            <a:pPr defTabSz="609585"/>
            <a:r>
              <a:rPr sz="1133" b="1">
                <a:solidFill>
                  <a:srgbClr val="0D1B2A"/>
                </a:solidFill>
                <a:latin typeface="Calibri"/>
              </a:rPr>
              <a:t>Neurology</a:t>
            </a:r>
          </a:p>
        </p:txBody>
      </p:sp>
      <p:sp>
        <p:nvSpPr>
          <p:cNvPr id="34" name="TextBox 33"/>
          <p:cNvSpPr txBox="1"/>
          <p:nvPr/>
        </p:nvSpPr>
        <p:spPr>
          <a:xfrm>
            <a:off x="6461761" y="3819271"/>
            <a:ext cx="4998719" cy="242739"/>
          </a:xfrm>
          <a:prstGeom prst="rect">
            <a:avLst/>
          </a:prstGeom>
          <a:noFill/>
        </p:spPr>
        <p:txBody>
          <a:bodyPr wrap="square" lIns="67733" tIns="33867" rIns="67733" bIns="33867">
            <a:spAutoFit/>
          </a:bodyPr>
          <a:lstStyle/>
          <a:p>
            <a:pPr defTabSz="609585"/>
            <a:r>
              <a:rPr sz="1133">
                <a:solidFill>
                  <a:srgbClr val="64748B"/>
                </a:solidFill>
                <a:latin typeface="Calibri"/>
              </a:rPr>
              <a:t>brain, mri, unremarkable, gait, sensory</a:t>
            </a:r>
          </a:p>
        </p:txBody>
      </p:sp>
      <p:sp>
        <p:nvSpPr>
          <p:cNvPr id="35" name="TextBox 34"/>
          <p:cNvSpPr txBox="1"/>
          <p:nvPr/>
        </p:nvSpPr>
        <p:spPr>
          <a:xfrm>
            <a:off x="6461760" y="4111879"/>
            <a:ext cx="2194560" cy="242739"/>
          </a:xfrm>
          <a:prstGeom prst="rect">
            <a:avLst/>
          </a:prstGeom>
          <a:noFill/>
        </p:spPr>
        <p:txBody>
          <a:bodyPr wrap="square" lIns="67733" tIns="33867" rIns="67733" bIns="33867">
            <a:spAutoFit/>
          </a:bodyPr>
          <a:lstStyle/>
          <a:p>
            <a:pPr defTabSz="609585"/>
            <a:r>
              <a:rPr sz="1133" b="1">
                <a:solidFill>
                  <a:srgbClr val="0D1B2A"/>
                </a:solidFill>
                <a:latin typeface="Calibri"/>
              </a:rPr>
              <a:t>Gastroenterology</a:t>
            </a:r>
          </a:p>
        </p:txBody>
      </p:sp>
      <p:sp>
        <p:nvSpPr>
          <p:cNvPr id="36" name="TextBox 35"/>
          <p:cNvSpPr txBox="1"/>
          <p:nvPr/>
        </p:nvSpPr>
        <p:spPr>
          <a:xfrm>
            <a:off x="6461761" y="4355719"/>
            <a:ext cx="4998719" cy="242739"/>
          </a:xfrm>
          <a:prstGeom prst="rect">
            <a:avLst/>
          </a:prstGeom>
          <a:noFill/>
        </p:spPr>
        <p:txBody>
          <a:bodyPr wrap="square" lIns="67733" tIns="33867" rIns="67733" bIns="33867">
            <a:spAutoFit/>
          </a:bodyPr>
          <a:lstStyle/>
          <a:p>
            <a:pPr defTabSz="609585"/>
            <a:r>
              <a:rPr sz="1133">
                <a:solidFill>
                  <a:srgbClr val="64748B"/>
                </a:solidFill>
                <a:latin typeface="Calibri"/>
              </a:rPr>
              <a:t>colon, gallbladder, duct, esophagus, stomach</a:t>
            </a:r>
          </a:p>
        </p:txBody>
      </p:sp>
      <p:sp>
        <p:nvSpPr>
          <p:cNvPr id="37" name="TextBox 36"/>
          <p:cNvSpPr txBox="1"/>
          <p:nvPr/>
        </p:nvSpPr>
        <p:spPr>
          <a:xfrm>
            <a:off x="6461760" y="4648326"/>
            <a:ext cx="2194560" cy="242739"/>
          </a:xfrm>
          <a:prstGeom prst="rect">
            <a:avLst/>
          </a:prstGeom>
          <a:noFill/>
        </p:spPr>
        <p:txBody>
          <a:bodyPr wrap="square" lIns="67733" tIns="33867" rIns="67733" bIns="33867">
            <a:spAutoFit/>
          </a:bodyPr>
          <a:lstStyle/>
          <a:p>
            <a:pPr defTabSz="609585"/>
            <a:r>
              <a:rPr sz="1133" b="1">
                <a:solidFill>
                  <a:srgbClr val="0D1B2A"/>
                </a:solidFill>
                <a:latin typeface="Calibri"/>
              </a:rPr>
              <a:t>Obstetrics/Gyn</a:t>
            </a:r>
          </a:p>
        </p:txBody>
      </p:sp>
      <p:sp>
        <p:nvSpPr>
          <p:cNvPr id="38" name="TextBox 37"/>
          <p:cNvSpPr txBox="1"/>
          <p:nvPr/>
        </p:nvSpPr>
        <p:spPr>
          <a:xfrm>
            <a:off x="6461761" y="4892167"/>
            <a:ext cx="4998719" cy="242739"/>
          </a:xfrm>
          <a:prstGeom prst="rect">
            <a:avLst/>
          </a:prstGeom>
          <a:noFill/>
        </p:spPr>
        <p:txBody>
          <a:bodyPr wrap="square" lIns="67733" tIns="33867" rIns="67733" bIns="33867">
            <a:spAutoFit/>
          </a:bodyPr>
          <a:lstStyle/>
          <a:p>
            <a:pPr defTabSz="609585"/>
            <a:r>
              <a:rPr sz="1133">
                <a:solidFill>
                  <a:srgbClr val="64748B"/>
                </a:solidFill>
                <a:latin typeface="Calibri"/>
              </a:rPr>
              <a:t>uterus, uterine, cervix, fetal, vaginal</a:t>
            </a:r>
          </a:p>
        </p:txBody>
      </p:sp>
      <p:sp>
        <p:nvSpPr>
          <p:cNvPr id="39" name="TextBox 38"/>
          <p:cNvSpPr txBox="1"/>
          <p:nvPr/>
        </p:nvSpPr>
        <p:spPr>
          <a:xfrm>
            <a:off x="6461760" y="5184775"/>
            <a:ext cx="2194560" cy="242739"/>
          </a:xfrm>
          <a:prstGeom prst="rect">
            <a:avLst/>
          </a:prstGeom>
          <a:noFill/>
        </p:spPr>
        <p:txBody>
          <a:bodyPr wrap="square" lIns="67733" tIns="33867" rIns="67733" bIns="33867">
            <a:spAutoFit/>
          </a:bodyPr>
          <a:lstStyle/>
          <a:p>
            <a:pPr defTabSz="609585"/>
            <a:r>
              <a:rPr sz="1133" b="1">
                <a:solidFill>
                  <a:srgbClr val="0D1B2A"/>
                </a:solidFill>
                <a:latin typeface="Calibri"/>
              </a:rPr>
              <a:t>Urology</a:t>
            </a:r>
          </a:p>
        </p:txBody>
      </p:sp>
      <p:sp>
        <p:nvSpPr>
          <p:cNvPr id="40" name="TextBox 39"/>
          <p:cNvSpPr txBox="1"/>
          <p:nvPr/>
        </p:nvSpPr>
        <p:spPr>
          <a:xfrm>
            <a:off x="6461761" y="5428615"/>
            <a:ext cx="4998719" cy="242739"/>
          </a:xfrm>
          <a:prstGeom prst="rect">
            <a:avLst/>
          </a:prstGeom>
          <a:noFill/>
        </p:spPr>
        <p:txBody>
          <a:bodyPr wrap="square" lIns="67733" tIns="33867" rIns="67733" bIns="33867">
            <a:spAutoFit/>
          </a:bodyPr>
          <a:lstStyle/>
          <a:p>
            <a:pPr defTabSz="609585"/>
            <a:r>
              <a:rPr sz="1133">
                <a:solidFill>
                  <a:srgbClr val="64748B"/>
                </a:solidFill>
                <a:latin typeface="Calibri"/>
              </a:rPr>
              <a:t>bladder, prostate, penis, testis, urethra</a:t>
            </a:r>
          </a:p>
        </p:txBody>
      </p:sp>
      <p:sp>
        <p:nvSpPr>
          <p:cNvPr id="41" name="TextBox 40"/>
          <p:cNvSpPr txBox="1"/>
          <p:nvPr/>
        </p:nvSpPr>
        <p:spPr>
          <a:xfrm>
            <a:off x="6461760" y="5721223"/>
            <a:ext cx="2194560" cy="242739"/>
          </a:xfrm>
          <a:prstGeom prst="rect">
            <a:avLst/>
          </a:prstGeom>
          <a:noFill/>
        </p:spPr>
        <p:txBody>
          <a:bodyPr wrap="square" lIns="67733" tIns="33867" rIns="67733" bIns="33867">
            <a:spAutoFit/>
          </a:bodyPr>
          <a:lstStyle/>
          <a:p>
            <a:pPr defTabSz="609585"/>
            <a:r>
              <a:rPr sz="1133" b="1">
                <a:solidFill>
                  <a:srgbClr val="0D1B2A"/>
                </a:solidFill>
                <a:latin typeface="Calibri"/>
              </a:rPr>
              <a:t>ENT</a:t>
            </a:r>
          </a:p>
        </p:txBody>
      </p:sp>
      <p:sp>
        <p:nvSpPr>
          <p:cNvPr id="42" name="TextBox 41"/>
          <p:cNvSpPr txBox="1"/>
          <p:nvPr/>
        </p:nvSpPr>
        <p:spPr>
          <a:xfrm>
            <a:off x="6461761" y="5965063"/>
            <a:ext cx="4998719" cy="242739"/>
          </a:xfrm>
          <a:prstGeom prst="rect">
            <a:avLst/>
          </a:prstGeom>
          <a:noFill/>
        </p:spPr>
        <p:txBody>
          <a:bodyPr wrap="square" lIns="67733" tIns="33867" rIns="67733" bIns="33867">
            <a:spAutoFit/>
          </a:bodyPr>
          <a:lstStyle/>
          <a:p>
            <a:pPr defTabSz="609585"/>
            <a:r>
              <a:rPr sz="1133">
                <a:solidFill>
                  <a:srgbClr val="64748B"/>
                </a:solidFill>
                <a:latin typeface="Calibri"/>
              </a:rPr>
              <a:t>nasal, ear, tonsil, adenoid, palate</a:t>
            </a:r>
          </a:p>
        </p:txBody>
      </p:sp>
      <p:sp>
        <p:nvSpPr>
          <p:cNvPr id="43" name="Rounded Rectangle 42"/>
          <p:cNvSpPr/>
          <p:nvPr/>
        </p:nvSpPr>
        <p:spPr>
          <a:xfrm>
            <a:off x="548640" y="6403975"/>
            <a:ext cx="11094720" cy="304800"/>
          </a:xfrm>
          <a:prstGeom prst="roundRect">
            <a:avLst/>
          </a:prstGeom>
          <a:solidFill>
            <a:srgbClr val="E0F7F6"/>
          </a:solidFill>
          <a:ln>
            <a:noFill/>
          </a:ln>
        </p:spPr>
        <p:style>
          <a:lnRef idx="1">
            <a:schemeClr val="accent1"/>
          </a:lnRef>
          <a:fillRef idx="3">
            <a:schemeClr val="accent1"/>
          </a:fillRef>
          <a:effectRef idx="2">
            <a:schemeClr val="accent1"/>
          </a:effectRef>
          <a:fontRef idx="minor">
            <a:schemeClr val="lt1"/>
          </a:fontRef>
        </p:style>
        <p:txBody>
          <a:bodyPr wrap="square" lIns="169333" tIns="101600" rtlCol="0" anchor="ctr"/>
          <a:lstStyle/>
          <a:p>
            <a:pPr algn="ctr" defTabSz="609585"/>
            <a:r>
              <a:rPr sz="1267">
                <a:solidFill>
                  <a:srgbClr val="0369A1"/>
                </a:solidFill>
                <a:latin typeface="Calibri"/>
              </a:rPr>
              <a:t>All top chi-square terms have p &lt; 0.05. These are not coincidences -- they are statistically defining features.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3" name="TextBox 2"/>
          <p:cNvSpPr txBox="1"/>
          <p:nvPr/>
        </p:nvSpPr>
        <p:spPr>
          <a:xfrm>
            <a:off x="609600" y="759079"/>
            <a:ext cx="10972800" cy="642848"/>
          </a:xfrm>
          <a:prstGeom prst="rect">
            <a:avLst/>
          </a:prstGeom>
          <a:noFill/>
        </p:spPr>
        <p:txBody>
          <a:bodyPr wrap="square" lIns="67733" tIns="33867" rIns="67733" bIns="33867">
            <a:spAutoFit/>
          </a:bodyPr>
          <a:lstStyle/>
          <a:p>
            <a:pPr defTabSz="609585"/>
            <a:r>
              <a:rPr sz="3733" b="1">
                <a:solidFill>
                  <a:srgbClr val="0D1B2A"/>
                </a:solidFill>
                <a:latin typeface="Calibri"/>
              </a:rPr>
              <a:t>PMI Collocation Scoring</a:t>
            </a:r>
          </a:p>
        </p:txBody>
      </p:sp>
      <p:sp>
        <p:nvSpPr>
          <p:cNvPr id="4" name="TextBox 3"/>
          <p:cNvSpPr txBox="1"/>
          <p:nvPr/>
        </p:nvSpPr>
        <p:spPr>
          <a:xfrm>
            <a:off x="609600" y="1466216"/>
            <a:ext cx="10972800" cy="273516"/>
          </a:xfrm>
          <a:prstGeom prst="rect">
            <a:avLst/>
          </a:prstGeom>
          <a:noFill/>
        </p:spPr>
        <p:txBody>
          <a:bodyPr wrap="square" lIns="67733" tIns="33867" rIns="67733" bIns="33867">
            <a:spAutoFit/>
          </a:bodyPr>
          <a:lstStyle/>
          <a:p>
            <a:pPr defTabSz="609585"/>
            <a:r>
              <a:rPr sz="1333">
                <a:solidFill>
                  <a:srgbClr val="64748B"/>
                </a:solidFill>
                <a:latin typeface="Calibri"/>
              </a:rPr>
              <a:t>Pointwise Mutual Information ranks bigrams that co-occur more than random chance predicts.</a:t>
            </a:r>
          </a:p>
        </p:txBody>
      </p:sp>
      <p:sp>
        <p:nvSpPr>
          <p:cNvPr id="5" name="Rounded Rectangle 4"/>
          <p:cNvSpPr/>
          <p:nvPr/>
        </p:nvSpPr>
        <p:spPr>
          <a:xfrm>
            <a:off x="548640" y="1953895"/>
            <a:ext cx="5364480" cy="3901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sz="2400">
              <a:solidFill>
                <a:prstClr val="white"/>
              </a:solidFill>
              <a:latin typeface="Calibri"/>
            </a:endParaRPr>
          </a:p>
        </p:txBody>
      </p:sp>
      <p:sp>
        <p:nvSpPr>
          <p:cNvPr id="6" name="TextBox 5"/>
          <p:cNvSpPr txBox="1"/>
          <p:nvPr/>
        </p:nvSpPr>
        <p:spPr>
          <a:xfrm>
            <a:off x="853440" y="2075815"/>
            <a:ext cx="4876800" cy="263385"/>
          </a:xfrm>
          <a:prstGeom prst="rect">
            <a:avLst/>
          </a:prstGeom>
          <a:noFill/>
        </p:spPr>
        <p:txBody>
          <a:bodyPr wrap="square" lIns="67733" tIns="33867" rIns="67733" bIns="33867">
            <a:spAutoFit/>
          </a:bodyPr>
          <a:lstStyle/>
          <a:p>
            <a:pPr defTabSz="609585"/>
            <a:r>
              <a:rPr sz="1267" b="1">
                <a:solidFill>
                  <a:srgbClr val="6D28D9"/>
                </a:solidFill>
                <a:latin typeface="Calibri"/>
              </a:rPr>
              <a:t>Top 10 PMI Bigrams (genuine medical terms)</a:t>
            </a:r>
          </a:p>
        </p:txBody>
      </p:sp>
      <p:sp>
        <p:nvSpPr>
          <p:cNvPr id="7" name="TextBox 6"/>
          <p:cNvSpPr txBox="1"/>
          <p:nvPr/>
        </p:nvSpPr>
        <p:spPr>
          <a:xfrm>
            <a:off x="975360" y="2502534"/>
            <a:ext cx="4632960" cy="263385"/>
          </a:xfrm>
          <a:prstGeom prst="rect">
            <a:avLst/>
          </a:prstGeom>
          <a:noFill/>
        </p:spPr>
        <p:txBody>
          <a:bodyPr wrap="square" lIns="67733" tIns="33867" rIns="67733" bIns="33867">
            <a:spAutoFit/>
          </a:bodyPr>
          <a:lstStyle/>
          <a:p>
            <a:pPr defTabSz="609585"/>
            <a:r>
              <a:rPr sz="1267">
                <a:solidFill>
                  <a:srgbClr val="0D1B2A"/>
                </a:solidFill>
                <a:latin typeface="Calibri"/>
              </a:rPr>
              <a:t>  amaurosis fugax</a:t>
            </a:r>
          </a:p>
        </p:txBody>
      </p:sp>
      <p:sp>
        <p:nvSpPr>
          <p:cNvPr id="8" name="TextBox 7"/>
          <p:cNvSpPr txBox="1"/>
          <p:nvPr/>
        </p:nvSpPr>
        <p:spPr>
          <a:xfrm>
            <a:off x="975360" y="2843911"/>
            <a:ext cx="4632960" cy="263385"/>
          </a:xfrm>
          <a:prstGeom prst="rect">
            <a:avLst/>
          </a:prstGeom>
          <a:noFill/>
        </p:spPr>
        <p:txBody>
          <a:bodyPr wrap="square" lIns="67733" tIns="33867" rIns="67733" bIns="33867">
            <a:spAutoFit/>
          </a:bodyPr>
          <a:lstStyle/>
          <a:p>
            <a:pPr defTabSz="609585"/>
            <a:r>
              <a:rPr sz="1267">
                <a:solidFill>
                  <a:srgbClr val="0D1B2A"/>
                </a:solidFill>
                <a:latin typeface="Calibri"/>
              </a:rPr>
              <a:t>  myasthenia gravis</a:t>
            </a:r>
          </a:p>
        </p:txBody>
      </p:sp>
      <p:sp>
        <p:nvSpPr>
          <p:cNvPr id="9" name="TextBox 8"/>
          <p:cNvSpPr txBox="1"/>
          <p:nvPr/>
        </p:nvSpPr>
        <p:spPr>
          <a:xfrm>
            <a:off x="975360" y="3185287"/>
            <a:ext cx="4632960" cy="263385"/>
          </a:xfrm>
          <a:prstGeom prst="rect">
            <a:avLst/>
          </a:prstGeom>
          <a:noFill/>
        </p:spPr>
        <p:txBody>
          <a:bodyPr wrap="square" lIns="67733" tIns="33867" rIns="67733" bIns="33867">
            <a:spAutoFit/>
          </a:bodyPr>
          <a:lstStyle/>
          <a:p>
            <a:pPr defTabSz="609585"/>
            <a:r>
              <a:rPr sz="1267">
                <a:solidFill>
                  <a:srgbClr val="0D1B2A"/>
                </a:solidFill>
                <a:latin typeface="Calibri"/>
              </a:rPr>
              <a:t>  radiometer hemoximeter</a:t>
            </a:r>
          </a:p>
        </p:txBody>
      </p:sp>
      <p:sp>
        <p:nvSpPr>
          <p:cNvPr id="10" name="TextBox 9"/>
          <p:cNvSpPr txBox="1"/>
          <p:nvPr/>
        </p:nvSpPr>
        <p:spPr>
          <a:xfrm>
            <a:off x="975360" y="3526662"/>
            <a:ext cx="4632960" cy="263385"/>
          </a:xfrm>
          <a:prstGeom prst="rect">
            <a:avLst/>
          </a:prstGeom>
          <a:noFill/>
        </p:spPr>
        <p:txBody>
          <a:bodyPr wrap="square" lIns="67733" tIns="33867" rIns="67733" bIns="33867">
            <a:spAutoFit/>
          </a:bodyPr>
          <a:lstStyle/>
          <a:p>
            <a:pPr defTabSz="609585"/>
            <a:r>
              <a:rPr sz="1267">
                <a:solidFill>
                  <a:srgbClr val="0D1B2A"/>
                </a:solidFill>
                <a:latin typeface="Calibri"/>
              </a:rPr>
              <a:t>  charcot marie</a:t>
            </a:r>
          </a:p>
        </p:txBody>
      </p:sp>
      <p:sp>
        <p:nvSpPr>
          <p:cNvPr id="11" name="TextBox 10"/>
          <p:cNvSpPr txBox="1"/>
          <p:nvPr/>
        </p:nvSpPr>
        <p:spPr>
          <a:xfrm>
            <a:off x="975360" y="3868039"/>
            <a:ext cx="4632960" cy="263385"/>
          </a:xfrm>
          <a:prstGeom prst="rect">
            <a:avLst/>
          </a:prstGeom>
          <a:noFill/>
        </p:spPr>
        <p:txBody>
          <a:bodyPr wrap="square" lIns="67733" tIns="33867" rIns="67733" bIns="33867">
            <a:spAutoFit/>
          </a:bodyPr>
          <a:lstStyle/>
          <a:p>
            <a:pPr defTabSz="609585"/>
            <a:r>
              <a:rPr sz="1267">
                <a:solidFill>
                  <a:srgbClr val="0D1B2A"/>
                </a:solidFill>
                <a:latin typeface="Calibri"/>
              </a:rPr>
              <a:t>  mononeuritis multiplex</a:t>
            </a:r>
          </a:p>
        </p:txBody>
      </p:sp>
      <p:sp>
        <p:nvSpPr>
          <p:cNvPr id="12" name="TextBox 11"/>
          <p:cNvSpPr txBox="1"/>
          <p:nvPr/>
        </p:nvSpPr>
        <p:spPr>
          <a:xfrm>
            <a:off x="975360" y="4209415"/>
            <a:ext cx="4632960" cy="263385"/>
          </a:xfrm>
          <a:prstGeom prst="rect">
            <a:avLst/>
          </a:prstGeom>
          <a:noFill/>
        </p:spPr>
        <p:txBody>
          <a:bodyPr wrap="square" lIns="67733" tIns="33867" rIns="67733" bIns="33867">
            <a:spAutoFit/>
          </a:bodyPr>
          <a:lstStyle/>
          <a:p>
            <a:pPr defTabSz="609585"/>
            <a:r>
              <a:rPr sz="1267">
                <a:solidFill>
                  <a:srgbClr val="0D1B2A"/>
                </a:solidFill>
                <a:latin typeface="Calibri"/>
              </a:rPr>
              <a:t>  cisterna magna</a:t>
            </a:r>
          </a:p>
        </p:txBody>
      </p:sp>
      <p:sp>
        <p:nvSpPr>
          <p:cNvPr id="13" name="TextBox 12"/>
          <p:cNvSpPr txBox="1"/>
          <p:nvPr/>
        </p:nvSpPr>
        <p:spPr>
          <a:xfrm>
            <a:off x="975360" y="4550791"/>
            <a:ext cx="4632960" cy="263385"/>
          </a:xfrm>
          <a:prstGeom prst="rect">
            <a:avLst/>
          </a:prstGeom>
          <a:noFill/>
        </p:spPr>
        <p:txBody>
          <a:bodyPr wrap="square" lIns="67733" tIns="33867" rIns="67733" bIns="33867">
            <a:spAutoFit/>
          </a:bodyPr>
          <a:lstStyle/>
          <a:p>
            <a:pPr defTabSz="609585"/>
            <a:r>
              <a:rPr sz="1267">
                <a:solidFill>
                  <a:srgbClr val="0D1B2A"/>
                </a:solidFill>
                <a:latin typeface="Calibri"/>
              </a:rPr>
              <a:t>  spina bifida</a:t>
            </a:r>
          </a:p>
        </p:txBody>
      </p:sp>
      <p:sp>
        <p:nvSpPr>
          <p:cNvPr id="14" name="TextBox 13"/>
          <p:cNvSpPr txBox="1"/>
          <p:nvPr/>
        </p:nvSpPr>
        <p:spPr>
          <a:xfrm>
            <a:off x="975360" y="4892167"/>
            <a:ext cx="4632960" cy="263385"/>
          </a:xfrm>
          <a:prstGeom prst="rect">
            <a:avLst/>
          </a:prstGeom>
          <a:noFill/>
        </p:spPr>
        <p:txBody>
          <a:bodyPr wrap="square" lIns="67733" tIns="33867" rIns="67733" bIns="33867">
            <a:spAutoFit/>
          </a:bodyPr>
          <a:lstStyle/>
          <a:p>
            <a:pPr defTabSz="609585"/>
            <a:r>
              <a:rPr sz="1267">
                <a:solidFill>
                  <a:srgbClr val="0D1B2A"/>
                </a:solidFill>
                <a:latin typeface="Calibri"/>
              </a:rPr>
              <a:t>  splenius capitis</a:t>
            </a:r>
          </a:p>
        </p:txBody>
      </p:sp>
      <p:sp>
        <p:nvSpPr>
          <p:cNvPr id="15" name="TextBox 14"/>
          <p:cNvSpPr txBox="1"/>
          <p:nvPr/>
        </p:nvSpPr>
        <p:spPr>
          <a:xfrm>
            <a:off x="975360" y="5233543"/>
            <a:ext cx="4632960" cy="263385"/>
          </a:xfrm>
          <a:prstGeom prst="rect">
            <a:avLst/>
          </a:prstGeom>
          <a:noFill/>
        </p:spPr>
        <p:txBody>
          <a:bodyPr wrap="square" lIns="67733" tIns="33867" rIns="67733" bIns="33867">
            <a:spAutoFit/>
          </a:bodyPr>
          <a:lstStyle/>
          <a:p>
            <a:pPr defTabSz="609585"/>
            <a:r>
              <a:rPr sz="1267">
                <a:solidFill>
                  <a:srgbClr val="0D1B2A"/>
                </a:solidFill>
                <a:latin typeface="Calibri"/>
              </a:rPr>
              <a:t>  leukocyte esterase</a:t>
            </a:r>
          </a:p>
        </p:txBody>
      </p:sp>
      <p:sp>
        <p:nvSpPr>
          <p:cNvPr id="16" name="TextBox 15"/>
          <p:cNvSpPr txBox="1"/>
          <p:nvPr/>
        </p:nvSpPr>
        <p:spPr>
          <a:xfrm>
            <a:off x="975360" y="5574919"/>
            <a:ext cx="4632960" cy="263385"/>
          </a:xfrm>
          <a:prstGeom prst="rect">
            <a:avLst/>
          </a:prstGeom>
          <a:noFill/>
        </p:spPr>
        <p:txBody>
          <a:bodyPr wrap="square" lIns="67733" tIns="33867" rIns="67733" bIns="33867">
            <a:spAutoFit/>
          </a:bodyPr>
          <a:lstStyle/>
          <a:p>
            <a:pPr defTabSz="609585"/>
            <a:r>
              <a:rPr sz="1267">
                <a:solidFill>
                  <a:srgbClr val="0D1B2A"/>
                </a:solidFill>
                <a:latin typeface="Calibri"/>
              </a:rPr>
              <a:t>  pseudotumor cerebri</a:t>
            </a:r>
          </a:p>
        </p:txBody>
      </p:sp>
      <p:sp>
        <p:nvSpPr>
          <p:cNvPr id="17" name="Rounded Rectangle 16"/>
          <p:cNvSpPr/>
          <p:nvPr/>
        </p:nvSpPr>
        <p:spPr>
          <a:xfrm>
            <a:off x="6217920" y="1953895"/>
            <a:ext cx="5486400" cy="19507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wrap="square" lIns="135467" tIns="101600" bIns="101600" rtlCol="0" anchor="ctr"/>
          <a:lstStyle/>
          <a:p>
            <a:pPr algn="ctr" defTabSz="609585"/>
            <a:r>
              <a:rPr sz="1000">
                <a:solidFill>
                  <a:srgbClr val="7DD3FC"/>
                </a:solidFill>
                <a:latin typeface="Courier New"/>
              </a:rPr>
              <a:t>bigram_measures = BigramAssocMeasures()</a:t>
            </a:r>
          </a:p>
          <a:p>
            <a:pPr defTabSz="609585"/>
            <a:r>
              <a:rPr sz="1000">
                <a:solidFill>
                  <a:srgbClr val="7DD3FC"/>
                </a:solidFill>
                <a:latin typeface="Courier New"/>
              </a:rPr>
              <a:t>words = ' '.join(df['clean_text']).split()</a:t>
            </a:r>
          </a:p>
          <a:p>
            <a:pPr defTabSz="609585"/>
            <a:r>
              <a:rPr sz="1000">
                <a:solidFill>
                  <a:srgbClr val="7DD3FC"/>
                </a:solidFill>
                <a:latin typeface="Courier New"/>
              </a:rPr>
              <a:t>finder = BigramCollocationFinder.from_words(words)</a:t>
            </a:r>
          </a:p>
          <a:p>
            <a:pPr defTabSz="609585"/>
            <a:r>
              <a:rPr sz="1000">
                <a:solidFill>
                  <a:srgbClr val="7DD3FC"/>
                </a:solidFill>
                <a:latin typeface="Courier New"/>
              </a:rPr>
              <a:t>finder.apply_freq_filter(5)  # min 5 occurrences</a:t>
            </a:r>
          </a:p>
          <a:p>
            <a:pPr defTabSz="609585"/>
            <a:r>
              <a:rPr sz="1000">
                <a:solidFill>
                  <a:srgbClr val="7DD3FC"/>
                </a:solidFill>
                <a:latin typeface="Courier New"/>
              </a:rPr>
              <a:t>top_pmi = finder.nbest(bigram_measures.pmi, 20)</a:t>
            </a:r>
          </a:p>
        </p:txBody>
      </p:sp>
      <p:sp>
        <p:nvSpPr>
          <p:cNvPr id="18" name="Rounded Rectangle 17"/>
          <p:cNvSpPr/>
          <p:nvPr/>
        </p:nvSpPr>
        <p:spPr>
          <a:xfrm>
            <a:off x="6217920" y="4148455"/>
            <a:ext cx="5486400" cy="1706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sz="2400">
              <a:solidFill>
                <a:prstClr val="white"/>
              </a:solidFill>
              <a:latin typeface="Calibri"/>
            </a:endParaRPr>
          </a:p>
        </p:txBody>
      </p:sp>
      <p:sp>
        <p:nvSpPr>
          <p:cNvPr id="19" name="TextBox 18"/>
          <p:cNvSpPr txBox="1"/>
          <p:nvPr/>
        </p:nvSpPr>
        <p:spPr>
          <a:xfrm>
            <a:off x="6461761" y="4270375"/>
            <a:ext cx="4998719" cy="263385"/>
          </a:xfrm>
          <a:prstGeom prst="rect">
            <a:avLst/>
          </a:prstGeom>
          <a:noFill/>
        </p:spPr>
        <p:txBody>
          <a:bodyPr wrap="square" lIns="67733" tIns="33867" rIns="67733" bIns="33867">
            <a:spAutoFit/>
          </a:bodyPr>
          <a:lstStyle/>
          <a:p>
            <a:pPr defTabSz="609585"/>
            <a:r>
              <a:rPr sz="1267" b="1">
                <a:solidFill>
                  <a:srgbClr val="6D28D9"/>
                </a:solidFill>
                <a:latin typeface="Calibri"/>
              </a:rPr>
              <a:t>What PMI tells us</a:t>
            </a:r>
          </a:p>
        </p:txBody>
      </p:sp>
      <p:sp>
        <p:nvSpPr>
          <p:cNvPr id="20" name="TextBox 19"/>
          <p:cNvSpPr txBox="1"/>
          <p:nvPr/>
        </p:nvSpPr>
        <p:spPr>
          <a:xfrm>
            <a:off x="6461761" y="4636135"/>
            <a:ext cx="4998719" cy="934444"/>
          </a:xfrm>
          <a:prstGeom prst="rect">
            <a:avLst/>
          </a:prstGeom>
          <a:noFill/>
        </p:spPr>
        <p:txBody>
          <a:bodyPr wrap="square" lIns="67733" tIns="33867">
            <a:spAutoFit/>
          </a:bodyPr>
          <a:lstStyle/>
          <a:p>
            <a:pPr defTabSz="609585">
              <a:spcAft>
                <a:spcPts val="267"/>
              </a:spcAft>
            </a:pPr>
            <a:r>
              <a:rPr sz="1200">
                <a:solidFill>
                  <a:srgbClr val="0D1B2A"/>
                </a:solidFill>
                <a:latin typeface="Calibri"/>
              </a:rPr>
              <a:t>HIGH PMI: words that seek each other out</a:t>
            </a:r>
          </a:p>
          <a:p>
            <a:pPr defTabSz="609585">
              <a:spcAft>
                <a:spcPts val="267"/>
              </a:spcAft>
            </a:pPr>
            <a:r>
              <a:rPr sz="1200">
                <a:solidFill>
                  <a:srgbClr val="0D1B2A"/>
                </a:solidFill>
                <a:latin typeface="Calibri"/>
              </a:rPr>
              <a:t>  'myasthenia gravis' = real medical term</a:t>
            </a:r>
          </a:p>
          <a:p>
            <a:pPr defTabSz="609585">
              <a:spcAft>
                <a:spcPts val="267"/>
              </a:spcAft>
            </a:pPr>
            <a:r>
              <a:rPr sz="1200">
                <a:solidFill>
                  <a:srgbClr val="0D1B2A"/>
                </a:solidFill>
                <a:latin typeface="Calibri"/>
              </a:rPr>
              <a:t>LOW PMI: random co-occurrence</a:t>
            </a:r>
          </a:p>
          <a:p>
            <a:pPr defTabSz="609585">
              <a:spcAft>
                <a:spcPts val="267"/>
              </a:spcAft>
            </a:pPr>
            <a:r>
              <a:rPr sz="1200">
                <a:solidFill>
                  <a:srgbClr val="0D1B2A"/>
                </a:solidFill>
                <a:latin typeface="Calibri"/>
              </a:rPr>
              <a:t>  'the patient' = grammatical filler</a:t>
            </a:r>
          </a:p>
        </p:txBody>
      </p:sp>
      <p:sp>
        <p:nvSpPr>
          <p:cNvPr id="21" name="Rounded Rectangle 20"/>
          <p:cNvSpPr/>
          <p:nvPr/>
        </p:nvSpPr>
        <p:spPr>
          <a:xfrm>
            <a:off x="548640" y="6099175"/>
            <a:ext cx="11094720" cy="487680"/>
          </a:xfrm>
          <a:prstGeom prst="roundRect">
            <a:avLst/>
          </a:prstGeom>
          <a:solidFill>
            <a:srgbClr val="E0F7F6"/>
          </a:solidFill>
          <a:ln>
            <a:noFill/>
          </a:ln>
        </p:spPr>
        <p:style>
          <a:lnRef idx="1">
            <a:schemeClr val="accent1"/>
          </a:lnRef>
          <a:fillRef idx="3">
            <a:schemeClr val="accent1"/>
          </a:fillRef>
          <a:effectRef idx="2">
            <a:schemeClr val="accent1"/>
          </a:effectRef>
          <a:fontRef idx="minor">
            <a:schemeClr val="lt1"/>
          </a:fontRef>
        </p:style>
        <p:txBody>
          <a:bodyPr wrap="square" lIns="169333" tIns="101600" rtlCol="0" anchor="ctr"/>
          <a:lstStyle/>
          <a:p>
            <a:pPr algn="ctr" defTabSz="609585"/>
            <a:r>
              <a:rPr sz="1267">
                <a:solidFill>
                  <a:srgbClr val="6D28D9"/>
                </a:solidFill>
                <a:latin typeface="Calibri"/>
              </a:rPr>
              <a:t>PMI separates genuine clinical terminology from high-frequency noise that frequency counts alone cannot filter.</a:t>
            </a:r>
          </a:p>
        </p:txBody>
      </p:sp>
      <p:sp>
        <p:nvSpPr>
          <p:cNvPr id="22" name="Rounded Rectangle 21">
            <a:extLst>
              <a:ext uri="{FF2B5EF4-FFF2-40B4-BE49-F238E27FC236}">
                <a16:creationId xmlns:a16="http://schemas.microsoft.com/office/drawing/2014/main" id="{817DFC1A-19A4-C2CF-C242-E798AAF75941}"/>
              </a:ext>
            </a:extLst>
          </p:cNvPr>
          <p:cNvSpPr/>
          <p:nvPr/>
        </p:nvSpPr>
        <p:spPr>
          <a:xfrm>
            <a:off x="609600" y="307975"/>
            <a:ext cx="2560320" cy="329184"/>
          </a:xfrm>
          <a:prstGeom prst="round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lIns="101600" rtlCol="0" anchor="ctr"/>
          <a:lstStyle/>
          <a:p>
            <a:pPr algn="ctr" defTabSz="609585"/>
            <a:r>
              <a:rPr sz="1000" b="1">
                <a:solidFill>
                  <a:srgbClr val="FFFFFF"/>
                </a:solidFill>
                <a:latin typeface="Calibri"/>
              </a:rPr>
              <a:t>PHASE 2 -- </a:t>
            </a:r>
            <a:r>
              <a:rPr lang="en-US" sz="1000" b="1">
                <a:solidFill>
                  <a:srgbClr val="FFFFFF"/>
                </a:solidFill>
                <a:latin typeface="Calibri"/>
              </a:rPr>
              <a:t>PMI</a:t>
            </a:r>
            <a:endParaRPr sz="1000" b="1">
              <a:solidFill>
                <a:srgbClr val="FFFFFF"/>
              </a:solidFill>
              <a:latin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609600" y="307975"/>
            <a:ext cx="2560320" cy="329184"/>
          </a:xfrm>
          <a:prstGeom prst="round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lIns="101600" rtlCol="0" anchor="ctr"/>
          <a:lstStyle/>
          <a:p>
            <a:pPr algn="ctr" defTabSz="609585"/>
            <a:r>
              <a:rPr sz="1000" b="1">
                <a:solidFill>
                  <a:srgbClr val="FFFFFF"/>
                </a:solidFill>
                <a:latin typeface="Calibri"/>
              </a:rPr>
              <a:t>PHASE 2 -- TF-IDF</a:t>
            </a:r>
          </a:p>
        </p:txBody>
      </p:sp>
      <p:sp>
        <p:nvSpPr>
          <p:cNvPr id="3" name="TextBox 2"/>
          <p:cNvSpPr txBox="1"/>
          <p:nvPr/>
        </p:nvSpPr>
        <p:spPr>
          <a:xfrm>
            <a:off x="609600" y="759079"/>
            <a:ext cx="10972800" cy="642848"/>
          </a:xfrm>
          <a:prstGeom prst="rect">
            <a:avLst/>
          </a:prstGeom>
          <a:noFill/>
        </p:spPr>
        <p:txBody>
          <a:bodyPr wrap="square" lIns="67733" tIns="33867" rIns="67733" bIns="33867">
            <a:spAutoFit/>
          </a:bodyPr>
          <a:lstStyle/>
          <a:p>
            <a:pPr defTabSz="609585"/>
            <a:r>
              <a:rPr sz="3733" b="1">
                <a:solidFill>
                  <a:srgbClr val="0D1B2A"/>
                </a:solidFill>
                <a:latin typeface="Calibri"/>
              </a:rPr>
              <a:t>TF-IDF: The Uniqueness Metric</a:t>
            </a:r>
          </a:p>
        </p:txBody>
      </p:sp>
      <p:sp>
        <p:nvSpPr>
          <p:cNvPr id="4" name="TextBox 3"/>
          <p:cNvSpPr txBox="1"/>
          <p:nvPr/>
        </p:nvSpPr>
        <p:spPr>
          <a:xfrm>
            <a:off x="609600" y="1466215"/>
            <a:ext cx="10972800" cy="273516"/>
          </a:xfrm>
          <a:prstGeom prst="rect">
            <a:avLst/>
          </a:prstGeom>
          <a:noFill/>
        </p:spPr>
        <p:txBody>
          <a:bodyPr wrap="square" lIns="67733" tIns="33867" rIns="67733" bIns="33867">
            <a:spAutoFit/>
          </a:bodyPr>
          <a:lstStyle/>
          <a:p>
            <a:pPr defTabSz="609585"/>
            <a:r>
              <a:rPr sz="1333">
                <a:solidFill>
                  <a:srgbClr val="64748B"/>
                </a:solidFill>
                <a:latin typeface="Calibri"/>
              </a:rPr>
              <a:t>Scores each word by how unique it is to a document. Common words score near zero; rare distinctive words score high.</a:t>
            </a:r>
          </a:p>
        </p:txBody>
      </p:sp>
      <p:sp>
        <p:nvSpPr>
          <p:cNvPr id="5" name="Rounded Rectangle 4"/>
          <p:cNvSpPr/>
          <p:nvPr/>
        </p:nvSpPr>
        <p:spPr>
          <a:xfrm>
            <a:off x="548640" y="1953895"/>
            <a:ext cx="5181600" cy="32588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sz="2000">
              <a:solidFill>
                <a:prstClr val="white"/>
              </a:solidFill>
              <a:latin typeface="Calibri"/>
            </a:endParaRPr>
          </a:p>
        </p:txBody>
      </p:sp>
      <p:sp>
        <p:nvSpPr>
          <p:cNvPr id="6" name="TextBox 5"/>
          <p:cNvSpPr txBox="1"/>
          <p:nvPr/>
        </p:nvSpPr>
        <p:spPr>
          <a:xfrm>
            <a:off x="853440" y="1954952"/>
            <a:ext cx="4876800" cy="263385"/>
          </a:xfrm>
          <a:prstGeom prst="rect">
            <a:avLst/>
          </a:prstGeom>
          <a:noFill/>
        </p:spPr>
        <p:txBody>
          <a:bodyPr wrap="square" lIns="67733" tIns="33867" rIns="67733" bIns="33867">
            <a:spAutoFit/>
          </a:bodyPr>
          <a:lstStyle/>
          <a:p>
            <a:pPr defTabSz="609585"/>
            <a:r>
              <a:rPr sz="1267" b="1">
                <a:solidFill>
                  <a:srgbClr val="B91C1C"/>
                </a:solidFill>
                <a:latin typeface="Calibri"/>
              </a:rPr>
              <a:t>Lowest IDF (auto-downweighted as noise)</a:t>
            </a:r>
          </a:p>
        </p:txBody>
      </p:sp>
      <p:sp>
        <p:nvSpPr>
          <p:cNvPr id="7" name="TextBox 6"/>
          <p:cNvSpPr txBox="1"/>
          <p:nvPr/>
        </p:nvSpPr>
        <p:spPr>
          <a:xfrm>
            <a:off x="975360" y="2239148"/>
            <a:ext cx="2438400" cy="263385"/>
          </a:xfrm>
          <a:prstGeom prst="rect">
            <a:avLst/>
          </a:prstGeom>
          <a:noFill/>
        </p:spPr>
        <p:txBody>
          <a:bodyPr wrap="square" lIns="67733" tIns="33867" rIns="67733" bIns="33867">
            <a:spAutoFit/>
          </a:bodyPr>
          <a:lstStyle/>
          <a:p>
            <a:pPr defTabSz="609585"/>
            <a:r>
              <a:rPr sz="1267">
                <a:solidFill>
                  <a:srgbClr val="0D1B2A"/>
                </a:solidFill>
                <a:latin typeface="Calibri"/>
              </a:rPr>
              <a:t>patient</a:t>
            </a:r>
          </a:p>
        </p:txBody>
      </p:sp>
      <p:sp>
        <p:nvSpPr>
          <p:cNvPr id="8" name="TextBox 7"/>
          <p:cNvSpPr txBox="1"/>
          <p:nvPr/>
        </p:nvSpPr>
        <p:spPr>
          <a:xfrm>
            <a:off x="3535680" y="2239148"/>
            <a:ext cx="1828800" cy="263385"/>
          </a:xfrm>
          <a:prstGeom prst="rect">
            <a:avLst/>
          </a:prstGeom>
          <a:noFill/>
        </p:spPr>
        <p:txBody>
          <a:bodyPr wrap="square" lIns="67733" tIns="33867" rIns="67733" bIns="33867">
            <a:spAutoFit/>
          </a:bodyPr>
          <a:lstStyle/>
          <a:p>
            <a:pPr algn="r" defTabSz="609585"/>
            <a:r>
              <a:rPr sz="1267">
                <a:solidFill>
                  <a:srgbClr val="B91C1C"/>
                </a:solidFill>
                <a:latin typeface="Calibri"/>
              </a:rPr>
              <a:t>IDF: 1.16</a:t>
            </a:r>
          </a:p>
        </p:txBody>
      </p:sp>
      <p:sp>
        <p:nvSpPr>
          <p:cNvPr id="9" name="TextBox 8"/>
          <p:cNvSpPr txBox="1"/>
          <p:nvPr/>
        </p:nvSpPr>
        <p:spPr>
          <a:xfrm>
            <a:off x="975360" y="2580525"/>
            <a:ext cx="2438400" cy="263385"/>
          </a:xfrm>
          <a:prstGeom prst="rect">
            <a:avLst/>
          </a:prstGeom>
          <a:noFill/>
        </p:spPr>
        <p:txBody>
          <a:bodyPr wrap="square" lIns="67733" tIns="33867" rIns="67733" bIns="33867">
            <a:spAutoFit/>
          </a:bodyPr>
          <a:lstStyle/>
          <a:p>
            <a:pPr defTabSz="609585"/>
            <a:r>
              <a:rPr sz="1267">
                <a:solidFill>
                  <a:srgbClr val="0D1B2A"/>
                </a:solidFill>
                <a:latin typeface="Calibri"/>
              </a:rPr>
              <a:t>well</a:t>
            </a:r>
          </a:p>
        </p:txBody>
      </p:sp>
      <p:sp>
        <p:nvSpPr>
          <p:cNvPr id="10" name="TextBox 9"/>
          <p:cNvSpPr txBox="1"/>
          <p:nvPr/>
        </p:nvSpPr>
        <p:spPr>
          <a:xfrm>
            <a:off x="3535680" y="2580525"/>
            <a:ext cx="1828800" cy="263385"/>
          </a:xfrm>
          <a:prstGeom prst="rect">
            <a:avLst/>
          </a:prstGeom>
          <a:noFill/>
        </p:spPr>
        <p:txBody>
          <a:bodyPr wrap="square" lIns="67733" tIns="33867" rIns="67733" bIns="33867">
            <a:spAutoFit/>
          </a:bodyPr>
          <a:lstStyle/>
          <a:p>
            <a:pPr algn="r" defTabSz="609585"/>
            <a:r>
              <a:rPr sz="1267">
                <a:solidFill>
                  <a:srgbClr val="B91C1C"/>
                </a:solidFill>
                <a:latin typeface="Calibri"/>
              </a:rPr>
              <a:t>IDF: 1.51</a:t>
            </a:r>
          </a:p>
        </p:txBody>
      </p:sp>
      <p:sp>
        <p:nvSpPr>
          <p:cNvPr id="11" name="TextBox 10"/>
          <p:cNvSpPr txBox="1"/>
          <p:nvPr/>
        </p:nvSpPr>
        <p:spPr>
          <a:xfrm>
            <a:off x="975360" y="2921901"/>
            <a:ext cx="2438400" cy="263385"/>
          </a:xfrm>
          <a:prstGeom prst="rect">
            <a:avLst/>
          </a:prstGeom>
          <a:noFill/>
        </p:spPr>
        <p:txBody>
          <a:bodyPr wrap="square" lIns="67733" tIns="33867" rIns="67733" bIns="33867">
            <a:spAutoFit/>
          </a:bodyPr>
          <a:lstStyle/>
          <a:p>
            <a:pPr defTabSz="609585"/>
            <a:r>
              <a:rPr sz="1267">
                <a:solidFill>
                  <a:srgbClr val="0D1B2A"/>
                </a:solidFill>
                <a:latin typeface="Calibri"/>
              </a:rPr>
              <a:t>old</a:t>
            </a:r>
          </a:p>
        </p:txBody>
      </p:sp>
      <p:sp>
        <p:nvSpPr>
          <p:cNvPr id="12" name="TextBox 11"/>
          <p:cNvSpPr txBox="1"/>
          <p:nvPr/>
        </p:nvSpPr>
        <p:spPr>
          <a:xfrm>
            <a:off x="3535680" y="2921901"/>
            <a:ext cx="1828800" cy="263385"/>
          </a:xfrm>
          <a:prstGeom prst="rect">
            <a:avLst/>
          </a:prstGeom>
          <a:noFill/>
        </p:spPr>
        <p:txBody>
          <a:bodyPr wrap="square" lIns="67733" tIns="33867" rIns="67733" bIns="33867">
            <a:spAutoFit/>
          </a:bodyPr>
          <a:lstStyle/>
          <a:p>
            <a:pPr algn="r" defTabSz="609585"/>
            <a:r>
              <a:rPr sz="1267">
                <a:solidFill>
                  <a:srgbClr val="B91C1C"/>
                </a:solidFill>
                <a:latin typeface="Calibri"/>
              </a:rPr>
              <a:t>IDF: 1.60</a:t>
            </a:r>
          </a:p>
        </p:txBody>
      </p:sp>
      <p:sp>
        <p:nvSpPr>
          <p:cNvPr id="13" name="TextBox 12"/>
          <p:cNvSpPr txBox="1"/>
          <p:nvPr/>
        </p:nvSpPr>
        <p:spPr>
          <a:xfrm>
            <a:off x="975360" y="3263276"/>
            <a:ext cx="2438400" cy="263385"/>
          </a:xfrm>
          <a:prstGeom prst="rect">
            <a:avLst/>
          </a:prstGeom>
          <a:noFill/>
        </p:spPr>
        <p:txBody>
          <a:bodyPr wrap="square" lIns="67733" tIns="33867" rIns="67733" bIns="33867">
            <a:spAutoFit/>
          </a:bodyPr>
          <a:lstStyle/>
          <a:p>
            <a:pPr defTabSz="609585"/>
            <a:r>
              <a:rPr sz="1267">
                <a:solidFill>
                  <a:srgbClr val="0D1B2A"/>
                </a:solidFill>
                <a:latin typeface="Calibri"/>
              </a:rPr>
              <a:t>left</a:t>
            </a:r>
          </a:p>
        </p:txBody>
      </p:sp>
      <p:sp>
        <p:nvSpPr>
          <p:cNvPr id="14" name="TextBox 13"/>
          <p:cNvSpPr txBox="1"/>
          <p:nvPr/>
        </p:nvSpPr>
        <p:spPr>
          <a:xfrm>
            <a:off x="3535680" y="3263276"/>
            <a:ext cx="1828800" cy="263385"/>
          </a:xfrm>
          <a:prstGeom prst="rect">
            <a:avLst/>
          </a:prstGeom>
          <a:noFill/>
        </p:spPr>
        <p:txBody>
          <a:bodyPr wrap="square" lIns="67733" tIns="33867" rIns="67733" bIns="33867">
            <a:spAutoFit/>
          </a:bodyPr>
          <a:lstStyle/>
          <a:p>
            <a:pPr algn="r" defTabSz="609585"/>
            <a:r>
              <a:rPr sz="1267">
                <a:solidFill>
                  <a:srgbClr val="B91C1C"/>
                </a:solidFill>
                <a:latin typeface="Calibri"/>
              </a:rPr>
              <a:t>IDF: 1.61</a:t>
            </a:r>
          </a:p>
        </p:txBody>
      </p:sp>
      <p:sp>
        <p:nvSpPr>
          <p:cNvPr id="15" name="TextBox 14"/>
          <p:cNvSpPr txBox="1"/>
          <p:nvPr/>
        </p:nvSpPr>
        <p:spPr>
          <a:xfrm>
            <a:off x="975360" y="3604653"/>
            <a:ext cx="2438400" cy="263385"/>
          </a:xfrm>
          <a:prstGeom prst="rect">
            <a:avLst/>
          </a:prstGeom>
          <a:noFill/>
        </p:spPr>
        <p:txBody>
          <a:bodyPr wrap="square" lIns="67733" tIns="33867" rIns="67733" bIns="33867">
            <a:spAutoFit/>
          </a:bodyPr>
          <a:lstStyle/>
          <a:p>
            <a:pPr defTabSz="609585"/>
            <a:r>
              <a:rPr sz="1267">
                <a:solidFill>
                  <a:srgbClr val="0D1B2A"/>
                </a:solidFill>
                <a:latin typeface="Calibri"/>
              </a:rPr>
              <a:t>right</a:t>
            </a:r>
          </a:p>
        </p:txBody>
      </p:sp>
      <p:sp>
        <p:nvSpPr>
          <p:cNvPr id="16" name="TextBox 15"/>
          <p:cNvSpPr txBox="1"/>
          <p:nvPr/>
        </p:nvSpPr>
        <p:spPr>
          <a:xfrm>
            <a:off x="3535680" y="3604653"/>
            <a:ext cx="1828800" cy="263385"/>
          </a:xfrm>
          <a:prstGeom prst="rect">
            <a:avLst/>
          </a:prstGeom>
          <a:noFill/>
        </p:spPr>
        <p:txBody>
          <a:bodyPr wrap="square" lIns="67733" tIns="33867" rIns="67733" bIns="33867">
            <a:spAutoFit/>
          </a:bodyPr>
          <a:lstStyle/>
          <a:p>
            <a:pPr algn="r" defTabSz="609585"/>
            <a:r>
              <a:rPr sz="1267">
                <a:solidFill>
                  <a:srgbClr val="B91C1C"/>
                </a:solidFill>
                <a:latin typeface="Calibri"/>
              </a:rPr>
              <a:t>IDF: 1.62</a:t>
            </a:r>
          </a:p>
        </p:txBody>
      </p:sp>
      <p:sp>
        <p:nvSpPr>
          <p:cNvPr id="17" name="TextBox 16"/>
          <p:cNvSpPr txBox="1"/>
          <p:nvPr/>
        </p:nvSpPr>
        <p:spPr>
          <a:xfrm>
            <a:off x="975360" y="3946029"/>
            <a:ext cx="2438400" cy="263385"/>
          </a:xfrm>
          <a:prstGeom prst="rect">
            <a:avLst/>
          </a:prstGeom>
          <a:noFill/>
        </p:spPr>
        <p:txBody>
          <a:bodyPr wrap="square" lIns="67733" tIns="33867" rIns="67733" bIns="33867">
            <a:spAutoFit/>
          </a:bodyPr>
          <a:lstStyle/>
          <a:p>
            <a:pPr defTabSz="609585"/>
            <a:r>
              <a:rPr sz="1267">
                <a:solidFill>
                  <a:srgbClr val="0D1B2A"/>
                </a:solidFill>
                <a:latin typeface="Calibri"/>
              </a:rPr>
              <a:t>year</a:t>
            </a:r>
          </a:p>
        </p:txBody>
      </p:sp>
      <p:sp>
        <p:nvSpPr>
          <p:cNvPr id="18" name="TextBox 17"/>
          <p:cNvSpPr txBox="1"/>
          <p:nvPr/>
        </p:nvSpPr>
        <p:spPr>
          <a:xfrm>
            <a:off x="3535680" y="3946029"/>
            <a:ext cx="1828800" cy="263385"/>
          </a:xfrm>
          <a:prstGeom prst="rect">
            <a:avLst/>
          </a:prstGeom>
          <a:noFill/>
        </p:spPr>
        <p:txBody>
          <a:bodyPr wrap="square" lIns="67733" tIns="33867" rIns="67733" bIns="33867">
            <a:spAutoFit/>
          </a:bodyPr>
          <a:lstStyle/>
          <a:p>
            <a:pPr algn="r" defTabSz="609585"/>
            <a:r>
              <a:rPr sz="1267">
                <a:solidFill>
                  <a:srgbClr val="B91C1C"/>
                </a:solidFill>
                <a:latin typeface="Calibri"/>
              </a:rPr>
              <a:t>IDF: 1.64</a:t>
            </a:r>
          </a:p>
        </p:txBody>
      </p:sp>
      <p:sp>
        <p:nvSpPr>
          <p:cNvPr id="19" name="TextBox 18"/>
          <p:cNvSpPr txBox="1"/>
          <p:nvPr/>
        </p:nvSpPr>
        <p:spPr>
          <a:xfrm>
            <a:off x="975360" y="4287405"/>
            <a:ext cx="2438400" cy="263385"/>
          </a:xfrm>
          <a:prstGeom prst="rect">
            <a:avLst/>
          </a:prstGeom>
          <a:noFill/>
        </p:spPr>
        <p:txBody>
          <a:bodyPr wrap="square" lIns="67733" tIns="33867" rIns="67733" bIns="33867">
            <a:spAutoFit/>
          </a:bodyPr>
          <a:lstStyle/>
          <a:p>
            <a:pPr defTabSz="609585"/>
            <a:r>
              <a:rPr sz="1267">
                <a:solidFill>
                  <a:srgbClr val="0D1B2A"/>
                </a:solidFill>
                <a:latin typeface="Calibri"/>
              </a:rPr>
              <a:t>procedure</a:t>
            </a:r>
          </a:p>
        </p:txBody>
      </p:sp>
      <p:sp>
        <p:nvSpPr>
          <p:cNvPr id="20" name="TextBox 19"/>
          <p:cNvSpPr txBox="1"/>
          <p:nvPr/>
        </p:nvSpPr>
        <p:spPr>
          <a:xfrm>
            <a:off x="3535680" y="4287405"/>
            <a:ext cx="1828800" cy="263385"/>
          </a:xfrm>
          <a:prstGeom prst="rect">
            <a:avLst/>
          </a:prstGeom>
          <a:noFill/>
        </p:spPr>
        <p:txBody>
          <a:bodyPr wrap="square" lIns="67733" tIns="33867" rIns="67733" bIns="33867">
            <a:spAutoFit/>
          </a:bodyPr>
          <a:lstStyle/>
          <a:p>
            <a:pPr algn="r" defTabSz="609585"/>
            <a:r>
              <a:rPr sz="1267">
                <a:solidFill>
                  <a:srgbClr val="B91C1C"/>
                </a:solidFill>
                <a:latin typeface="Calibri"/>
              </a:rPr>
              <a:t>IDF: 1.66</a:t>
            </a:r>
          </a:p>
        </p:txBody>
      </p:sp>
      <p:sp>
        <p:nvSpPr>
          <p:cNvPr id="21" name="TextBox 20"/>
          <p:cNvSpPr txBox="1"/>
          <p:nvPr/>
        </p:nvSpPr>
        <p:spPr>
          <a:xfrm>
            <a:off x="975360" y="4628781"/>
            <a:ext cx="2438400" cy="263385"/>
          </a:xfrm>
          <a:prstGeom prst="rect">
            <a:avLst/>
          </a:prstGeom>
          <a:noFill/>
        </p:spPr>
        <p:txBody>
          <a:bodyPr wrap="square" lIns="67733" tIns="33867" rIns="67733" bIns="33867">
            <a:spAutoFit/>
          </a:bodyPr>
          <a:lstStyle/>
          <a:p>
            <a:pPr defTabSz="609585"/>
            <a:r>
              <a:rPr sz="1267">
                <a:solidFill>
                  <a:srgbClr val="0D1B2A"/>
                </a:solidFill>
                <a:latin typeface="Calibri"/>
              </a:rPr>
              <a:t>history</a:t>
            </a:r>
          </a:p>
        </p:txBody>
      </p:sp>
      <p:sp>
        <p:nvSpPr>
          <p:cNvPr id="22" name="TextBox 21"/>
          <p:cNvSpPr txBox="1"/>
          <p:nvPr/>
        </p:nvSpPr>
        <p:spPr>
          <a:xfrm>
            <a:off x="3535680" y="4628781"/>
            <a:ext cx="1828800" cy="263385"/>
          </a:xfrm>
          <a:prstGeom prst="rect">
            <a:avLst/>
          </a:prstGeom>
          <a:noFill/>
        </p:spPr>
        <p:txBody>
          <a:bodyPr wrap="square" lIns="67733" tIns="33867" rIns="67733" bIns="33867">
            <a:spAutoFit/>
          </a:bodyPr>
          <a:lstStyle/>
          <a:p>
            <a:pPr algn="r" defTabSz="609585"/>
            <a:r>
              <a:rPr sz="1267">
                <a:solidFill>
                  <a:srgbClr val="B91C1C"/>
                </a:solidFill>
                <a:latin typeface="Calibri"/>
              </a:rPr>
              <a:t>IDF: 1.66</a:t>
            </a:r>
          </a:p>
        </p:txBody>
      </p:sp>
      <p:sp>
        <p:nvSpPr>
          <p:cNvPr id="23" name="TextBox 22"/>
          <p:cNvSpPr txBox="1"/>
          <p:nvPr/>
        </p:nvSpPr>
        <p:spPr>
          <a:xfrm>
            <a:off x="975360" y="4970157"/>
            <a:ext cx="2438400" cy="263385"/>
          </a:xfrm>
          <a:prstGeom prst="rect">
            <a:avLst/>
          </a:prstGeom>
          <a:noFill/>
        </p:spPr>
        <p:txBody>
          <a:bodyPr wrap="square" lIns="67733" tIns="33867" rIns="67733" bIns="33867">
            <a:spAutoFit/>
          </a:bodyPr>
          <a:lstStyle/>
          <a:p>
            <a:pPr defTabSz="609585"/>
            <a:r>
              <a:rPr sz="1267">
                <a:solidFill>
                  <a:srgbClr val="0D1B2A"/>
                </a:solidFill>
                <a:latin typeface="Calibri"/>
              </a:rPr>
              <a:t>normal</a:t>
            </a:r>
          </a:p>
        </p:txBody>
      </p:sp>
      <p:sp>
        <p:nvSpPr>
          <p:cNvPr id="24" name="TextBox 23"/>
          <p:cNvSpPr txBox="1"/>
          <p:nvPr/>
        </p:nvSpPr>
        <p:spPr>
          <a:xfrm>
            <a:off x="3535680" y="4970157"/>
            <a:ext cx="1828800" cy="263385"/>
          </a:xfrm>
          <a:prstGeom prst="rect">
            <a:avLst/>
          </a:prstGeom>
          <a:noFill/>
        </p:spPr>
        <p:txBody>
          <a:bodyPr wrap="square" lIns="67733" tIns="33867" rIns="67733" bIns="33867">
            <a:spAutoFit/>
          </a:bodyPr>
          <a:lstStyle/>
          <a:p>
            <a:pPr algn="r" defTabSz="609585"/>
            <a:r>
              <a:rPr sz="1267">
                <a:solidFill>
                  <a:srgbClr val="B91C1C"/>
                </a:solidFill>
                <a:latin typeface="Calibri"/>
              </a:rPr>
              <a:t>IDF: 1.71</a:t>
            </a:r>
          </a:p>
        </p:txBody>
      </p:sp>
      <p:sp>
        <p:nvSpPr>
          <p:cNvPr id="25" name="Rounded Rectangle 24"/>
          <p:cNvSpPr/>
          <p:nvPr/>
        </p:nvSpPr>
        <p:spPr>
          <a:xfrm>
            <a:off x="6217920" y="1953895"/>
            <a:ext cx="5486400" cy="3413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sz="2400">
              <a:solidFill>
                <a:prstClr val="white"/>
              </a:solidFill>
              <a:latin typeface="Calibri"/>
            </a:endParaRPr>
          </a:p>
        </p:txBody>
      </p:sp>
      <p:sp>
        <p:nvSpPr>
          <p:cNvPr id="26" name="TextBox 25"/>
          <p:cNvSpPr txBox="1"/>
          <p:nvPr/>
        </p:nvSpPr>
        <p:spPr>
          <a:xfrm>
            <a:off x="6461761" y="2075815"/>
            <a:ext cx="4998719" cy="263385"/>
          </a:xfrm>
          <a:prstGeom prst="rect">
            <a:avLst/>
          </a:prstGeom>
          <a:noFill/>
        </p:spPr>
        <p:txBody>
          <a:bodyPr wrap="square" lIns="67733" tIns="33867" rIns="67733" bIns="33867">
            <a:spAutoFit/>
          </a:bodyPr>
          <a:lstStyle/>
          <a:p>
            <a:pPr defTabSz="609585"/>
            <a:r>
              <a:rPr sz="1267" b="1">
                <a:solidFill>
                  <a:srgbClr val="0E7C7B"/>
                </a:solidFill>
                <a:latin typeface="Calibri"/>
              </a:rPr>
              <a:t>Highest IDF (boosted as distinctive features)</a:t>
            </a:r>
          </a:p>
        </p:txBody>
      </p:sp>
      <p:sp>
        <p:nvSpPr>
          <p:cNvPr id="27" name="TextBox 26"/>
          <p:cNvSpPr txBox="1"/>
          <p:nvPr/>
        </p:nvSpPr>
        <p:spPr>
          <a:xfrm>
            <a:off x="6583680" y="2502533"/>
            <a:ext cx="3169920" cy="263385"/>
          </a:xfrm>
          <a:prstGeom prst="rect">
            <a:avLst/>
          </a:prstGeom>
          <a:noFill/>
        </p:spPr>
        <p:txBody>
          <a:bodyPr wrap="square" lIns="67733" tIns="33867" rIns="67733" bIns="33867">
            <a:spAutoFit/>
          </a:bodyPr>
          <a:lstStyle/>
          <a:p>
            <a:pPr defTabSz="609585"/>
            <a:r>
              <a:rPr sz="1267">
                <a:solidFill>
                  <a:srgbClr val="0D1B2A"/>
                </a:solidFill>
                <a:latin typeface="Calibri"/>
              </a:rPr>
              <a:t>erythema nodosum</a:t>
            </a:r>
          </a:p>
        </p:txBody>
      </p:sp>
      <p:sp>
        <p:nvSpPr>
          <p:cNvPr id="28" name="TextBox 27"/>
          <p:cNvSpPr txBox="1"/>
          <p:nvPr/>
        </p:nvSpPr>
        <p:spPr>
          <a:xfrm>
            <a:off x="9875520" y="2502533"/>
            <a:ext cx="1584960" cy="263385"/>
          </a:xfrm>
          <a:prstGeom prst="rect">
            <a:avLst/>
          </a:prstGeom>
          <a:noFill/>
        </p:spPr>
        <p:txBody>
          <a:bodyPr wrap="square" lIns="67733" tIns="33867" rIns="67733" bIns="33867">
            <a:spAutoFit/>
          </a:bodyPr>
          <a:lstStyle/>
          <a:p>
            <a:pPr algn="r" defTabSz="609585"/>
            <a:r>
              <a:rPr sz="1267">
                <a:solidFill>
                  <a:srgbClr val="0E7C7B"/>
                </a:solidFill>
                <a:latin typeface="Calibri"/>
              </a:rPr>
              <a:t>IDF: 8.17</a:t>
            </a:r>
          </a:p>
        </p:txBody>
      </p:sp>
      <p:sp>
        <p:nvSpPr>
          <p:cNvPr id="29" name="TextBox 28"/>
          <p:cNvSpPr txBox="1"/>
          <p:nvPr/>
        </p:nvSpPr>
        <p:spPr>
          <a:xfrm>
            <a:off x="6583680" y="2868293"/>
            <a:ext cx="3169920" cy="263385"/>
          </a:xfrm>
          <a:prstGeom prst="rect">
            <a:avLst/>
          </a:prstGeom>
          <a:noFill/>
        </p:spPr>
        <p:txBody>
          <a:bodyPr wrap="square" lIns="67733" tIns="33867" rIns="67733" bIns="33867">
            <a:spAutoFit/>
          </a:bodyPr>
          <a:lstStyle/>
          <a:p>
            <a:pPr defTabSz="609585"/>
            <a:r>
              <a:rPr sz="1267">
                <a:solidFill>
                  <a:srgbClr val="0D1B2A"/>
                </a:solidFill>
                <a:latin typeface="Calibri"/>
              </a:rPr>
              <a:t>nodosum</a:t>
            </a:r>
          </a:p>
        </p:txBody>
      </p:sp>
      <p:sp>
        <p:nvSpPr>
          <p:cNvPr id="30" name="TextBox 29"/>
          <p:cNvSpPr txBox="1"/>
          <p:nvPr/>
        </p:nvSpPr>
        <p:spPr>
          <a:xfrm>
            <a:off x="9875520" y="2868293"/>
            <a:ext cx="1584960" cy="263385"/>
          </a:xfrm>
          <a:prstGeom prst="rect">
            <a:avLst/>
          </a:prstGeom>
          <a:noFill/>
        </p:spPr>
        <p:txBody>
          <a:bodyPr wrap="square" lIns="67733" tIns="33867" rIns="67733" bIns="33867">
            <a:spAutoFit/>
          </a:bodyPr>
          <a:lstStyle/>
          <a:p>
            <a:pPr algn="r" defTabSz="609585"/>
            <a:r>
              <a:rPr sz="1267">
                <a:solidFill>
                  <a:srgbClr val="0E7C7B"/>
                </a:solidFill>
                <a:latin typeface="Calibri"/>
              </a:rPr>
              <a:t>IDF: 8.17</a:t>
            </a:r>
          </a:p>
        </p:txBody>
      </p:sp>
      <p:sp>
        <p:nvSpPr>
          <p:cNvPr id="31" name="TextBox 30"/>
          <p:cNvSpPr txBox="1"/>
          <p:nvPr/>
        </p:nvSpPr>
        <p:spPr>
          <a:xfrm>
            <a:off x="6583680" y="3234055"/>
            <a:ext cx="3169920" cy="263385"/>
          </a:xfrm>
          <a:prstGeom prst="rect">
            <a:avLst/>
          </a:prstGeom>
          <a:noFill/>
        </p:spPr>
        <p:txBody>
          <a:bodyPr wrap="square" lIns="67733" tIns="33867" rIns="67733" bIns="33867">
            <a:spAutoFit/>
          </a:bodyPr>
          <a:lstStyle/>
          <a:p>
            <a:pPr defTabSz="609585"/>
            <a:r>
              <a:rPr sz="1267">
                <a:solidFill>
                  <a:srgbClr val="0D1B2A"/>
                </a:solidFill>
                <a:latin typeface="Calibri"/>
              </a:rPr>
              <a:t>waves motor</a:t>
            </a:r>
          </a:p>
        </p:txBody>
      </p:sp>
      <p:sp>
        <p:nvSpPr>
          <p:cNvPr id="32" name="TextBox 31"/>
          <p:cNvSpPr txBox="1"/>
          <p:nvPr/>
        </p:nvSpPr>
        <p:spPr>
          <a:xfrm>
            <a:off x="9875520" y="3234055"/>
            <a:ext cx="1584960" cy="263385"/>
          </a:xfrm>
          <a:prstGeom prst="rect">
            <a:avLst/>
          </a:prstGeom>
          <a:noFill/>
        </p:spPr>
        <p:txBody>
          <a:bodyPr wrap="square" lIns="67733" tIns="33867" rIns="67733" bIns="33867">
            <a:spAutoFit/>
          </a:bodyPr>
          <a:lstStyle/>
          <a:p>
            <a:pPr algn="r" defTabSz="609585"/>
            <a:r>
              <a:rPr sz="1267">
                <a:solidFill>
                  <a:srgbClr val="0E7C7B"/>
                </a:solidFill>
                <a:latin typeface="Calibri"/>
              </a:rPr>
              <a:t>IDF: 7.76</a:t>
            </a:r>
          </a:p>
        </p:txBody>
      </p:sp>
      <p:sp>
        <p:nvSpPr>
          <p:cNvPr id="33" name="TextBox 32"/>
          <p:cNvSpPr txBox="1"/>
          <p:nvPr/>
        </p:nvSpPr>
        <p:spPr>
          <a:xfrm>
            <a:off x="6583680" y="3599813"/>
            <a:ext cx="3169920" cy="263385"/>
          </a:xfrm>
          <a:prstGeom prst="rect">
            <a:avLst/>
          </a:prstGeom>
          <a:noFill/>
        </p:spPr>
        <p:txBody>
          <a:bodyPr wrap="square" lIns="67733" tIns="33867" rIns="67733" bIns="33867">
            <a:spAutoFit/>
          </a:bodyPr>
          <a:lstStyle/>
          <a:p>
            <a:pPr defTabSz="609585"/>
            <a:r>
              <a:rPr sz="1267">
                <a:solidFill>
                  <a:srgbClr val="0D1B2A"/>
                </a:solidFill>
                <a:latin typeface="Calibri"/>
              </a:rPr>
              <a:t>core needle biopsy</a:t>
            </a:r>
          </a:p>
        </p:txBody>
      </p:sp>
      <p:sp>
        <p:nvSpPr>
          <p:cNvPr id="34" name="TextBox 33"/>
          <p:cNvSpPr txBox="1"/>
          <p:nvPr/>
        </p:nvSpPr>
        <p:spPr>
          <a:xfrm>
            <a:off x="9875520" y="3599813"/>
            <a:ext cx="1584960" cy="263385"/>
          </a:xfrm>
          <a:prstGeom prst="rect">
            <a:avLst/>
          </a:prstGeom>
          <a:noFill/>
        </p:spPr>
        <p:txBody>
          <a:bodyPr wrap="square" lIns="67733" tIns="33867" rIns="67733" bIns="33867">
            <a:spAutoFit/>
          </a:bodyPr>
          <a:lstStyle/>
          <a:p>
            <a:pPr algn="r" defTabSz="609585"/>
            <a:r>
              <a:rPr sz="1267">
                <a:solidFill>
                  <a:srgbClr val="0E7C7B"/>
                </a:solidFill>
                <a:latin typeface="Calibri"/>
              </a:rPr>
              <a:t>IDF: 7.76</a:t>
            </a:r>
          </a:p>
        </p:txBody>
      </p:sp>
      <p:sp>
        <p:nvSpPr>
          <p:cNvPr id="35" name="TextBox 34"/>
          <p:cNvSpPr txBox="1"/>
          <p:nvPr/>
        </p:nvSpPr>
        <p:spPr>
          <a:xfrm>
            <a:off x="6583680" y="3965575"/>
            <a:ext cx="3169920" cy="263385"/>
          </a:xfrm>
          <a:prstGeom prst="rect">
            <a:avLst/>
          </a:prstGeom>
          <a:noFill/>
        </p:spPr>
        <p:txBody>
          <a:bodyPr wrap="square" lIns="67733" tIns="33867" rIns="67733" bIns="33867">
            <a:spAutoFit/>
          </a:bodyPr>
          <a:lstStyle/>
          <a:p>
            <a:pPr defTabSz="609585"/>
            <a:r>
              <a:rPr sz="1267">
                <a:solidFill>
                  <a:srgbClr val="0D1B2A"/>
                </a:solidFill>
                <a:latin typeface="Calibri"/>
              </a:rPr>
              <a:t>positive waves</a:t>
            </a:r>
          </a:p>
        </p:txBody>
      </p:sp>
      <p:sp>
        <p:nvSpPr>
          <p:cNvPr id="36" name="TextBox 35"/>
          <p:cNvSpPr txBox="1"/>
          <p:nvPr/>
        </p:nvSpPr>
        <p:spPr>
          <a:xfrm>
            <a:off x="9875520" y="3965575"/>
            <a:ext cx="1584960" cy="263385"/>
          </a:xfrm>
          <a:prstGeom prst="rect">
            <a:avLst/>
          </a:prstGeom>
          <a:noFill/>
        </p:spPr>
        <p:txBody>
          <a:bodyPr wrap="square" lIns="67733" tIns="33867" rIns="67733" bIns="33867">
            <a:spAutoFit/>
          </a:bodyPr>
          <a:lstStyle/>
          <a:p>
            <a:pPr algn="r" defTabSz="609585"/>
            <a:r>
              <a:rPr sz="1267">
                <a:solidFill>
                  <a:srgbClr val="0E7C7B"/>
                </a:solidFill>
                <a:latin typeface="Calibri"/>
              </a:rPr>
              <a:t>IDF: 7.76</a:t>
            </a:r>
          </a:p>
        </p:txBody>
      </p:sp>
      <p:sp>
        <p:nvSpPr>
          <p:cNvPr id="37" name="TextBox 36"/>
          <p:cNvSpPr txBox="1"/>
          <p:nvPr/>
        </p:nvSpPr>
        <p:spPr>
          <a:xfrm>
            <a:off x="6583680" y="4331335"/>
            <a:ext cx="3169920" cy="263385"/>
          </a:xfrm>
          <a:prstGeom prst="rect">
            <a:avLst/>
          </a:prstGeom>
          <a:noFill/>
        </p:spPr>
        <p:txBody>
          <a:bodyPr wrap="square" lIns="67733" tIns="33867" rIns="67733" bIns="33867">
            <a:spAutoFit/>
          </a:bodyPr>
          <a:lstStyle/>
          <a:p>
            <a:pPr defTabSz="609585"/>
            <a:r>
              <a:rPr sz="1267">
                <a:solidFill>
                  <a:srgbClr val="0D1B2A"/>
                </a:solidFill>
                <a:latin typeface="Calibri"/>
              </a:rPr>
              <a:t>skin paddle</a:t>
            </a:r>
          </a:p>
        </p:txBody>
      </p:sp>
      <p:sp>
        <p:nvSpPr>
          <p:cNvPr id="38" name="TextBox 37"/>
          <p:cNvSpPr txBox="1"/>
          <p:nvPr/>
        </p:nvSpPr>
        <p:spPr>
          <a:xfrm>
            <a:off x="9875520" y="4331335"/>
            <a:ext cx="1584960" cy="263385"/>
          </a:xfrm>
          <a:prstGeom prst="rect">
            <a:avLst/>
          </a:prstGeom>
          <a:noFill/>
        </p:spPr>
        <p:txBody>
          <a:bodyPr wrap="square" lIns="67733" tIns="33867" rIns="67733" bIns="33867">
            <a:spAutoFit/>
          </a:bodyPr>
          <a:lstStyle/>
          <a:p>
            <a:pPr algn="r" defTabSz="609585"/>
            <a:r>
              <a:rPr sz="1267">
                <a:solidFill>
                  <a:srgbClr val="0E7C7B"/>
                </a:solidFill>
                <a:latin typeface="Calibri"/>
              </a:rPr>
              <a:t>IDF: 7.76</a:t>
            </a:r>
          </a:p>
        </p:txBody>
      </p:sp>
      <p:sp>
        <p:nvSpPr>
          <p:cNvPr id="39" name="TextBox 38"/>
          <p:cNvSpPr txBox="1"/>
          <p:nvPr/>
        </p:nvSpPr>
        <p:spPr>
          <a:xfrm>
            <a:off x="6583680" y="4697093"/>
            <a:ext cx="3169920" cy="263385"/>
          </a:xfrm>
          <a:prstGeom prst="rect">
            <a:avLst/>
          </a:prstGeom>
          <a:noFill/>
        </p:spPr>
        <p:txBody>
          <a:bodyPr wrap="square" lIns="67733" tIns="33867" rIns="67733" bIns="33867">
            <a:spAutoFit/>
          </a:bodyPr>
          <a:lstStyle/>
          <a:p>
            <a:pPr defTabSz="609585"/>
            <a:r>
              <a:rPr sz="1267">
                <a:solidFill>
                  <a:srgbClr val="0D1B2A"/>
                </a:solidFill>
                <a:latin typeface="Calibri"/>
              </a:rPr>
              <a:t>right metatarsal</a:t>
            </a:r>
          </a:p>
        </p:txBody>
      </p:sp>
      <p:sp>
        <p:nvSpPr>
          <p:cNvPr id="40" name="TextBox 39"/>
          <p:cNvSpPr txBox="1"/>
          <p:nvPr/>
        </p:nvSpPr>
        <p:spPr>
          <a:xfrm>
            <a:off x="9875520" y="4697093"/>
            <a:ext cx="1584960" cy="263385"/>
          </a:xfrm>
          <a:prstGeom prst="rect">
            <a:avLst/>
          </a:prstGeom>
          <a:noFill/>
        </p:spPr>
        <p:txBody>
          <a:bodyPr wrap="square" lIns="67733" tIns="33867" rIns="67733" bIns="33867">
            <a:spAutoFit/>
          </a:bodyPr>
          <a:lstStyle/>
          <a:p>
            <a:pPr algn="r" defTabSz="609585"/>
            <a:r>
              <a:rPr sz="1267">
                <a:solidFill>
                  <a:srgbClr val="0E7C7B"/>
                </a:solidFill>
                <a:latin typeface="Calibri"/>
              </a:rPr>
              <a:t>IDF: 7.76</a:t>
            </a:r>
          </a:p>
        </p:txBody>
      </p:sp>
      <p:sp>
        <p:nvSpPr>
          <p:cNvPr id="41" name="TextBox 40"/>
          <p:cNvSpPr txBox="1"/>
          <p:nvPr/>
        </p:nvSpPr>
        <p:spPr>
          <a:xfrm>
            <a:off x="6583680" y="5062855"/>
            <a:ext cx="3169920" cy="263385"/>
          </a:xfrm>
          <a:prstGeom prst="rect">
            <a:avLst/>
          </a:prstGeom>
          <a:noFill/>
        </p:spPr>
        <p:txBody>
          <a:bodyPr wrap="square" lIns="67733" tIns="33867" rIns="67733" bIns="33867">
            <a:spAutoFit/>
          </a:bodyPr>
          <a:lstStyle/>
          <a:p>
            <a:pPr defTabSz="609585"/>
            <a:r>
              <a:rPr sz="1267">
                <a:solidFill>
                  <a:srgbClr val="0D1B2A"/>
                </a:solidFill>
                <a:latin typeface="Calibri"/>
              </a:rPr>
              <a:t>first left metatarsal</a:t>
            </a:r>
          </a:p>
        </p:txBody>
      </p:sp>
      <p:sp>
        <p:nvSpPr>
          <p:cNvPr id="42" name="TextBox 41"/>
          <p:cNvSpPr txBox="1"/>
          <p:nvPr/>
        </p:nvSpPr>
        <p:spPr>
          <a:xfrm>
            <a:off x="9875520" y="5062855"/>
            <a:ext cx="1584960" cy="263385"/>
          </a:xfrm>
          <a:prstGeom prst="rect">
            <a:avLst/>
          </a:prstGeom>
          <a:noFill/>
        </p:spPr>
        <p:txBody>
          <a:bodyPr wrap="square" lIns="67733" tIns="33867" rIns="67733" bIns="33867">
            <a:spAutoFit/>
          </a:bodyPr>
          <a:lstStyle/>
          <a:p>
            <a:pPr algn="r" defTabSz="609585"/>
            <a:r>
              <a:rPr sz="1267">
                <a:solidFill>
                  <a:srgbClr val="0E7C7B"/>
                </a:solidFill>
                <a:latin typeface="Calibri"/>
              </a:rPr>
              <a:t>IDF: 7.76</a:t>
            </a:r>
          </a:p>
        </p:txBody>
      </p:sp>
      <p:sp>
        <p:nvSpPr>
          <p:cNvPr id="43" name="Rounded Rectangle 42"/>
          <p:cNvSpPr/>
          <p:nvPr/>
        </p:nvSpPr>
        <p:spPr>
          <a:xfrm>
            <a:off x="548640" y="5550535"/>
            <a:ext cx="11094720" cy="8534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wrap="square" lIns="135467" tIns="101600" bIns="101600" rtlCol="0" anchor="ctr"/>
          <a:lstStyle/>
          <a:p>
            <a:pPr algn="ctr" defTabSz="609585"/>
            <a:r>
              <a:rPr sz="1000">
                <a:solidFill>
                  <a:srgbClr val="7DD3FC"/>
                </a:solidFill>
                <a:latin typeface="Courier New"/>
              </a:rPr>
              <a:t>tfidf = TfidfVectorizer(max_features=10000, ngram_range=(1,3), sublinear_tf=True)</a:t>
            </a:r>
          </a:p>
          <a:p>
            <a:pPr defTabSz="609585"/>
            <a:r>
              <a:rPr sz="1000">
                <a:solidFill>
                  <a:srgbClr val="7DD3FC"/>
                </a:solidFill>
                <a:latin typeface="Courier New"/>
              </a:rPr>
              <a:t># sublinear_tf=True: uses log(1 + tf) so words appearing 50x don't dominate words appearing 5x</a:t>
            </a:r>
          </a:p>
        </p:txBody>
      </p:sp>
      <p:sp>
        <p:nvSpPr>
          <p:cNvPr id="44" name="Rounded Rectangle 43"/>
          <p:cNvSpPr/>
          <p:nvPr/>
        </p:nvSpPr>
        <p:spPr>
          <a:xfrm>
            <a:off x="548640" y="6464935"/>
            <a:ext cx="11094720" cy="268224"/>
          </a:xfrm>
          <a:prstGeom prst="roundRect">
            <a:avLst/>
          </a:prstGeom>
          <a:solidFill>
            <a:srgbClr val="E0F7F6"/>
          </a:solidFill>
          <a:ln>
            <a:noFill/>
          </a:ln>
        </p:spPr>
        <p:style>
          <a:lnRef idx="1">
            <a:schemeClr val="accent1"/>
          </a:lnRef>
          <a:fillRef idx="3">
            <a:schemeClr val="accent1"/>
          </a:fillRef>
          <a:effectRef idx="2">
            <a:schemeClr val="accent1"/>
          </a:effectRef>
          <a:fontRef idx="minor">
            <a:schemeClr val="lt1"/>
          </a:fontRef>
        </p:style>
        <p:txBody>
          <a:bodyPr wrap="square" lIns="169333" tIns="101600" rtlCol="0" anchor="ctr"/>
          <a:lstStyle/>
          <a:p>
            <a:pPr algn="ctr" defTabSz="609585"/>
            <a:r>
              <a:rPr sz="1267">
                <a:solidFill>
                  <a:srgbClr val="0369A1"/>
                </a:solidFill>
                <a:latin typeface="Calibri"/>
              </a:rPr>
              <a:t>TF-IDF automatically filters 'medical noise' -- no manual stopword list needed for domain-specific terms.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609600" y="307975"/>
            <a:ext cx="1889760" cy="329184"/>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lIns="101600" rtlCol="0" anchor="ctr"/>
          <a:lstStyle/>
          <a:p>
            <a:pPr algn="ctr" defTabSz="609585"/>
            <a:r>
              <a:rPr sz="1000" b="1">
                <a:solidFill>
                  <a:srgbClr val="FFFFFF"/>
                </a:solidFill>
                <a:latin typeface="Calibri"/>
              </a:rPr>
              <a:t>PHASE 3</a:t>
            </a:r>
          </a:p>
        </p:txBody>
      </p:sp>
      <p:sp>
        <p:nvSpPr>
          <p:cNvPr id="3" name="TextBox 2"/>
          <p:cNvSpPr txBox="1"/>
          <p:nvPr/>
        </p:nvSpPr>
        <p:spPr>
          <a:xfrm>
            <a:off x="609600" y="759079"/>
            <a:ext cx="10972800" cy="642848"/>
          </a:xfrm>
          <a:prstGeom prst="rect">
            <a:avLst/>
          </a:prstGeom>
          <a:noFill/>
        </p:spPr>
        <p:txBody>
          <a:bodyPr wrap="square" lIns="67733" tIns="33867" rIns="67733" bIns="33867">
            <a:spAutoFit/>
          </a:bodyPr>
          <a:lstStyle/>
          <a:p>
            <a:pPr defTabSz="609585"/>
            <a:r>
              <a:rPr sz="3733" b="1">
                <a:solidFill>
                  <a:srgbClr val="0D1B2A"/>
                </a:solidFill>
                <a:latin typeface="Calibri"/>
              </a:rPr>
              <a:t>ML &amp; Classification</a:t>
            </a:r>
          </a:p>
        </p:txBody>
      </p:sp>
      <p:sp>
        <p:nvSpPr>
          <p:cNvPr id="4" name="TextBox 3"/>
          <p:cNvSpPr txBox="1"/>
          <p:nvPr/>
        </p:nvSpPr>
        <p:spPr>
          <a:xfrm>
            <a:off x="609600" y="1466216"/>
            <a:ext cx="10972800" cy="273516"/>
          </a:xfrm>
          <a:prstGeom prst="rect">
            <a:avLst/>
          </a:prstGeom>
          <a:noFill/>
        </p:spPr>
        <p:txBody>
          <a:bodyPr wrap="square" lIns="67733" tIns="33867" rIns="67733" bIns="33867">
            <a:spAutoFit/>
          </a:bodyPr>
          <a:lstStyle/>
          <a:p>
            <a:pPr defTabSz="609585"/>
            <a:r>
              <a:rPr sz="1333">
                <a:solidFill>
                  <a:srgbClr val="64748B"/>
                </a:solidFill>
                <a:latin typeface="Calibri"/>
              </a:rPr>
              <a:t>TF-IDF vectorized text (ngrams 1-3, 10,000 features), then trained three classifiers on 2,068 training notes.</a:t>
            </a:r>
          </a:p>
        </p:txBody>
      </p:sp>
      <p:sp>
        <p:nvSpPr>
          <p:cNvPr id="5" name="Rounded Rectangle 4"/>
          <p:cNvSpPr/>
          <p:nvPr/>
        </p:nvSpPr>
        <p:spPr>
          <a:xfrm>
            <a:off x="609600" y="1892935"/>
            <a:ext cx="3169920" cy="365760"/>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r>
              <a:rPr sz="1333" b="1">
                <a:solidFill>
                  <a:srgbClr val="FFFFFF"/>
                </a:solidFill>
                <a:latin typeface="Calibri"/>
              </a:rPr>
              <a:t>Logistic Regression</a:t>
            </a:r>
          </a:p>
        </p:txBody>
      </p:sp>
      <p:sp>
        <p:nvSpPr>
          <p:cNvPr id="6" name="TextBox 5"/>
          <p:cNvSpPr txBox="1"/>
          <p:nvPr/>
        </p:nvSpPr>
        <p:spPr>
          <a:xfrm>
            <a:off x="3901440" y="1892935"/>
            <a:ext cx="2682240" cy="232608"/>
          </a:xfrm>
          <a:prstGeom prst="rect">
            <a:avLst/>
          </a:prstGeom>
          <a:noFill/>
        </p:spPr>
        <p:txBody>
          <a:bodyPr wrap="square" lIns="67733" tIns="33867" rIns="67733" bIns="33867">
            <a:spAutoFit/>
          </a:bodyPr>
          <a:lstStyle/>
          <a:p>
            <a:pPr defTabSz="609585"/>
            <a:r>
              <a:rPr sz="1067">
                <a:solidFill>
                  <a:srgbClr val="0E7C7B"/>
                </a:solidFill>
                <a:latin typeface="Calibri"/>
              </a:rPr>
              <a:t>class_weight='balanced', max_iter=1000</a:t>
            </a:r>
          </a:p>
        </p:txBody>
      </p:sp>
      <p:sp>
        <p:nvSpPr>
          <p:cNvPr id="7" name="TextBox 6"/>
          <p:cNvSpPr txBox="1"/>
          <p:nvPr/>
        </p:nvSpPr>
        <p:spPr>
          <a:xfrm>
            <a:off x="609600" y="2319655"/>
            <a:ext cx="5852160" cy="458374"/>
          </a:xfrm>
          <a:prstGeom prst="rect">
            <a:avLst/>
          </a:prstGeom>
          <a:noFill/>
        </p:spPr>
        <p:txBody>
          <a:bodyPr wrap="square" lIns="67733" tIns="33867" rIns="67733" bIns="33867">
            <a:spAutoFit/>
          </a:bodyPr>
          <a:lstStyle/>
          <a:p>
            <a:pPr defTabSz="609585"/>
            <a:r>
              <a:rPr sz="1267">
                <a:solidFill>
                  <a:srgbClr val="0D1B2A"/>
                </a:solidFill>
                <a:latin typeface="Calibri"/>
              </a:rPr>
              <a:t>Linear, fast, interpretable. Coefficients show which words drive each specialty prediction.</a:t>
            </a:r>
          </a:p>
        </p:txBody>
      </p:sp>
      <p:sp>
        <p:nvSpPr>
          <p:cNvPr id="8" name="Rounded Rectangle 7"/>
          <p:cNvSpPr/>
          <p:nvPr/>
        </p:nvSpPr>
        <p:spPr>
          <a:xfrm>
            <a:off x="609600" y="3355975"/>
            <a:ext cx="3169920" cy="365760"/>
          </a:xfrm>
          <a:prstGeom prst="round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r>
              <a:rPr sz="1333" b="1">
                <a:solidFill>
                  <a:srgbClr val="FFFFFF"/>
                </a:solidFill>
                <a:latin typeface="Calibri"/>
              </a:rPr>
              <a:t>Multinomial Naive Bayes</a:t>
            </a:r>
          </a:p>
        </p:txBody>
      </p:sp>
      <p:sp>
        <p:nvSpPr>
          <p:cNvPr id="9" name="TextBox 8"/>
          <p:cNvSpPr txBox="1"/>
          <p:nvPr/>
        </p:nvSpPr>
        <p:spPr>
          <a:xfrm>
            <a:off x="3901440" y="3355975"/>
            <a:ext cx="2682240" cy="232608"/>
          </a:xfrm>
          <a:prstGeom prst="rect">
            <a:avLst/>
          </a:prstGeom>
          <a:noFill/>
        </p:spPr>
        <p:txBody>
          <a:bodyPr wrap="square" lIns="67733" tIns="33867" rIns="67733" bIns="33867">
            <a:spAutoFit/>
          </a:bodyPr>
          <a:lstStyle/>
          <a:p>
            <a:pPr defTabSz="609585"/>
            <a:r>
              <a:rPr sz="1067">
                <a:solidFill>
                  <a:srgbClr val="0369A1"/>
                </a:solidFill>
                <a:latin typeface="Calibri"/>
              </a:rPr>
              <a:t>default priors (no class weighting)</a:t>
            </a:r>
          </a:p>
        </p:txBody>
      </p:sp>
      <p:sp>
        <p:nvSpPr>
          <p:cNvPr id="10" name="TextBox 9"/>
          <p:cNvSpPr txBox="1"/>
          <p:nvPr/>
        </p:nvSpPr>
        <p:spPr>
          <a:xfrm>
            <a:off x="609600" y="3782695"/>
            <a:ext cx="5852160" cy="458374"/>
          </a:xfrm>
          <a:prstGeom prst="rect">
            <a:avLst/>
          </a:prstGeom>
          <a:noFill/>
        </p:spPr>
        <p:txBody>
          <a:bodyPr wrap="square" lIns="67733" tIns="33867" rIns="67733" bIns="33867">
            <a:spAutoFit/>
          </a:bodyPr>
          <a:lstStyle/>
          <a:p>
            <a:pPr defTabSz="609585"/>
            <a:r>
              <a:rPr sz="1267">
                <a:solidFill>
                  <a:srgbClr val="0D1B2A"/>
                </a:solidFill>
                <a:latin typeface="Calibri"/>
              </a:rPr>
              <a:t>Probabilistic text specialist. Assumes word independence -- works well for bag-of-words despite this.</a:t>
            </a:r>
          </a:p>
        </p:txBody>
      </p:sp>
      <p:sp>
        <p:nvSpPr>
          <p:cNvPr id="11" name="Rounded Rectangle 10"/>
          <p:cNvSpPr/>
          <p:nvPr/>
        </p:nvSpPr>
        <p:spPr>
          <a:xfrm>
            <a:off x="609600" y="4819015"/>
            <a:ext cx="3169920" cy="365760"/>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r>
              <a:rPr sz="1333" b="1">
                <a:solidFill>
                  <a:srgbClr val="FFFFFF"/>
                </a:solidFill>
                <a:latin typeface="Calibri"/>
              </a:rPr>
              <a:t>Random Forest</a:t>
            </a:r>
          </a:p>
        </p:txBody>
      </p:sp>
      <p:sp>
        <p:nvSpPr>
          <p:cNvPr id="12" name="TextBox 11"/>
          <p:cNvSpPr txBox="1"/>
          <p:nvPr/>
        </p:nvSpPr>
        <p:spPr>
          <a:xfrm>
            <a:off x="3901440" y="4819016"/>
            <a:ext cx="2682240" cy="232608"/>
          </a:xfrm>
          <a:prstGeom prst="rect">
            <a:avLst/>
          </a:prstGeom>
          <a:noFill/>
        </p:spPr>
        <p:txBody>
          <a:bodyPr wrap="square" lIns="67733" tIns="33867" rIns="67733" bIns="33867">
            <a:spAutoFit/>
          </a:bodyPr>
          <a:lstStyle/>
          <a:p>
            <a:pPr defTabSz="609585"/>
            <a:r>
              <a:rPr sz="1067">
                <a:solidFill>
                  <a:srgbClr val="6D28D9"/>
                </a:solidFill>
                <a:latin typeface="Calibri"/>
              </a:rPr>
              <a:t>200 trees, class_weight='balanced', n_jobs=-1</a:t>
            </a:r>
          </a:p>
        </p:txBody>
      </p:sp>
      <p:sp>
        <p:nvSpPr>
          <p:cNvPr id="13" name="TextBox 12"/>
          <p:cNvSpPr txBox="1"/>
          <p:nvPr/>
        </p:nvSpPr>
        <p:spPr>
          <a:xfrm>
            <a:off x="609600" y="5245735"/>
            <a:ext cx="5852160" cy="458374"/>
          </a:xfrm>
          <a:prstGeom prst="rect">
            <a:avLst/>
          </a:prstGeom>
          <a:noFill/>
        </p:spPr>
        <p:txBody>
          <a:bodyPr wrap="square" lIns="67733" tIns="33867" rIns="67733" bIns="33867">
            <a:spAutoFit/>
          </a:bodyPr>
          <a:lstStyle/>
          <a:p>
            <a:pPr defTabSz="609585"/>
            <a:r>
              <a:rPr sz="1267">
                <a:solidFill>
                  <a:srgbClr val="0D1B2A"/>
                </a:solidFill>
                <a:latin typeface="Calibri"/>
              </a:rPr>
              <a:t>Non-linear ensemble. Often underperforms on sparse TF-IDF -- too many zero-valued columns confuse tree splits.</a:t>
            </a:r>
          </a:p>
        </p:txBody>
      </p:sp>
      <p:sp>
        <p:nvSpPr>
          <p:cNvPr id="14" name="Rounded Rectangle 13"/>
          <p:cNvSpPr/>
          <p:nvPr/>
        </p:nvSpPr>
        <p:spPr>
          <a:xfrm>
            <a:off x="6705601" y="1831975"/>
            <a:ext cx="4998719" cy="32918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wrap="square" lIns="135467" tIns="101600" bIns="101600" rtlCol="0" anchor="ctr"/>
          <a:lstStyle/>
          <a:p>
            <a:pPr algn="ctr" defTabSz="609585"/>
            <a:r>
              <a:rPr sz="1000">
                <a:solidFill>
                  <a:srgbClr val="7DD3FC"/>
                </a:solidFill>
                <a:latin typeface="Courier New"/>
              </a:rPr>
              <a:t>X_train, X_test, y_train, y_test = train_test_split(</a:t>
            </a:r>
          </a:p>
          <a:p>
            <a:pPr defTabSz="609585"/>
            <a:r>
              <a:rPr sz="1000">
                <a:solidFill>
                  <a:srgbClr val="7DD3FC"/>
                </a:solidFill>
                <a:latin typeface="Courier New"/>
              </a:rPr>
              <a:t>    X, y, test_size=0.2, stratify=y, random_state=42)</a:t>
            </a:r>
          </a:p>
          <a:p>
            <a:pPr defTabSz="609585"/>
            <a:endParaRPr sz="1000">
              <a:solidFill>
                <a:srgbClr val="7DD3FC"/>
              </a:solidFill>
              <a:latin typeface="Courier New"/>
            </a:endParaRPr>
          </a:p>
          <a:p>
            <a:pPr defTabSz="609585"/>
            <a:r>
              <a:rPr sz="1000">
                <a:solidFill>
                  <a:srgbClr val="7DD3FC"/>
                </a:solidFill>
                <a:latin typeface="Courier New"/>
              </a:rPr>
              <a:t>tfidf = TfidfVectorizer(</a:t>
            </a:r>
          </a:p>
          <a:p>
            <a:pPr defTabSz="609585"/>
            <a:r>
              <a:rPr sz="1000">
                <a:solidFill>
                  <a:srgbClr val="7DD3FC"/>
                </a:solidFill>
                <a:latin typeface="Courier New"/>
              </a:rPr>
              <a:t>    max_features=10000, ngram_range=(1, 3),</a:t>
            </a:r>
          </a:p>
          <a:p>
            <a:pPr defTabSz="609585"/>
            <a:r>
              <a:rPr sz="1000">
                <a:solidFill>
                  <a:srgbClr val="7DD3FC"/>
                </a:solidFill>
                <a:latin typeface="Courier New"/>
              </a:rPr>
              <a:t>    sublinear_tf=True,</a:t>
            </a:r>
          </a:p>
          <a:p>
            <a:pPr defTabSz="609585"/>
            <a:r>
              <a:rPr sz="1000">
                <a:solidFill>
                  <a:srgbClr val="7DD3FC"/>
                </a:solidFill>
                <a:latin typeface="Courier New"/>
              </a:rPr>
              <a:t>    stop_words=['abc','xyz','mmddyyyy','yearold']</a:t>
            </a:r>
          </a:p>
          <a:p>
            <a:pPr defTabSz="609585"/>
            <a:r>
              <a:rPr sz="1000">
                <a:solidFill>
                  <a:srgbClr val="7DD3FC"/>
                </a:solidFill>
                <a:latin typeface="Courier New"/>
              </a:rPr>
              <a:t>)</a:t>
            </a:r>
          </a:p>
          <a:p>
            <a:pPr defTabSz="609585"/>
            <a:r>
              <a:rPr sz="1000">
                <a:solidFill>
                  <a:srgbClr val="7DD3FC"/>
                </a:solidFill>
                <a:latin typeface="Courier New"/>
              </a:rPr>
              <a:t>X_train_tfidf = tfidf.fit_transform(X_train)</a:t>
            </a:r>
          </a:p>
          <a:p>
            <a:pPr defTabSz="609585"/>
            <a:r>
              <a:rPr sz="1000">
                <a:solidFill>
                  <a:srgbClr val="7DD3FC"/>
                </a:solidFill>
                <a:latin typeface="Courier New"/>
              </a:rPr>
              <a:t>X_test_tfidf  = tfidf.transform(X_test)</a:t>
            </a:r>
          </a:p>
        </p:txBody>
      </p:sp>
      <p:sp>
        <p:nvSpPr>
          <p:cNvPr id="15" name="Rounded Rectangle 14"/>
          <p:cNvSpPr/>
          <p:nvPr/>
        </p:nvSpPr>
        <p:spPr>
          <a:xfrm>
            <a:off x="6705601" y="5306693"/>
            <a:ext cx="4998719" cy="853440"/>
          </a:xfrm>
          <a:prstGeom prst="roundRect">
            <a:avLst/>
          </a:prstGeom>
          <a:solidFill>
            <a:srgbClr val="E0F7F6"/>
          </a:solidFill>
          <a:ln>
            <a:noFill/>
          </a:ln>
        </p:spPr>
        <p:style>
          <a:lnRef idx="1">
            <a:schemeClr val="accent1"/>
          </a:lnRef>
          <a:fillRef idx="3">
            <a:schemeClr val="accent1"/>
          </a:fillRef>
          <a:effectRef idx="2">
            <a:schemeClr val="accent1"/>
          </a:effectRef>
          <a:fontRef idx="minor">
            <a:schemeClr val="lt1"/>
          </a:fontRef>
        </p:style>
        <p:txBody>
          <a:bodyPr wrap="square" lIns="169333" tIns="101600" rtlCol="0" anchor="ctr"/>
          <a:lstStyle/>
          <a:p>
            <a:pPr algn="ctr" defTabSz="609585"/>
            <a:r>
              <a:rPr sz="1267">
                <a:solidFill>
                  <a:srgbClr val="F4A261"/>
                </a:solidFill>
                <a:latin typeface="Calibri"/>
              </a:rPr>
              <a:t>Why stratify=y? Rare specialties (Rheumatology: 10 notes) must appear in both train and test. Without this, evaluation on rare classes is impossible.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609600" y="307975"/>
            <a:ext cx="2560320" cy="329184"/>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lIns="101600" rtlCol="0" anchor="ctr"/>
          <a:lstStyle/>
          <a:p>
            <a:pPr algn="ctr" defTabSz="609585"/>
            <a:r>
              <a:rPr sz="1000" b="1">
                <a:solidFill>
                  <a:srgbClr val="FFFFFF"/>
                </a:solidFill>
                <a:latin typeface="Calibri"/>
              </a:rPr>
              <a:t>PHASE 3 -- RESULTS</a:t>
            </a:r>
          </a:p>
        </p:txBody>
      </p:sp>
      <p:sp>
        <p:nvSpPr>
          <p:cNvPr id="3" name="TextBox 2"/>
          <p:cNvSpPr txBox="1"/>
          <p:nvPr/>
        </p:nvSpPr>
        <p:spPr>
          <a:xfrm>
            <a:off x="609600" y="759079"/>
            <a:ext cx="10972800" cy="642848"/>
          </a:xfrm>
          <a:prstGeom prst="rect">
            <a:avLst/>
          </a:prstGeom>
          <a:noFill/>
        </p:spPr>
        <p:txBody>
          <a:bodyPr wrap="square" lIns="67733" tIns="33867" rIns="67733" bIns="33867">
            <a:spAutoFit/>
          </a:bodyPr>
          <a:lstStyle/>
          <a:p>
            <a:pPr defTabSz="609585"/>
            <a:r>
              <a:rPr sz="3733" b="1">
                <a:solidFill>
                  <a:srgbClr val="0D1B2A"/>
                </a:solidFill>
                <a:latin typeface="Calibri"/>
              </a:rPr>
              <a:t>Model Evaluation</a:t>
            </a:r>
          </a:p>
        </p:txBody>
      </p:sp>
      <p:sp>
        <p:nvSpPr>
          <p:cNvPr id="4" name="TextBox 3"/>
          <p:cNvSpPr txBox="1"/>
          <p:nvPr/>
        </p:nvSpPr>
        <p:spPr>
          <a:xfrm>
            <a:off x="609600" y="1649095"/>
            <a:ext cx="1219200" cy="294163"/>
          </a:xfrm>
          <a:prstGeom prst="rect">
            <a:avLst/>
          </a:prstGeom>
          <a:noFill/>
        </p:spPr>
        <p:txBody>
          <a:bodyPr wrap="square" lIns="67733" tIns="33867" rIns="67733" bIns="33867">
            <a:spAutoFit/>
          </a:bodyPr>
          <a:lstStyle/>
          <a:p>
            <a:pPr defTabSz="609585"/>
            <a:r>
              <a:rPr sz="1467" b="1">
                <a:solidFill>
                  <a:srgbClr val="6D28D9"/>
                </a:solidFill>
                <a:latin typeface="Calibri"/>
              </a:rPr>
              <a:t>Results</a:t>
            </a:r>
          </a:p>
        </p:txBody>
      </p:sp>
      <p:sp>
        <p:nvSpPr>
          <p:cNvPr id="5" name="Rounded Rectangle 4"/>
          <p:cNvSpPr/>
          <p:nvPr/>
        </p:nvSpPr>
        <p:spPr>
          <a:xfrm>
            <a:off x="609600" y="2014855"/>
            <a:ext cx="3169920" cy="365760"/>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r>
              <a:rPr sz="1267" b="1">
                <a:solidFill>
                  <a:srgbClr val="FFFFFF"/>
                </a:solidFill>
                <a:latin typeface="Calibri"/>
              </a:rPr>
              <a:t>Model</a:t>
            </a:r>
          </a:p>
        </p:txBody>
      </p:sp>
      <p:sp>
        <p:nvSpPr>
          <p:cNvPr id="6" name="Rounded Rectangle 5"/>
          <p:cNvSpPr/>
          <p:nvPr/>
        </p:nvSpPr>
        <p:spPr>
          <a:xfrm>
            <a:off x="3901440" y="2014855"/>
            <a:ext cx="1706880" cy="365760"/>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r>
              <a:rPr sz="1267" b="1">
                <a:solidFill>
                  <a:srgbClr val="FFFFFF"/>
                </a:solidFill>
                <a:latin typeface="Calibri"/>
              </a:rPr>
              <a:t>Accuracy</a:t>
            </a:r>
          </a:p>
        </p:txBody>
      </p:sp>
      <p:sp>
        <p:nvSpPr>
          <p:cNvPr id="7" name="Rounded Rectangle 6"/>
          <p:cNvSpPr/>
          <p:nvPr/>
        </p:nvSpPr>
        <p:spPr>
          <a:xfrm>
            <a:off x="5730240" y="2014855"/>
            <a:ext cx="1706880" cy="365760"/>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r>
              <a:rPr sz="1267" b="1">
                <a:solidFill>
                  <a:srgbClr val="FFFFFF"/>
                </a:solidFill>
                <a:latin typeface="Calibri"/>
              </a:rPr>
              <a:t>Macro F1</a:t>
            </a:r>
          </a:p>
        </p:txBody>
      </p:sp>
      <p:sp>
        <p:nvSpPr>
          <p:cNvPr id="8" name="Rounded Rectangle 7"/>
          <p:cNvSpPr/>
          <p:nvPr/>
        </p:nvSpPr>
        <p:spPr>
          <a:xfrm>
            <a:off x="7559040" y="2014855"/>
            <a:ext cx="1706880" cy="365760"/>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r>
              <a:rPr sz="1267" b="1">
                <a:solidFill>
                  <a:srgbClr val="FFFFFF"/>
                </a:solidFill>
                <a:latin typeface="Calibri"/>
              </a:rPr>
              <a:t>Weighted F1</a:t>
            </a:r>
          </a:p>
        </p:txBody>
      </p:sp>
      <p:sp>
        <p:nvSpPr>
          <p:cNvPr id="9" name="TextBox 8"/>
          <p:cNvSpPr txBox="1"/>
          <p:nvPr/>
        </p:nvSpPr>
        <p:spPr>
          <a:xfrm>
            <a:off x="609600" y="2539112"/>
            <a:ext cx="3169920" cy="273516"/>
          </a:xfrm>
          <a:prstGeom prst="rect">
            <a:avLst/>
          </a:prstGeom>
          <a:noFill/>
        </p:spPr>
        <p:txBody>
          <a:bodyPr wrap="square" lIns="67733" tIns="33867" rIns="67733" bIns="33867">
            <a:spAutoFit/>
          </a:bodyPr>
          <a:lstStyle/>
          <a:p>
            <a:pPr defTabSz="609585"/>
            <a:r>
              <a:rPr sz="1333">
                <a:solidFill>
                  <a:srgbClr val="0D1B2A"/>
                </a:solidFill>
                <a:latin typeface="Calibri"/>
              </a:rPr>
              <a:t>Logistic Regression</a:t>
            </a:r>
          </a:p>
        </p:txBody>
      </p:sp>
      <p:sp>
        <p:nvSpPr>
          <p:cNvPr id="10" name="TextBox 9"/>
          <p:cNvSpPr txBox="1"/>
          <p:nvPr/>
        </p:nvSpPr>
        <p:spPr>
          <a:xfrm>
            <a:off x="3901440" y="2539112"/>
            <a:ext cx="1706880" cy="273516"/>
          </a:xfrm>
          <a:prstGeom prst="rect">
            <a:avLst/>
          </a:prstGeom>
          <a:noFill/>
        </p:spPr>
        <p:txBody>
          <a:bodyPr wrap="square" lIns="67733" tIns="33867" rIns="67733" bIns="33867">
            <a:spAutoFit/>
          </a:bodyPr>
          <a:lstStyle/>
          <a:p>
            <a:pPr algn="ctr" defTabSz="609585"/>
            <a:r>
              <a:rPr sz="1333">
                <a:solidFill>
                  <a:srgbClr val="0D1B2A"/>
                </a:solidFill>
                <a:latin typeface="Calibri"/>
              </a:rPr>
              <a:t>0.701</a:t>
            </a:r>
          </a:p>
        </p:txBody>
      </p:sp>
      <p:sp>
        <p:nvSpPr>
          <p:cNvPr id="11" name="TextBox 10"/>
          <p:cNvSpPr txBox="1"/>
          <p:nvPr/>
        </p:nvSpPr>
        <p:spPr>
          <a:xfrm>
            <a:off x="5730240" y="2539112"/>
            <a:ext cx="1706880" cy="273516"/>
          </a:xfrm>
          <a:prstGeom prst="rect">
            <a:avLst/>
          </a:prstGeom>
          <a:noFill/>
        </p:spPr>
        <p:txBody>
          <a:bodyPr wrap="square" lIns="67733" tIns="33867" rIns="67733" bIns="33867">
            <a:spAutoFit/>
          </a:bodyPr>
          <a:lstStyle/>
          <a:p>
            <a:pPr algn="ctr" defTabSz="609585"/>
            <a:r>
              <a:rPr sz="1333">
                <a:solidFill>
                  <a:srgbClr val="0D1B2A"/>
                </a:solidFill>
                <a:latin typeface="Calibri"/>
              </a:rPr>
              <a:t>0.657</a:t>
            </a:r>
          </a:p>
        </p:txBody>
      </p:sp>
      <p:sp>
        <p:nvSpPr>
          <p:cNvPr id="12" name="TextBox 11"/>
          <p:cNvSpPr txBox="1"/>
          <p:nvPr/>
        </p:nvSpPr>
        <p:spPr>
          <a:xfrm>
            <a:off x="7559040" y="2539112"/>
            <a:ext cx="1706880" cy="273516"/>
          </a:xfrm>
          <a:prstGeom prst="rect">
            <a:avLst/>
          </a:prstGeom>
          <a:noFill/>
        </p:spPr>
        <p:txBody>
          <a:bodyPr wrap="square" lIns="67733" tIns="33867" rIns="67733" bIns="33867">
            <a:spAutoFit/>
          </a:bodyPr>
          <a:lstStyle/>
          <a:p>
            <a:pPr algn="ctr" defTabSz="609585"/>
            <a:r>
              <a:rPr sz="1333">
                <a:solidFill>
                  <a:srgbClr val="0D1B2A"/>
                </a:solidFill>
                <a:latin typeface="Calibri"/>
              </a:rPr>
              <a:t>0.703</a:t>
            </a:r>
          </a:p>
        </p:txBody>
      </p:sp>
      <p:sp>
        <p:nvSpPr>
          <p:cNvPr id="13" name="TextBox 12"/>
          <p:cNvSpPr txBox="1"/>
          <p:nvPr/>
        </p:nvSpPr>
        <p:spPr>
          <a:xfrm>
            <a:off x="609600" y="3026792"/>
            <a:ext cx="3169920" cy="273516"/>
          </a:xfrm>
          <a:prstGeom prst="rect">
            <a:avLst/>
          </a:prstGeom>
          <a:noFill/>
        </p:spPr>
        <p:txBody>
          <a:bodyPr wrap="square" lIns="67733" tIns="33867" rIns="67733" bIns="33867">
            <a:spAutoFit/>
          </a:bodyPr>
          <a:lstStyle/>
          <a:p>
            <a:pPr defTabSz="609585"/>
            <a:r>
              <a:rPr sz="1333">
                <a:solidFill>
                  <a:srgbClr val="0D1B2A"/>
                </a:solidFill>
                <a:latin typeface="Calibri"/>
              </a:rPr>
              <a:t>Naive Bayes</a:t>
            </a:r>
          </a:p>
        </p:txBody>
      </p:sp>
      <p:sp>
        <p:nvSpPr>
          <p:cNvPr id="14" name="TextBox 13"/>
          <p:cNvSpPr txBox="1"/>
          <p:nvPr/>
        </p:nvSpPr>
        <p:spPr>
          <a:xfrm>
            <a:off x="3901440" y="3026792"/>
            <a:ext cx="1706880" cy="273516"/>
          </a:xfrm>
          <a:prstGeom prst="rect">
            <a:avLst/>
          </a:prstGeom>
          <a:noFill/>
        </p:spPr>
        <p:txBody>
          <a:bodyPr wrap="square" lIns="67733" tIns="33867" rIns="67733" bIns="33867">
            <a:spAutoFit/>
          </a:bodyPr>
          <a:lstStyle/>
          <a:p>
            <a:pPr algn="ctr" defTabSz="609585"/>
            <a:r>
              <a:rPr sz="1333">
                <a:solidFill>
                  <a:srgbClr val="0D1B2A"/>
                </a:solidFill>
                <a:latin typeface="Calibri"/>
              </a:rPr>
              <a:t>0.527</a:t>
            </a:r>
          </a:p>
        </p:txBody>
      </p:sp>
      <p:sp>
        <p:nvSpPr>
          <p:cNvPr id="15" name="TextBox 14"/>
          <p:cNvSpPr txBox="1"/>
          <p:nvPr/>
        </p:nvSpPr>
        <p:spPr>
          <a:xfrm>
            <a:off x="5730240" y="3026792"/>
            <a:ext cx="1706880" cy="273516"/>
          </a:xfrm>
          <a:prstGeom prst="rect">
            <a:avLst/>
          </a:prstGeom>
          <a:noFill/>
        </p:spPr>
        <p:txBody>
          <a:bodyPr wrap="square" lIns="67733" tIns="33867" rIns="67733" bIns="33867">
            <a:spAutoFit/>
          </a:bodyPr>
          <a:lstStyle/>
          <a:p>
            <a:pPr algn="ctr" defTabSz="609585"/>
            <a:r>
              <a:rPr sz="1333">
                <a:solidFill>
                  <a:srgbClr val="0D1B2A"/>
                </a:solidFill>
                <a:latin typeface="Calibri"/>
              </a:rPr>
              <a:t>0.227</a:t>
            </a:r>
          </a:p>
        </p:txBody>
      </p:sp>
      <p:sp>
        <p:nvSpPr>
          <p:cNvPr id="16" name="TextBox 15"/>
          <p:cNvSpPr txBox="1"/>
          <p:nvPr/>
        </p:nvSpPr>
        <p:spPr>
          <a:xfrm>
            <a:off x="7559040" y="3026792"/>
            <a:ext cx="1706880" cy="273516"/>
          </a:xfrm>
          <a:prstGeom prst="rect">
            <a:avLst/>
          </a:prstGeom>
          <a:noFill/>
        </p:spPr>
        <p:txBody>
          <a:bodyPr wrap="square" lIns="67733" tIns="33867" rIns="67733" bIns="33867">
            <a:spAutoFit/>
          </a:bodyPr>
          <a:lstStyle/>
          <a:p>
            <a:pPr algn="ctr" defTabSz="609585"/>
            <a:r>
              <a:rPr sz="1333">
                <a:solidFill>
                  <a:srgbClr val="0D1B2A"/>
                </a:solidFill>
                <a:latin typeface="Calibri"/>
              </a:rPr>
              <a:t>0.471</a:t>
            </a:r>
          </a:p>
        </p:txBody>
      </p:sp>
      <p:sp>
        <p:nvSpPr>
          <p:cNvPr id="17" name="TextBox 16"/>
          <p:cNvSpPr txBox="1"/>
          <p:nvPr/>
        </p:nvSpPr>
        <p:spPr>
          <a:xfrm>
            <a:off x="609600" y="3514472"/>
            <a:ext cx="3169920" cy="273516"/>
          </a:xfrm>
          <a:prstGeom prst="rect">
            <a:avLst/>
          </a:prstGeom>
          <a:noFill/>
        </p:spPr>
        <p:txBody>
          <a:bodyPr wrap="square" lIns="67733" tIns="33867" rIns="67733" bIns="33867">
            <a:spAutoFit/>
          </a:bodyPr>
          <a:lstStyle/>
          <a:p>
            <a:pPr defTabSz="609585"/>
            <a:r>
              <a:rPr sz="1333">
                <a:solidFill>
                  <a:srgbClr val="0D1B2A"/>
                </a:solidFill>
                <a:latin typeface="Calibri"/>
              </a:rPr>
              <a:t>Random Forest</a:t>
            </a:r>
          </a:p>
        </p:txBody>
      </p:sp>
      <p:sp>
        <p:nvSpPr>
          <p:cNvPr id="18" name="TextBox 17"/>
          <p:cNvSpPr txBox="1"/>
          <p:nvPr/>
        </p:nvSpPr>
        <p:spPr>
          <a:xfrm>
            <a:off x="3901440" y="3514472"/>
            <a:ext cx="1706880" cy="273516"/>
          </a:xfrm>
          <a:prstGeom prst="rect">
            <a:avLst/>
          </a:prstGeom>
          <a:noFill/>
        </p:spPr>
        <p:txBody>
          <a:bodyPr wrap="square" lIns="67733" tIns="33867" rIns="67733" bIns="33867">
            <a:spAutoFit/>
          </a:bodyPr>
          <a:lstStyle/>
          <a:p>
            <a:pPr algn="ctr" defTabSz="609585"/>
            <a:r>
              <a:rPr sz="1333">
                <a:solidFill>
                  <a:srgbClr val="0D1B2A"/>
                </a:solidFill>
                <a:latin typeface="Calibri"/>
              </a:rPr>
              <a:t>0.614</a:t>
            </a:r>
          </a:p>
        </p:txBody>
      </p:sp>
      <p:sp>
        <p:nvSpPr>
          <p:cNvPr id="19" name="TextBox 18"/>
          <p:cNvSpPr txBox="1"/>
          <p:nvPr/>
        </p:nvSpPr>
        <p:spPr>
          <a:xfrm>
            <a:off x="5730240" y="3514472"/>
            <a:ext cx="1706880" cy="273516"/>
          </a:xfrm>
          <a:prstGeom prst="rect">
            <a:avLst/>
          </a:prstGeom>
          <a:noFill/>
        </p:spPr>
        <p:txBody>
          <a:bodyPr wrap="square" lIns="67733" tIns="33867" rIns="67733" bIns="33867">
            <a:spAutoFit/>
          </a:bodyPr>
          <a:lstStyle/>
          <a:p>
            <a:pPr algn="ctr" defTabSz="609585"/>
            <a:r>
              <a:rPr sz="1333">
                <a:solidFill>
                  <a:srgbClr val="0D1B2A"/>
                </a:solidFill>
                <a:latin typeface="Calibri"/>
              </a:rPr>
              <a:t>0.563</a:t>
            </a:r>
          </a:p>
        </p:txBody>
      </p:sp>
      <p:sp>
        <p:nvSpPr>
          <p:cNvPr id="20" name="TextBox 19"/>
          <p:cNvSpPr txBox="1"/>
          <p:nvPr/>
        </p:nvSpPr>
        <p:spPr>
          <a:xfrm>
            <a:off x="7559040" y="3514472"/>
            <a:ext cx="1706880" cy="273516"/>
          </a:xfrm>
          <a:prstGeom prst="rect">
            <a:avLst/>
          </a:prstGeom>
          <a:noFill/>
        </p:spPr>
        <p:txBody>
          <a:bodyPr wrap="square" lIns="67733" tIns="33867" rIns="67733" bIns="33867">
            <a:spAutoFit/>
          </a:bodyPr>
          <a:lstStyle/>
          <a:p>
            <a:pPr algn="ctr" defTabSz="609585"/>
            <a:r>
              <a:rPr sz="1333">
                <a:solidFill>
                  <a:srgbClr val="0D1B2A"/>
                </a:solidFill>
                <a:latin typeface="Calibri"/>
              </a:rPr>
              <a:t>0.612</a:t>
            </a:r>
          </a:p>
        </p:txBody>
      </p:sp>
      <p:sp>
        <p:nvSpPr>
          <p:cNvPr id="21" name="TextBox 20"/>
          <p:cNvSpPr txBox="1"/>
          <p:nvPr/>
        </p:nvSpPr>
        <p:spPr>
          <a:xfrm>
            <a:off x="609600" y="4148455"/>
            <a:ext cx="3657600" cy="294163"/>
          </a:xfrm>
          <a:prstGeom prst="rect">
            <a:avLst/>
          </a:prstGeom>
          <a:noFill/>
        </p:spPr>
        <p:txBody>
          <a:bodyPr wrap="square" lIns="67733" tIns="33867" rIns="67733" bIns="33867">
            <a:spAutoFit/>
          </a:bodyPr>
          <a:lstStyle/>
          <a:p>
            <a:pPr defTabSz="609585"/>
            <a:r>
              <a:rPr sz="1467" b="1">
                <a:solidFill>
                  <a:srgbClr val="B91C1C"/>
                </a:solidFill>
                <a:latin typeface="Calibri"/>
              </a:rPr>
              <a:t>Error Analysis</a:t>
            </a:r>
          </a:p>
        </p:txBody>
      </p:sp>
      <p:sp>
        <p:nvSpPr>
          <p:cNvPr id="22" name="TextBox 21"/>
          <p:cNvSpPr txBox="1"/>
          <p:nvPr/>
        </p:nvSpPr>
        <p:spPr>
          <a:xfrm>
            <a:off x="609600" y="4514216"/>
            <a:ext cx="5364480" cy="1311792"/>
          </a:xfrm>
          <a:prstGeom prst="rect">
            <a:avLst/>
          </a:prstGeom>
          <a:noFill/>
        </p:spPr>
        <p:txBody>
          <a:bodyPr wrap="square" lIns="67733" tIns="33867">
            <a:spAutoFit/>
          </a:bodyPr>
          <a:lstStyle/>
          <a:p>
            <a:pPr defTabSz="609585">
              <a:spcAft>
                <a:spcPts val="533"/>
              </a:spcAft>
            </a:pPr>
            <a:r>
              <a:rPr sz="1267">
                <a:solidFill>
                  <a:srgbClr val="0D1B2A"/>
                </a:solidFill>
                <a:latin typeface="Calibri"/>
              </a:rPr>
              <a:t>Accuracy alone misleads on imbalanced data</a:t>
            </a:r>
          </a:p>
          <a:p>
            <a:pPr defTabSz="609585">
              <a:spcAft>
                <a:spcPts val="533"/>
              </a:spcAft>
            </a:pPr>
            <a:r>
              <a:rPr sz="1267">
                <a:solidFill>
                  <a:srgbClr val="0D1B2A"/>
                </a:solidFill>
                <a:latin typeface="Calibri"/>
              </a:rPr>
              <a:t>NB Macro F1 (0.227) vs Accuracy (0.527) = failing rare classes</a:t>
            </a:r>
          </a:p>
          <a:p>
            <a:pPr defTabSz="609585">
              <a:spcAft>
                <a:spcPts val="533"/>
              </a:spcAft>
            </a:pPr>
            <a:r>
              <a:rPr sz="1267">
                <a:solidFill>
                  <a:srgbClr val="0D1B2A"/>
                </a:solidFill>
                <a:latin typeface="Calibri"/>
              </a:rPr>
              <a:t>LR gap is small (0.044) = consistent across specialties</a:t>
            </a:r>
          </a:p>
          <a:p>
            <a:pPr defTabSz="609585">
              <a:spcAft>
                <a:spcPts val="533"/>
              </a:spcAft>
            </a:pPr>
            <a:r>
              <a:rPr sz="1267">
                <a:solidFill>
                  <a:srgbClr val="0D1B2A"/>
                </a:solidFill>
                <a:latin typeface="Calibri"/>
              </a:rPr>
              <a:t>Top error: Neurology -&gt; Rehab at 77% confidence</a:t>
            </a:r>
          </a:p>
          <a:p>
            <a:pPr defTabSz="609585">
              <a:spcAft>
                <a:spcPts val="533"/>
              </a:spcAft>
            </a:pPr>
            <a:r>
              <a:rPr sz="1267">
                <a:solidFill>
                  <a:srgbClr val="0D1B2A"/>
                </a:solidFill>
                <a:latin typeface="Calibri"/>
              </a:rPr>
              <a:t>Most 'errors' are medically cross-disciplinary notes</a:t>
            </a:r>
          </a:p>
        </p:txBody>
      </p:sp>
      <p:sp>
        <p:nvSpPr>
          <p:cNvPr id="23" name="TextBox 22"/>
          <p:cNvSpPr txBox="1"/>
          <p:nvPr/>
        </p:nvSpPr>
        <p:spPr>
          <a:xfrm>
            <a:off x="6217920" y="4148455"/>
            <a:ext cx="4876800" cy="294163"/>
          </a:xfrm>
          <a:prstGeom prst="rect">
            <a:avLst/>
          </a:prstGeom>
          <a:noFill/>
        </p:spPr>
        <p:txBody>
          <a:bodyPr wrap="square" lIns="67733" tIns="33867" rIns="67733" bIns="33867">
            <a:spAutoFit/>
          </a:bodyPr>
          <a:lstStyle/>
          <a:p>
            <a:pPr defTabSz="609585"/>
            <a:r>
              <a:rPr sz="1467" b="1">
                <a:solidFill>
                  <a:srgbClr val="0E7C7B"/>
                </a:solidFill>
                <a:latin typeface="Calibri"/>
              </a:rPr>
              <a:t>Top LR Coefficients</a:t>
            </a:r>
          </a:p>
        </p:txBody>
      </p:sp>
      <p:sp>
        <p:nvSpPr>
          <p:cNvPr id="24" name="TextBox 23"/>
          <p:cNvSpPr txBox="1"/>
          <p:nvPr/>
        </p:nvSpPr>
        <p:spPr>
          <a:xfrm>
            <a:off x="6217920" y="4514215"/>
            <a:ext cx="5486400" cy="1311792"/>
          </a:xfrm>
          <a:prstGeom prst="rect">
            <a:avLst/>
          </a:prstGeom>
          <a:noFill/>
        </p:spPr>
        <p:txBody>
          <a:bodyPr wrap="square" lIns="67733" tIns="33867">
            <a:spAutoFit/>
          </a:bodyPr>
          <a:lstStyle/>
          <a:p>
            <a:pPr defTabSz="609585">
              <a:spcAft>
                <a:spcPts val="533"/>
              </a:spcAft>
            </a:pPr>
            <a:r>
              <a:rPr sz="1267">
                <a:solidFill>
                  <a:srgbClr val="0D1B2A"/>
                </a:solidFill>
                <a:latin typeface="Calibri"/>
              </a:rPr>
              <a:t>Cardiovascular: coronary (1.34), artery (1.17)</a:t>
            </a:r>
          </a:p>
          <a:p>
            <a:pPr defTabSz="609585">
              <a:spcAft>
                <a:spcPts val="533"/>
              </a:spcAft>
            </a:pPr>
            <a:r>
              <a:rPr sz="1267">
                <a:solidFill>
                  <a:srgbClr val="0D1B2A"/>
                </a:solidFill>
                <a:latin typeface="Calibri"/>
              </a:rPr>
              <a:t>Gastroenterology: colon (1.46), esophagus (1.35)</a:t>
            </a:r>
          </a:p>
          <a:p>
            <a:pPr defTabSz="609585">
              <a:spcAft>
                <a:spcPts val="533"/>
              </a:spcAft>
            </a:pPr>
            <a:r>
              <a:rPr sz="1267">
                <a:solidFill>
                  <a:srgbClr val="0D1B2A"/>
                </a:solidFill>
                <a:latin typeface="Calibri"/>
              </a:rPr>
              <a:t>Neurology: brain (1.19), mri (1.12)</a:t>
            </a:r>
          </a:p>
          <a:p>
            <a:pPr defTabSz="609585">
              <a:spcAft>
                <a:spcPts val="533"/>
              </a:spcAft>
            </a:pPr>
            <a:r>
              <a:rPr sz="1267">
                <a:solidFill>
                  <a:srgbClr val="0D1B2A"/>
                </a:solidFill>
                <a:latin typeface="Calibri"/>
              </a:rPr>
              <a:t>Orthopedic: fracture (1.11), tourniquet (1.04)</a:t>
            </a:r>
          </a:p>
          <a:p>
            <a:pPr defTabSz="609585">
              <a:spcAft>
                <a:spcPts val="533"/>
              </a:spcAft>
            </a:pPr>
            <a:r>
              <a:rPr sz="1267">
                <a:solidFill>
                  <a:srgbClr val="0D1B2A"/>
                </a:solidFill>
                <a:latin typeface="Calibri"/>
              </a:rPr>
              <a:t>Full-circle: matches Phase 2 chi-square results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609600" y="307975"/>
            <a:ext cx="2560320" cy="329184"/>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lIns="101600" rtlCol="0" anchor="ctr"/>
          <a:lstStyle/>
          <a:p>
            <a:pPr algn="ctr" defTabSz="609585"/>
            <a:r>
              <a:rPr sz="1000" b="1">
                <a:solidFill>
                  <a:srgbClr val="FFFFFF"/>
                </a:solidFill>
                <a:latin typeface="Calibri"/>
              </a:rPr>
              <a:t>PHASE 3 -- CONFUSION</a:t>
            </a:r>
          </a:p>
        </p:txBody>
      </p:sp>
      <p:sp>
        <p:nvSpPr>
          <p:cNvPr id="3" name="TextBox 2"/>
          <p:cNvSpPr txBox="1"/>
          <p:nvPr/>
        </p:nvSpPr>
        <p:spPr>
          <a:xfrm>
            <a:off x="609600" y="759079"/>
            <a:ext cx="10972800" cy="642848"/>
          </a:xfrm>
          <a:prstGeom prst="rect">
            <a:avLst/>
          </a:prstGeom>
          <a:noFill/>
        </p:spPr>
        <p:txBody>
          <a:bodyPr wrap="square" lIns="67733" tIns="33867" rIns="67733" bIns="33867">
            <a:spAutoFit/>
          </a:bodyPr>
          <a:lstStyle/>
          <a:p>
            <a:pPr defTabSz="609585"/>
            <a:r>
              <a:rPr sz="3733" b="1">
                <a:solidFill>
                  <a:srgbClr val="0D1B2A"/>
                </a:solidFill>
                <a:latin typeface="Calibri"/>
              </a:rPr>
              <a:t>Confusion Matrix -- Logistic Regression</a:t>
            </a:r>
          </a:p>
        </p:txBody>
      </p:sp>
      <p:pic>
        <p:nvPicPr>
          <p:cNvPr id="4" name="Picture 3" descr="image.png"/>
          <p:cNvPicPr>
            <a:picLocks noChangeAspect="1"/>
          </p:cNvPicPr>
          <p:nvPr/>
        </p:nvPicPr>
        <p:blipFill>
          <a:blip r:embed="rId2"/>
          <a:stretch>
            <a:fillRect/>
          </a:stretch>
        </p:blipFill>
        <p:spPr>
          <a:xfrm>
            <a:off x="609600" y="1406359"/>
            <a:ext cx="5771101" cy="5383282"/>
          </a:xfrm>
          <a:prstGeom prst="rect">
            <a:avLst/>
          </a:prstGeom>
        </p:spPr>
      </p:pic>
      <p:sp>
        <p:nvSpPr>
          <p:cNvPr id="5" name="Rounded Rectangle 4"/>
          <p:cNvSpPr/>
          <p:nvPr/>
        </p:nvSpPr>
        <p:spPr>
          <a:xfrm>
            <a:off x="7193280" y="1710055"/>
            <a:ext cx="4511040" cy="426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sz="2400">
              <a:solidFill>
                <a:prstClr val="white"/>
              </a:solidFill>
              <a:latin typeface="Calibri"/>
            </a:endParaRPr>
          </a:p>
        </p:txBody>
      </p:sp>
      <p:sp>
        <p:nvSpPr>
          <p:cNvPr id="6" name="TextBox 5"/>
          <p:cNvSpPr txBox="1"/>
          <p:nvPr/>
        </p:nvSpPr>
        <p:spPr>
          <a:xfrm>
            <a:off x="7437120" y="1892935"/>
            <a:ext cx="4023360" cy="273516"/>
          </a:xfrm>
          <a:prstGeom prst="rect">
            <a:avLst/>
          </a:prstGeom>
          <a:noFill/>
        </p:spPr>
        <p:txBody>
          <a:bodyPr wrap="square" lIns="67733" tIns="33867" rIns="67733" bIns="33867">
            <a:spAutoFit/>
          </a:bodyPr>
          <a:lstStyle/>
          <a:p>
            <a:pPr defTabSz="609585"/>
            <a:r>
              <a:rPr sz="1333" b="1">
                <a:solidFill>
                  <a:srgbClr val="6D28D9"/>
                </a:solidFill>
                <a:latin typeface="Calibri"/>
              </a:rPr>
              <a:t>How to read this</a:t>
            </a:r>
          </a:p>
        </p:txBody>
      </p:sp>
      <p:sp>
        <p:nvSpPr>
          <p:cNvPr id="7" name="TextBox 6"/>
          <p:cNvSpPr txBox="1"/>
          <p:nvPr/>
        </p:nvSpPr>
        <p:spPr>
          <a:xfrm>
            <a:off x="7437120" y="2319656"/>
            <a:ext cx="4023360" cy="2719548"/>
          </a:xfrm>
          <a:prstGeom prst="rect">
            <a:avLst/>
          </a:prstGeom>
          <a:noFill/>
        </p:spPr>
        <p:txBody>
          <a:bodyPr wrap="square" lIns="67733" tIns="33867">
            <a:spAutoFit/>
          </a:bodyPr>
          <a:lstStyle/>
          <a:p>
            <a:pPr defTabSz="609585">
              <a:spcAft>
                <a:spcPts val="267"/>
              </a:spcAft>
            </a:pPr>
            <a:r>
              <a:rPr sz="1200">
                <a:solidFill>
                  <a:srgbClr val="0D1B2A"/>
                </a:solidFill>
                <a:latin typeface="Calibri"/>
              </a:rPr>
              <a:t>Rows = true specialty</a:t>
            </a:r>
          </a:p>
          <a:p>
            <a:pPr defTabSz="609585">
              <a:spcAft>
                <a:spcPts val="267"/>
              </a:spcAft>
            </a:pPr>
            <a:r>
              <a:rPr sz="1200">
                <a:solidFill>
                  <a:srgbClr val="0D1B2A"/>
                </a:solidFill>
                <a:latin typeface="Calibri"/>
              </a:rPr>
              <a:t>Columns = predicted specialty</a:t>
            </a:r>
          </a:p>
          <a:p>
            <a:pPr defTabSz="609585">
              <a:spcAft>
                <a:spcPts val="267"/>
              </a:spcAft>
            </a:pPr>
            <a:r>
              <a:rPr sz="1200">
                <a:solidFill>
                  <a:srgbClr val="0D1B2A"/>
                </a:solidFill>
                <a:latin typeface="Calibri"/>
              </a:rPr>
              <a:t>Diagonal = correct predictions</a:t>
            </a:r>
          </a:p>
          <a:p>
            <a:pPr defTabSz="609585">
              <a:spcAft>
                <a:spcPts val="267"/>
              </a:spcAft>
            </a:pPr>
            <a:r>
              <a:rPr sz="1200">
                <a:solidFill>
                  <a:srgbClr val="0D1B2A"/>
                </a:solidFill>
                <a:latin typeface="Calibri"/>
              </a:rPr>
              <a:t>Normalized: each row sums to 1.0</a:t>
            </a:r>
          </a:p>
          <a:p>
            <a:pPr defTabSz="609585">
              <a:spcAft>
                <a:spcPts val="267"/>
              </a:spcAft>
            </a:pPr>
            <a:endParaRPr sz="1200">
              <a:solidFill>
                <a:srgbClr val="0D1B2A"/>
              </a:solidFill>
              <a:latin typeface="Calibri"/>
            </a:endParaRPr>
          </a:p>
          <a:p>
            <a:pPr defTabSz="609585">
              <a:spcAft>
                <a:spcPts val="267"/>
              </a:spcAft>
            </a:pPr>
            <a:r>
              <a:rPr sz="1200">
                <a:solidFill>
                  <a:srgbClr val="0D1B2A"/>
                </a:solidFill>
                <a:latin typeface="Calibri"/>
              </a:rPr>
              <a:t>Key confusions:</a:t>
            </a:r>
          </a:p>
          <a:p>
            <a:pPr defTabSz="609585">
              <a:spcAft>
                <a:spcPts val="267"/>
              </a:spcAft>
            </a:pPr>
            <a:r>
              <a:rPr sz="1200">
                <a:solidFill>
                  <a:srgbClr val="0D1B2A"/>
                </a:solidFill>
                <a:latin typeface="Calibri"/>
              </a:rPr>
              <a:t>  Neurology &lt;-&gt; Physical Med/Rehab</a:t>
            </a:r>
          </a:p>
          <a:p>
            <a:pPr defTabSz="609585">
              <a:spcAft>
                <a:spcPts val="267"/>
              </a:spcAft>
            </a:pPr>
            <a:r>
              <a:rPr sz="1200">
                <a:solidFill>
                  <a:srgbClr val="0D1B2A"/>
                </a:solidFill>
                <a:latin typeface="Calibri"/>
              </a:rPr>
              <a:t>  Orthopedic &lt;-&gt; Podiatry</a:t>
            </a:r>
          </a:p>
          <a:p>
            <a:pPr defTabSz="609585">
              <a:spcAft>
                <a:spcPts val="267"/>
              </a:spcAft>
            </a:pPr>
            <a:r>
              <a:rPr sz="1200">
                <a:solidFill>
                  <a:srgbClr val="0D1B2A"/>
                </a:solidFill>
                <a:latin typeface="Calibri"/>
              </a:rPr>
              <a:t>  General Med &lt;-&gt; multiple specialties</a:t>
            </a:r>
          </a:p>
          <a:p>
            <a:pPr defTabSz="609585">
              <a:spcAft>
                <a:spcPts val="267"/>
              </a:spcAft>
            </a:pPr>
            <a:endParaRPr sz="1200">
              <a:solidFill>
                <a:srgbClr val="0D1B2A"/>
              </a:solidFill>
              <a:latin typeface="Calibri"/>
            </a:endParaRPr>
          </a:p>
          <a:p>
            <a:pPr defTabSz="609585">
              <a:spcAft>
                <a:spcPts val="267"/>
              </a:spcAft>
            </a:pPr>
            <a:r>
              <a:rPr sz="1200">
                <a:solidFill>
                  <a:srgbClr val="0D1B2A"/>
                </a:solidFill>
                <a:latin typeface="Calibri"/>
              </a:rPr>
              <a:t>These reflect genuine vocabulary</a:t>
            </a:r>
          </a:p>
          <a:p>
            <a:pPr defTabSz="609585">
              <a:spcAft>
                <a:spcPts val="267"/>
              </a:spcAft>
            </a:pPr>
            <a:r>
              <a:rPr sz="1200">
                <a:solidFill>
                  <a:srgbClr val="0D1B2A"/>
                </a:solidFill>
                <a:latin typeface="Calibri"/>
              </a:rPr>
              <a:t>overlap, not model failure.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ounded Rectangle 1"/>
          <p:cNvSpPr/>
          <p:nvPr/>
        </p:nvSpPr>
        <p:spPr>
          <a:xfrm>
            <a:off x="609600" y="307975"/>
            <a:ext cx="1889760" cy="329184"/>
          </a:xfrm>
          <a:prstGeom prst="round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lIns="101600" rtlCol="0" anchor="ctr"/>
          <a:lstStyle/>
          <a:p>
            <a:pPr algn="ctr" defTabSz="609585"/>
            <a:r>
              <a:rPr sz="1000" b="1">
                <a:solidFill>
                  <a:srgbClr val="FFFFFF"/>
                </a:solidFill>
                <a:latin typeface="Calibri"/>
              </a:rPr>
              <a:t>PHASE 4 &amp; 5</a:t>
            </a:r>
          </a:p>
        </p:txBody>
      </p:sp>
      <p:sp>
        <p:nvSpPr>
          <p:cNvPr id="3" name="TextBox 2"/>
          <p:cNvSpPr txBox="1"/>
          <p:nvPr/>
        </p:nvSpPr>
        <p:spPr>
          <a:xfrm>
            <a:off x="609600" y="759079"/>
            <a:ext cx="10972800" cy="642848"/>
          </a:xfrm>
          <a:prstGeom prst="rect">
            <a:avLst/>
          </a:prstGeom>
          <a:noFill/>
        </p:spPr>
        <p:txBody>
          <a:bodyPr wrap="square" lIns="67733" tIns="33867" rIns="67733" bIns="33867">
            <a:spAutoFit/>
          </a:bodyPr>
          <a:lstStyle/>
          <a:p>
            <a:pPr defTabSz="609585"/>
            <a:r>
              <a:rPr sz="3733" b="1">
                <a:solidFill>
                  <a:srgbClr val="FFFFFF"/>
                </a:solidFill>
                <a:latin typeface="Calibri"/>
              </a:rPr>
              <a:t>Vector DBs &amp; Semantic Search</a:t>
            </a:r>
          </a:p>
        </p:txBody>
      </p:sp>
      <p:sp>
        <p:nvSpPr>
          <p:cNvPr id="4" name="TextBox 3"/>
          <p:cNvSpPr txBox="1"/>
          <p:nvPr/>
        </p:nvSpPr>
        <p:spPr>
          <a:xfrm>
            <a:off x="609600" y="1466215"/>
            <a:ext cx="10972800" cy="294163"/>
          </a:xfrm>
          <a:prstGeom prst="rect">
            <a:avLst/>
          </a:prstGeom>
          <a:noFill/>
        </p:spPr>
        <p:txBody>
          <a:bodyPr wrap="square" lIns="67733" tIns="33867" rIns="67733" bIns="33867">
            <a:spAutoFit/>
          </a:bodyPr>
          <a:lstStyle/>
          <a:p>
            <a:pPr defTabSz="609585"/>
            <a:r>
              <a:rPr sz="1467">
                <a:solidFill>
                  <a:srgbClr val="17C3B2"/>
                </a:solidFill>
                <a:latin typeface="Calibri"/>
              </a:rPr>
              <a:t>TF-IDF treats 'Renal' and 'Kidney' as unrelated tokens. Embeddings place them side by side in meaning-space.</a:t>
            </a:r>
          </a:p>
        </p:txBody>
      </p:sp>
      <p:sp>
        <p:nvSpPr>
          <p:cNvPr id="5" name="Rounded Rectangle 4"/>
          <p:cNvSpPr/>
          <p:nvPr/>
        </p:nvSpPr>
        <p:spPr>
          <a:xfrm>
            <a:off x="609600" y="2136775"/>
            <a:ext cx="512064" cy="512064"/>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r>
              <a:rPr sz="1733" b="1">
                <a:solidFill>
                  <a:srgbClr val="17C3B2"/>
                </a:solidFill>
                <a:latin typeface="Calibri"/>
              </a:rPr>
              <a:t>1</a:t>
            </a:r>
          </a:p>
        </p:txBody>
      </p:sp>
      <p:sp>
        <p:nvSpPr>
          <p:cNvPr id="6" name="TextBox 5"/>
          <p:cNvSpPr txBox="1"/>
          <p:nvPr/>
        </p:nvSpPr>
        <p:spPr>
          <a:xfrm>
            <a:off x="1280160" y="2075815"/>
            <a:ext cx="4632960" cy="335072"/>
          </a:xfrm>
          <a:prstGeom prst="rect">
            <a:avLst/>
          </a:prstGeom>
          <a:noFill/>
        </p:spPr>
        <p:txBody>
          <a:bodyPr wrap="square" lIns="67733" tIns="33867" rIns="67733" bIns="33867">
            <a:spAutoFit/>
          </a:bodyPr>
          <a:lstStyle/>
          <a:p>
            <a:pPr defTabSz="609585"/>
            <a:r>
              <a:rPr sz="1733" b="1">
                <a:solidFill>
                  <a:srgbClr val="17C3B2"/>
                </a:solidFill>
                <a:latin typeface="Calibri"/>
              </a:rPr>
              <a:t>Chunking</a:t>
            </a:r>
          </a:p>
        </p:txBody>
      </p:sp>
      <p:sp>
        <p:nvSpPr>
          <p:cNvPr id="7" name="TextBox 6"/>
          <p:cNvSpPr txBox="1"/>
          <p:nvPr/>
        </p:nvSpPr>
        <p:spPr>
          <a:xfrm>
            <a:off x="1280160" y="2465959"/>
            <a:ext cx="4632960" cy="437727"/>
          </a:xfrm>
          <a:prstGeom prst="rect">
            <a:avLst/>
          </a:prstGeom>
          <a:noFill/>
        </p:spPr>
        <p:txBody>
          <a:bodyPr wrap="square" lIns="67733" tIns="33867" rIns="67733" bIns="33867">
            <a:spAutoFit/>
          </a:bodyPr>
          <a:lstStyle/>
          <a:p>
            <a:pPr defTabSz="609585"/>
            <a:r>
              <a:rPr sz="1200">
                <a:solidFill>
                  <a:srgbClr val="94A3B8"/>
                </a:solidFill>
                <a:latin typeface="Calibri"/>
              </a:rPr>
              <a:t>Split each note into 200-word chunks with 20-word overlap. Each chunk carries specialty + note_id metadata.</a:t>
            </a:r>
          </a:p>
        </p:txBody>
      </p:sp>
      <p:sp>
        <p:nvSpPr>
          <p:cNvPr id="8" name="Rounded Rectangle 7"/>
          <p:cNvSpPr/>
          <p:nvPr/>
        </p:nvSpPr>
        <p:spPr>
          <a:xfrm>
            <a:off x="6339840" y="2075815"/>
            <a:ext cx="5364480" cy="8534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wrap="square" lIns="135467" tIns="101600" bIns="101600" rtlCol="0" anchor="ctr"/>
          <a:lstStyle/>
          <a:p>
            <a:pPr algn="ctr" defTabSz="609585"/>
            <a:r>
              <a:rPr sz="1000">
                <a:solidFill>
                  <a:srgbClr val="7DD3FC"/>
                </a:solidFill>
                <a:latin typeface="Courier New"/>
              </a:rPr>
              <a:t>chunk_text(text, chunk_size=200, overlap=20)</a:t>
            </a:r>
          </a:p>
          <a:p>
            <a:pPr defTabSz="609585"/>
            <a:r>
              <a:rPr sz="1000">
                <a:solidFill>
                  <a:srgbClr val="7DD3FC"/>
                </a:solidFill>
                <a:latin typeface="Courier New"/>
              </a:rPr>
              <a:t># 2,586 notes -&gt; ~8,000 indexed chunks</a:t>
            </a:r>
          </a:p>
        </p:txBody>
      </p:sp>
      <p:sp>
        <p:nvSpPr>
          <p:cNvPr id="9" name="Rounded Rectangle 8"/>
          <p:cNvSpPr/>
          <p:nvPr/>
        </p:nvSpPr>
        <p:spPr>
          <a:xfrm>
            <a:off x="609600" y="3624199"/>
            <a:ext cx="512064" cy="512064"/>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r>
              <a:rPr sz="1733" b="1">
                <a:solidFill>
                  <a:srgbClr val="F4A261"/>
                </a:solidFill>
                <a:latin typeface="Calibri"/>
              </a:rPr>
              <a:t>2</a:t>
            </a:r>
          </a:p>
        </p:txBody>
      </p:sp>
      <p:sp>
        <p:nvSpPr>
          <p:cNvPr id="10" name="TextBox 9"/>
          <p:cNvSpPr txBox="1"/>
          <p:nvPr/>
        </p:nvSpPr>
        <p:spPr>
          <a:xfrm>
            <a:off x="1280160" y="3563239"/>
            <a:ext cx="4632960" cy="335072"/>
          </a:xfrm>
          <a:prstGeom prst="rect">
            <a:avLst/>
          </a:prstGeom>
          <a:noFill/>
        </p:spPr>
        <p:txBody>
          <a:bodyPr wrap="square" lIns="67733" tIns="33867" rIns="67733" bIns="33867">
            <a:spAutoFit/>
          </a:bodyPr>
          <a:lstStyle/>
          <a:p>
            <a:pPr defTabSz="609585"/>
            <a:r>
              <a:rPr sz="1733" b="1">
                <a:solidFill>
                  <a:srgbClr val="F4A261"/>
                </a:solidFill>
                <a:latin typeface="Calibri"/>
              </a:rPr>
              <a:t>Dense Vectors</a:t>
            </a:r>
          </a:p>
        </p:txBody>
      </p:sp>
      <p:sp>
        <p:nvSpPr>
          <p:cNvPr id="11" name="TextBox 10"/>
          <p:cNvSpPr txBox="1"/>
          <p:nvPr/>
        </p:nvSpPr>
        <p:spPr>
          <a:xfrm>
            <a:off x="1280160" y="3953383"/>
            <a:ext cx="4632960" cy="437727"/>
          </a:xfrm>
          <a:prstGeom prst="rect">
            <a:avLst/>
          </a:prstGeom>
          <a:noFill/>
        </p:spPr>
        <p:txBody>
          <a:bodyPr wrap="square" lIns="67733" tIns="33867" rIns="67733" bIns="33867">
            <a:spAutoFit/>
          </a:bodyPr>
          <a:lstStyle/>
          <a:p>
            <a:pPr defTabSz="609585"/>
            <a:r>
              <a:rPr sz="1200">
                <a:solidFill>
                  <a:srgbClr val="94A3B8"/>
                </a:solidFill>
                <a:latin typeface="Calibri"/>
              </a:rPr>
              <a:t>Encode every chunk with all-MiniLM-L6-v2. Each chunk becomes a 384-D float vector in meaning-space.</a:t>
            </a:r>
          </a:p>
        </p:txBody>
      </p:sp>
      <p:sp>
        <p:nvSpPr>
          <p:cNvPr id="12" name="Rounded Rectangle 11"/>
          <p:cNvSpPr/>
          <p:nvPr/>
        </p:nvSpPr>
        <p:spPr>
          <a:xfrm>
            <a:off x="6339840" y="3563239"/>
            <a:ext cx="5364480" cy="8534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wrap="square" lIns="135467" tIns="101600" bIns="101600" rtlCol="0" anchor="ctr"/>
          <a:lstStyle/>
          <a:p>
            <a:pPr algn="ctr" defTabSz="609585"/>
            <a:r>
              <a:rPr sz="1000">
                <a:solidFill>
                  <a:srgbClr val="7DD3FC"/>
                </a:solidFill>
                <a:latin typeface="Courier New"/>
              </a:rPr>
              <a:t>model = SentenceTransformer('all-MiniLM-L6-v2')</a:t>
            </a:r>
          </a:p>
          <a:p>
            <a:pPr defTabSz="609585"/>
            <a:r>
              <a:rPr sz="1000">
                <a:solidFill>
                  <a:srgbClr val="7DD3FC"/>
                </a:solidFill>
                <a:latin typeface="Courier New"/>
              </a:rPr>
              <a:t>vectors = model.encode(all_chunks)  # 384-D</a:t>
            </a:r>
          </a:p>
        </p:txBody>
      </p:sp>
      <p:sp>
        <p:nvSpPr>
          <p:cNvPr id="13" name="Rounded Rectangle 12"/>
          <p:cNvSpPr/>
          <p:nvPr/>
        </p:nvSpPr>
        <p:spPr>
          <a:xfrm>
            <a:off x="609600" y="5111621"/>
            <a:ext cx="512064" cy="512064"/>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r>
              <a:rPr sz="1733" b="1">
                <a:solidFill>
                  <a:srgbClr val="F97316"/>
                </a:solidFill>
                <a:latin typeface="Calibri"/>
              </a:rPr>
              <a:t>3</a:t>
            </a:r>
          </a:p>
        </p:txBody>
      </p:sp>
      <p:sp>
        <p:nvSpPr>
          <p:cNvPr id="14" name="TextBox 13"/>
          <p:cNvSpPr txBox="1"/>
          <p:nvPr/>
        </p:nvSpPr>
        <p:spPr>
          <a:xfrm>
            <a:off x="1280160" y="5050661"/>
            <a:ext cx="4632960" cy="335072"/>
          </a:xfrm>
          <a:prstGeom prst="rect">
            <a:avLst/>
          </a:prstGeom>
          <a:noFill/>
        </p:spPr>
        <p:txBody>
          <a:bodyPr wrap="square" lIns="67733" tIns="33867" rIns="67733" bIns="33867">
            <a:spAutoFit/>
          </a:bodyPr>
          <a:lstStyle/>
          <a:p>
            <a:pPr defTabSz="609585"/>
            <a:r>
              <a:rPr sz="1733" b="1">
                <a:solidFill>
                  <a:srgbClr val="F97316"/>
                </a:solidFill>
                <a:latin typeface="Calibri"/>
              </a:rPr>
              <a:t>ChromaDB + Mini-RAG</a:t>
            </a:r>
          </a:p>
        </p:txBody>
      </p:sp>
      <p:sp>
        <p:nvSpPr>
          <p:cNvPr id="15" name="TextBox 14"/>
          <p:cNvSpPr txBox="1"/>
          <p:nvPr/>
        </p:nvSpPr>
        <p:spPr>
          <a:xfrm>
            <a:off x="1280160" y="5440807"/>
            <a:ext cx="4632960" cy="437727"/>
          </a:xfrm>
          <a:prstGeom prst="rect">
            <a:avLst/>
          </a:prstGeom>
          <a:noFill/>
        </p:spPr>
        <p:txBody>
          <a:bodyPr wrap="square" lIns="67733" tIns="33867" rIns="67733" bIns="33867">
            <a:spAutoFit/>
          </a:bodyPr>
          <a:lstStyle/>
          <a:p>
            <a:pPr defTabSz="609585"/>
            <a:r>
              <a:rPr sz="1200">
                <a:solidFill>
                  <a:srgbClr val="94A3B8"/>
                </a:solidFill>
                <a:latin typeface="Calibri"/>
              </a:rPr>
              <a:t>Store vectors in ChromaDB. Query -&gt; embed -&gt; retrieve top-5 -&gt; majority vote on specialties = prediction.</a:t>
            </a:r>
          </a:p>
        </p:txBody>
      </p:sp>
      <p:sp>
        <p:nvSpPr>
          <p:cNvPr id="16" name="Rounded Rectangle 15"/>
          <p:cNvSpPr/>
          <p:nvPr/>
        </p:nvSpPr>
        <p:spPr>
          <a:xfrm>
            <a:off x="6339840" y="5050661"/>
            <a:ext cx="5364480" cy="8534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wrap="square" lIns="135467" tIns="101600" bIns="101600" rtlCol="0" anchor="ctr"/>
          <a:lstStyle/>
          <a:p>
            <a:pPr algn="ctr" defTabSz="609585"/>
            <a:r>
              <a:rPr sz="1000">
                <a:solidFill>
                  <a:srgbClr val="7DD3FC"/>
                </a:solidFill>
                <a:latin typeface="Courier New"/>
              </a:rPr>
              <a:t>collection.query(query_embeddings=qvec, n_results=5)</a:t>
            </a:r>
          </a:p>
          <a:p>
            <a:pPr defTabSz="609585"/>
            <a:r>
              <a:rPr sz="1000">
                <a:solidFill>
                  <a:srgbClr val="7DD3FC"/>
                </a:solidFill>
                <a:latin typeface="Courier New"/>
              </a:rPr>
              <a:t>vote = Counter(specialties).most_common(1)[0][0]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ounded Rectangle 1"/>
          <p:cNvSpPr/>
          <p:nvPr/>
        </p:nvSpPr>
        <p:spPr>
          <a:xfrm>
            <a:off x="609600" y="307975"/>
            <a:ext cx="2560320" cy="329184"/>
          </a:xfrm>
          <a:prstGeom prst="round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lIns="101600" rtlCol="0" anchor="ctr"/>
          <a:lstStyle/>
          <a:p>
            <a:pPr algn="ctr" defTabSz="609585"/>
            <a:r>
              <a:rPr sz="1000" b="1">
                <a:solidFill>
                  <a:srgbClr val="FFFFFF"/>
                </a:solidFill>
                <a:latin typeface="Calibri"/>
              </a:rPr>
              <a:t>PHASE 4 -- DEMO</a:t>
            </a:r>
          </a:p>
        </p:txBody>
      </p:sp>
      <p:sp>
        <p:nvSpPr>
          <p:cNvPr id="3" name="TextBox 2"/>
          <p:cNvSpPr txBox="1"/>
          <p:nvPr/>
        </p:nvSpPr>
        <p:spPr>
          <a:xfrm>
            <a:off x="609600" y="759079"/>
            <a:ext cx="10972800" cy="642848"/>
          </a:xfrm>
          <a:prstGeom prst="rect">
            <a:avLst/>
          </a:prstGeom>
          <a:noFill/>
        </p:spPr>
        <p:txBody>
          <a:bodyPr wrap="square" lIns="67733" tIns="33867" rIns="67733" bIns="33867">
            <a:spAutoFit/>
          </a:bodyPr>
          <a:lstStyle/>
          <a:p>
            <a:pPr defTabSz="609585"/>
            <a:r>
              <a:rPr sz="3733" b="1">
                <a:solidFill>
                  <a:srgbClr val="FFFFFF"/>
                </a:solidFill>
                <a:latin typeface="Calibri"/>
              </a:rPr>
              <a:t>Semantic Understanding in Action</a:t>
            </a:r>
          </a:p>
        </p:txBody>
      </p:sp>
      <p:sp>
        <p:nvSpPr>
          <p:cNvPr id="4" name="TextBox 3"/>
          <p:cNvSpPr txBox="1"/>
          <p:nvPr/>
        </p:nvSpPr>
        <p:spPr>
          <a:xfrm>
            <a:off x="609600" y="1466215"/>
            <a:ext cx="10972800" cy="294163"/>
          </a:xfrm>
          <a:prstGeom prst="rect">
            <a:avLst/>
          </a:prstGeom>
          <a:noFill/>
        </p:spPr>
        <p:txBody>
          <a:bodyPr wrap="square" lIns="67733" tIns="33867" rIns="67733" bIns="33867">
            <a:spAutoFit/>
          </a:bodyPr>
          <a:lstStyle/>
          <a:p>
            <a:pPr defTabSz="609585"/>
            <a:r>
              <a:rPr sz="1467">
                <a:solidFill>
                  <a:srgbClr val="17C3B2"/>
                </a:solidFill>
                <a:latin typeface="Calibri"/>
              </a:rPr>
              <a:t>Queries with ZERO exact medical keywords correctly routed -- something TF-IDF cannot do.</a:t>
            </a:r>
          </a:p>
        </p:txBody>
      </p:sp>
      <p:sp>
        <p:nvSpPr>
          <p:cNvPr id="5" name="TextBox 4"/>
          <p:cNvSpPr txBox="1"/>
          <p:nvPr/>
        </p:nvSpPr>
        <p:spPr>
          <a:xfrm>
            <a:off x="731520" y="2075816"/>
            <a:ext cx="6705600" cy="273516"/>
          </a:xfrm>
          <a:prstGeom prst="rect">
            <a:avLst/>
          </a:prstGeom>
          <a:noFill/>
        </p:spPr>
        <p:txBody>
          <a:bodyPr wrap="square" lIns="67733" tIns="33867" rIns="67733" bIns="33867">
            <a:spAutoFit/>
          </a:bodyPr>
          <a:lstStyle/>
          <a:p>
            <a:pPr defTabSz="609585"/>
            <a:r>
              <a:rPr sz="1333">
                <a:solidFill>
                  <a:srgbClr val="FFFFFF"/>
                </a:solidFill>
                <a:latin typeface="Calibri"/>
              </a:rPr>
              <a:t>'my heart skips beats and races sometimes'</a:t>
            </a:r>
          </a:p>
        </p:txBody>
      </p:sp>
      <p:sp>
        <p:nvSpPr>
          <p:cNvPr id="6" name="TextBox 5"/>
          <p:cNvSpPr txBox="1"/>
          <p:nvPr/>
        </p:nvSpPr>
        <p:spPr>
          <a:xfrm>
            <a:off x="7559040" y="2075815"/>
            <a:ext cx="487680" cy="294163"/>
          </a:xfrm>
          <a:prstGeom prst="rect">
            <a:avLst/>
          </a:prstGeom>
          <a:noFill/>
        </p:spPr>
        <p:txBody>
          <a:bodyPr wrap="square" lIns="67733" tIns="33867" rIns="67733" bIns="33867">
            <a:spAutoFit/>
          </a:bodyPr>
          <a:lstStyle/>
          <a:p>
            <a:pPr defTabSz="609585"/>
            <a:r>
              <a:rPr sz="1467" b="1">
                <a:solidFill>
                  <a:srgbClr val="17C3B2"/>
                </a:solidFill>
                <a:latin typeface="Calibri"/>
              </a:rPr>
              <a:t>-&gt;</a:t>
            </a:r>
          </a:p>
        </p:txBody>
      </p:sp>
      <p:sp>
        <p:nvSpPr>
          <p:cNvPr id="7" name="TextBox 6"/>
          <p:cNvSpPr txBox="1"/>
          <p:nvPr/>
        </p:nvSpPr>
        <p:spPr>
          <a:xfrm>
            <a:off x="8046720" y="2075816"/>
            <a:ext cx="3657600" cy="273516"/>
          </a:xfrm>
          <a:prstGeom prst="rect">
            <a:avLst/>
          </a:prstGeom>
          <a:noFill/>
        </p:spPr>
        <p:txBody>
          <a:bodyPr wrap="square" lIns="67733" tIns="33867" rIns="67733" bIns="33867">
            <a:spAutoFit/>
          </a:bodyPr>
          <a:lstStyle/>
          <a:p>
            <a:pPr defTabSz="609585"/>
            <a:r>
              <a:rPr sz="1333" b="1">
                <a:solidFill>
                  <a:srgbClr val="17C3B2"/>
                </a:solidFill>
                <a:latin typeface="Calibri"/>
              </a:rPr>
              <a:t>Cardiovascular / Pulmonary</a:t>
            </a:r>
          </a:p>
        </p:txBody>
      </p:sp>
      <p:sp>
        <p:nvSpPr>
          <p:cNvPr id="8" name="TextBox 7"/>
          <p:cNvSpPr txBox="1"/>
          <p:nvPr/>
        </p:nvSpPr>
        <p:spPr>
          <a:xfrm>
            <a:off x="731520" y="2392807"/>
            <a:ext cx="10728960" cy="232608"/>
          </a:xfrm>
          <a:prstGeom prst="rect">
            <a:avLst/>
          </a:prstGeom>
          <a:noFill/>
        </p:spPr>
        <p:txBody>
          <a:bodyPr wrap="square" lIns="67733" tIns="33867" rIns="67733" bIns="33867">
            <a:spAutoFit/>
          </a:bodyPr>
          <a:lstStyle/>
          <a:p>
            <a:pPr defTabSz="609585"/>
            <a:r>
              <a:rPr sz="1067">
                <a:solidFill>
                  <a:srgbClr val="94A3B8"/>
                </a:solidFill>
                <a:latin typeface="Calibri"/>
              </a:rPr>
              <a:t>No 'arrhythmia' or 'cardiac' in query</a:t>
            </a:r>
          </a:p>
        </p:txBody>
      </p:sp>
      <p:sp>
        <p:nvSpPr>
          <p:cNvPr id="9" name="TextBox 8"/>
          <p:cNvSpPr txBox="1"/>
          <p:nvPr/>
        </p:nvSpPr>
        <p:spPr>
          <a:xfrm>
            <a:off x="731520" y="2953640"/>
            <a:ext cx="6705600" cy="273516"/>
          </a:xfrm>
          <a:prstGeom prst="rect">
            <a:avLst/>
          </a:prstGeom>
          <a:noFill/>
        </p:spPr>
        <p:txBody>
          <a:bodyPr wrap="square" lIns="67733" tIns="33867" rIns="67733" bIns="33867">
            <a:spAutoFit/>
          </a:bodyPr>
          <a:lstStyle/>
          <a:p>
            <a:pPr defTabSz="609585"/>
            <a:r>
              <a:rPr sz="1333">
                <a:solidFill>
                  <a:srgbClr val="FFFFFF"/>
                </a:solidFill>
                <a:latin typeface="Calibri"/>
              </a:rPr>
              <a:t>'trouble breathing and a whistling sound when I exhale'</a:t>
            </a:r>
          </a:p>
        </p:txBody>
      </p:sp>
      <p:sp>
        <p:nvSpPr>
          <p:cNvPr id="10" name="TextBox 9"/>
          <p:cNvSpPr txBox="1"/>
          <p:nvPr/>
        </p:nvSpPr>
        <p:spPr>
          <a:xfrm>
            <a:off x="7559040" y="2953639"/>
            <a:ext cx="487680" cy="294163"/>
          </a:xfrm>
          <a:prstGeom prst="rect">
            <a:avLst/>
          </a:prstGeom>
          <a:noFill/>
        </p:spPr>
        <p:txBody>
          <a:bodyPr wrap="square" lIns="67733" tIns="33867" rIns="67733" bIns="33867">
            <a:spAutoFit/>
          </a:bodyPr>
          <a:lstStyle/>
          <a:p>
            <a:pPr defTabSz="609585"/>
            <a:r>
              <a:rPr sz="1467" b="1">
                <a:solidFill>
                  <a:srgbClr val="17C3B2"/>
                </a:solidFill>
                <a:latin typeface="Calibri"/>
              </a:rPr>
              <a:t>-&gt;</a:t>
            </a:r>
          </a:p>
        </p:txBody>
      </p:sp>
      <p:sp>
        <p:nvSpPr>
          <p:cNvPr id="11" name="TextBox 10"/>
          <p:cNvSpPr txBox="1"/>
          <p:nvPr/>
        </p:nvSpPr>
        <p:spPr>
          <a:xfrm>
            <a:off x="8046720" y="2953640"/>
            <a:ext cx="3657600" cy="273516"/>
          </a:xfrm>
          <a:prstGeom prst="rect">
            <a:avLst/>
          </a:prstGeom>
          <a:noFill/>
        </p:spPr>
        <p:txBody>
          <a:bodyPr wrap="square" lIns="67733" tIns="33867" rIns="67733" bIns="33867">
            <a:spAutoFit/>
          </a:bodyPr>
          <a:lstStyle/>
          <a:p>
            <a:pPr defTabSz="609585"/>
            <a:r>
              <a:rPr sz="1333" b="1">
                <a:solidFill>
                  <a:srgbClr val="17C3B2"/>
                </a:solidFill>
                <a:latin typeface="Calibri"/>
              </a:rPr>
              <a:t>Cardiovascular / Pulmonary</a:t>
            </a:r>
          </a:p>
        </p:txBody>
      </p:sp>
      <p:sp>
        <p:nvSpPr>
          <p:cNvPr id="12" name="TextBox 11"/>
          <p:cNvSpPr txBox="1"/>
          <p:nvPr/>
        </p:nvSpPr>
        <p:spPr>
          <a:xfrm>
            <a:off x="731520" y="3270629"/>
            <a:ext cx="10728960" cy="232608"/>
          </a:xfrm>
          <a:prstGeom prst="rect">
            <a:avLst/>
          </a:prstGeom>
          <a:noFill/>
        </p:spPr>
        <p:txBody>
          <a:bodyPr wrap="square" lIns="67733" tIns="33867" rIns="67733" bIns="33867">
            <a:spAutoFit/>
          </a:bodyPr>
          <a:lstStyle/>
          <a:p>
            <a:pPr defTabSz="609585"/>
            <a:r>
              <a:rPr sz="1067">
                <a:solidFill>
                  <a:srgbClr val="94A3B8"/>
                </a:solidFill>
                <a:latin typeface="Calibri"/>
              </a:rPr>
              <a:t>No 'asthma' or 'wheeze' in query</a:t>
            </a:r>
          </a:p>
        </p:txBody>
      </p:sp>
      <p:sp>
        <p:nvSpPr>
          <p:cNvPr id="13" name="TextBox 12"/>
          <p:cNvSpPr txBox="1"/>
          <p:nvPr/>
        </p:nvSpPr>
        <p:spPr>
          <a:xfrm>
            <a:off x="731520" y="3831462"/>
            <a:ext cx="6705600" cy="273516"/>
          </a:xfrm>
          <a:prstGeom prst="rect">
            <a:avLst/>
          </a:prstGeom>
          <a:noFill/>
        </p:spPr>
        <p:txBody>
          <a:bodyPr wrap="square" lIns="67733" tIns="33867" rIns="67733" bIns="33867">
            <a:spAutoFit/>
          </a:bodyPr>
          <a:lstStyle/>
          <a:p>
            <a:pPr defTabSz="609585"/>
            <a:r>
              <a:rPr sz="1333">
                <a:solidFill>
                  <a:srgbClr val="FFFFFF"/>
                </a:solidFill>
                <a:latin typeface="Calibri"/>
              </a:rPr>
              <a:t>'the bone in my lower leg snapped'</a:t>
            </a:r>
          </a:p>
        </p:txBody>
      </p:sp>
      <p:sp>
        <p:nvSpPr>
          <p:cNvPr id="14" name="TextBox 13"/>
          <p:cNvSpPr txBox="1"/>
          <p:nvPr/>
        </p:nvSpPr>
        <p:spPr>
          <a:xfrm>
            <a:off x="7559040" y="3831461"/>
            <a:ext cx="487680" cy="294163"/>
          </a:xfrm>
          <a:prstGeom prst="rect">
            <a:avLst/>
          </a:prstGeom>
          <a:noFill/>
        </p:spPr>
        <p:txBody>
          <a:bodyPr wrap="square" lIns="67733" tIns="33867" rIns="67733" bIns="33867">
            <a:spAutoFit/>
          </a:bodyPr>
          <a:lstStyle/>
          <a:p>
            <a:pPr defTabSz="609585"/>
            <a:r>
              <a:rPr sz="1467" b="1">
                <a:solidFill>
                  <a:srgbClr val="17C3B2"/>
                </a:solidFill>
                <a:latin typeface="Calibri"/>
              </a:rPr>
              <a:t>-&gt;</a:t>
            </a:r>
          </a:p>
        </p:txBody>
      </p:sp>
      <p:sp>
        <p:nvSpPr>
          <p:cNvPr id="15" name="TextBox 14"/>
          <p:cNvSpPr txBox="1"/>
          <p:nvPr/>
        </p:nvSpPr>
        <p:spPr>
          <a:xfrm>
            <a:off x="8046720" y="3831462"/>
            <a:ext cx="3657600" cy="273516"/>
          </a:xfrm>
          <a:prstGeom prst="rect">
            <a:avLst/>
          </a:prstGeom>
          <a:noFill/>
        </p:spPr>
        <p:txBody>
          <a:bodyPr wrap="square" lIns="67733" tIns="33867" rIns="67733" bIns="33867">
            <a:spAutoFit/>
          </a:bodyPr>
          <a:lstStyle/>
          <a:p>
            <a:pPr defTabSz="609585"/>
            <a:r>
              <a:rPr sz="1333" b="1">
                <a:solidFill>
                  <a:srgbClr val="17C3B2"/>
                </a:solidFill>
                <a:latin typeface="Calibri"/>
              </a:rPr>
              <a:t>Orthopedic</a:t>
            </a:r>
          </a:p>
        </p:txBody>
      </p:sp>
      <p:sp>
        <p:nvSpPr>
          <p:cNvPr id="16" name="TextBox 15"/>
          <p:cNvSpPr txBox="1"/>
          <p:nvPr/>
        </p:nvSpPr>
        <p:spPr>
          <a:xfrm>
            <a:off x="731520" y="4148453"/>
            <a:ext cx="10728960" cy="232608"/>
          </a:xfrm>
          <a:prstGeom prst="rect">
            <a:avLst/>
          </a:prstGeom>
          <a:noFill/>
        </p:spPr>
        <p:txBody>
          <a:bodyPr wrap="square" lIns="67733" tIns="33867" rIns="67733" bIns="33867">
            <a:spAutoFit/>
          </a:bodyPr>
          <a:lstStyle/>
          <a:p>
            <a:pPr defTabSz="609585"/>
            <a:r>
              <a:rPr sz="1067">
                <a:solidFill>
                  <a:srgbClr val="94A3B8"/>
                </a:solidFill>
                <a:latin typeface="Calibri"/>
              </a:rPr>
              <a:t>No 'fracture' or 'tibia' in query</a:t>
            </a:r>
          </a:p>
        </p:txBody>
      </p:sp>
      <p:sp>
        <p:nvSpPr>
          <p:cNvPr id="17" name="TextBox 16"/>
          <p:cNvSpPr txBox="1"/>
          <p:nvPr/>
        </p:nvSpPr>
        <p:spPr>
          <a:xfrm>
            <a:off x="731520" y="4709288"/>
            <a:ext cx="6705600" cy="273516"/>
          </a:xfrm>
          <a:prstGeom prst="rect">
            <a:avLst/>
          </a:prstGeom>
          <a:noFill/>
        </p:spPr>
        <p:txBody>
          <a:bodyPr wrap="square" lIns="67733" tIns="33867" rIns="67733" bIns="33867">
            <a:spAutoFit/>
          </a:bodyPr>
          <a:lstStyle/>
          <a:p>
            <a:pPr defTabSz="609585"/>
            <a:r>
              <a:rPr sz="1333">
                <a:solidFill>
                  <a:srgbClr val="FFFFFF"/>
                </a:solidFill>
                <a:latin typeface="Calibri"/>
              </a:rPr>
              <a:t>'the patient's kidneys are not filtering properly'</a:t>
            </a:r>
          </a:p>
        </p:txBody>
      </p:sp>
      <p:sp>
        <p:nvSpPr>
          <p:cNvPr id="18" name="TextBox 17"/>
          <p:cNvSpPr txBox="1"/>
          <p:nvPr/>
        </p:nvSpPr>
        <p:spPr>
          <a:xfrm>
            <a:off x="7559040" y="4709287"/>
            <a:ext cx="487680" cy="294163"/>
          </a:xfrm>
          <a:prstGeom prst="rect">
            <a:avLst/>
          </a:prstGeom>
          <a:noFill/>
        </p:spPr>
        <p:txBody>
          <a:bodyPr wrap="square" lIns="67733" tIns="33867" rIns="67733" bIns="33867">
            <a:spAutoFit/>
          </a:bodyPr>
          <a:lstStyle/>
          <a:p>
            <a:pPr defTabSz="609585"/>
            <a:r>
              <a:rPr sz="1467" b="1">
                <a:solidFill>
                  <a:srgbClr val="17C3B2"/>
                </a:solidFill>
                <a:latin typeface="Calibri"/>
              </a:rPr>
              <a:t>-&gt;</a:t>
            </a:r>
          </a:p>
        </p:txBody>
      </p:sp>
      <p:sp>
        <p:nvSpPr>
          <p:cNvPr id="19" name="TextBox 18"/>
          <p:cNvSpPr txBox="1"/>
          <p:nvPr/>
        </p:nvSpPr>
        <p:spPr>
          <a:xfrm>
            <a:off x="8046720" y="4709288"/>
            <a:ext cx="3657600" cy="273516"/>
          </a:xfrm>
          <a:prstGeom prst="rect">
            <a:avLst/>
          </a:prstGeom>
          <a:noFill/>
        </p:spPr>
        <p:txBody>
          <a:bodyPr wrap="square" lIns="67733" tIns="33867" rIns="67733" bIns="33867">
            <a:spAutoFit/>
          </a:bodyPr>
          <a:lstStyle/>
          <a:p>
            <a:pPr defTabSz="609585"/>
            <a:r>
              <a:rPr sz="1333" b="1">
                <a:solidFill>
                  <a:srgbClr val="17C3B2"/>
                </a:solidFill>
                <a:latin typeface="Calibri"/>
              </a:rPr>
              <a:t>Nephrology</a:t>
            </a:r>
          </a:p>
        </p:txBody>
      </p:sp>
      <p:sp>
        <p:nvSpPr>
          <p:cNvPr id="20" name="TextBox 19"/>
          <p:cNvSpPr txBox="1"/>
          <p:nvPr/>
        </p:nvSpPr>
        <p:spPr>
          <a:xfrm>
            <a:off x="731520" y="5026279"/>
            <a:ext cx="10728960" cy="232608"/>
          </a:xfrm>
          <a:prstGeom prst="rect">
            <a:avLst/>
          </a:prstGeom>
          <a:noFill/>
        </p:spPr>
        <p:txBody>
          <a:bodyPr wrap="square" lIns="67733" tIns="33867" rIns="67733" bIns="33867">
            <a:spAutoFit/>
          </a:bodyPr>
          <a:lstStyle/>
          <a:p>
            <a:pPr defTabSz="609585"/>
            <a:r>
              <a:rPr sz="1067">
                <a:solidFill>
                  <a:srgbClr val="94A3B8"/>
                </a:solidFill>
                <a:latin typeface="Calibri"/>
              </a:rPr>
              <a:t>No 'renal' in query -- synonym match</a:t>
            </a:r>
          </a:p>
        </p:txBody>
      </p:sp>
      <p:sp>
        <p:nvSpPr>
          <p:cNvPr id="21" name="TextBox 20"/>
          <p:cNvSpPr txBox="1"/>
          <p:nvPr/>
        </p:nvSpPr>
        <p:spPr>
          <a:xfrm>
            <a:off x="731520" y="5587112"/>
            <a:ext cx="6705600" cy="273516"/>
          </a:xfrm>
          <a:prstGeom prst="rect">
            <a:avLst/>
          </a:prstGeom>
          <a:noFill/>
        </p:spPr>
        <p:txBody>
          <a:bodyPr wrap="square" lIns="67733" tIns="33867" rIns="67733" bIns="33867">
            <a:spAutoFit/>
          </a:bodyPr>
          <a:lstStyle/>
          <a:p>
            <a:pPr defTabSz="609585"/>
            <a:r>
              <a:rPr sz="1333">
                <a:solidFill>
                  <a:srgbClr val="FFFFFF"/>
                </a:solidFill>
                <a:latin typeface="Calibri"/>
              </a:rPr>
              <a:t>'child presents for routine vaccination and growth check'</a:t>
            </a:r>
          </a:p>
        </p:txBody>
      </p:sp>
      <p:sp>
        <p:nvSpPr>
          <p:cNvPr id="22" name="TextBox 21"/>
          <p:cNvSpPr txBox="1"/>
          <p:nvPr/>
        </p:nvSpPr>
        <p:spPr>
          <a:xfrm>
            <a:off x="7559040" y="5587111"/>
            <a:ext cx="487680" cy="294163"/>
          </a:xfrm>
          <a:prstGeom prst="rect">
            <a:avLst/>
          </a:prstGeom>
          <a:noFill/>
        </p:spPr>
        <p:txBody>
          <a:bodyPr wrap="square" lIns="67733" tIns="33867" rIns="67733" bIns="33867">
            <a:spAutoFit/>
          </a:bodyPr>
          <a:lstStyle/>
          <a:p>
            <a:pPr defTabSz="609585"/>
            <a:r>
              <a:rPr sz="1467" b="1">
                <a:solidFill>
                  <a:srgbClr val="17C3B2"/>
                </a:solidFill>
                <a:latin typeface="Calibri"/>
              </a:rPr>
              <a:t>-&gt;</a:t>
            </a:r>
          </a:p>
        </p:txBody>
      </p:sp>
      <p:sp>
        <p:nvSpPr>
          <p:cNvPr id="23" name="TextBox 22"/>
          <p:cNvSpPr txBox="1"/>
          <p:nvPr/>
        </p:nvSpPr>
        <p:spPr>
          <a:xfrm>
            <a:off x="8046720" y="5587112"/>
            <a:ext cx="3657600" cy="273516"/>
          </a:xfrm>
          <a:prstGeom prst="rect">
            <a:avLst/>
          </a:prstGeom>
          <a:noFill/>
        </p:spPr>
        <p:txBody>
          <a:bodyPr wrap="square" lIns="67733" tIns="33867" rIns="67733" bIns="33867">
            <a:spAutoFit/>
          </a:bodyPr>
          <a:lstStyle/>
          <a:p>
            <a:pPr defTabSz="609585"/>
            <a:r>
              <a:rPr sz="1333" b="1">
                <a:solidFill>
                  <a:srgbClr val="17C3B2"/>
                </a:solidFill>
                <a:latin typeface="Calibri"/>
              </a:rPr>
              <a:t>Pediatrics - Neonatal</a:t>
            </a:r>
          </a:p>
        </p:txBody>
      </p:sp>
      <p:sp>
        <p:nvSpPr>
          <p:cNvPr id="24" name="TextBox 23"/>
          <p:cNvSpPr txBox="1"/>
          <p:nvPr/>
        </p:nvSpPr>
        <p:spPr>
          <a:xfrm>
            <a:off x="731520" y="5904103"/>
            <a:ext cx="10728960" cy="232608"/>
          </a:xfrm>
          <a:prstGeom prst="rect">
            <a:avLst/>
          </a:prstGeom>
          <a:noFill/>
        </p:spPr>
        <p:txBody>
          <a:bodyPr wrap="square" lIns="67733" tIns="33867" rIns="67733" bIns="33867">
            <a:spAutoFit/>
          </a:bodyPr>
          <a:lstStyle/>
          <a:p>
            <a:pPr defTabSz="609585"/>
            <a:r>
              <a:rPr sz="1067">
                <a:solidFill>
                  <a:srgbClr val="94A3B8"/>
                </a:solidFill>
                <a:latin typeface="Calibri"/>
              </a:rPr>
              <a:t>Everyday language, no clinical jargon</a:t>
            </a:r>
          </a:p>
        </p:txBody>
      </p:sp>
      <p:sp>
        <p:nvSpPr>
          <p:cNvPr id="25" name="Rounded Rectangle 24"/>
          <p:cNvSpPr/>
          <p:nvPr/>
        </p:nvSpPr>
        <p:spPr>
          <a:xfrm>
            <a:off x="548640" y="6282055"/>
            <a:ext cx="11094720" cy="365760"/>
          </a:xfrm>
          <a:prstGeom prst="roundRect">
            <a:avLst/>
          </a:prstGeom>
          <a:solidFill>
            <a:srgbClr val="E0F7F6"/>
          </a:solidFill>
          <a:ln>
            <a:noFill/>
          </a:ln>
        </p:spPr>
        <p:style>
          <a:lnRef idx="1">
            <a:schemeClr val="accent1"/>
          </a:lnRef>
          <a:fillRef idx="3">
            <a:schemeClr val="accent1"/>
          </a:fillRef>
          <a:effectRef idx="2">
            <a:schemeClr val="accent1"/>
          </a:effectRef>
          <a:fontRef idx="minor">
            <a:schemeClr val="lt1"/>
          </a:fontRef>
        </p:style>
        <p:txBody>
          <a:bodyPr wrap="square" lIns="169333" tIns="101600" rtlCol="0" anchor="ctr"/>
          <a:lstStyle/>
          <a:p>
            <a:pPr algn="ctr" defTabSz="609585"/>
            <a:r>
              <a:rPr sz="1267">
                <a:solidFill>
                  <a:srgbClr val="0E7C7B"/>
                </a:solidFill>
                <a:latin typeface="Calibri"/>
              </a:rPr>
              <a:t>This is the headline result: semantic understanding beyond keyword matching. TF-IDF scores zero overlap for all of these.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609600" y="307975"/>
            <a:ext cx="1889760" cy="329184"/>
          </a:xfrm>
          <a:prstGeom prst="round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lIns="101600" rtlCol="0" anchor="ctr"/>
          <a:lstStyle/>
          <a:p>
            <a:pPr algn="ctr" defTabSz="609585"/>
            <a:r>
              <a:rPr sz="1000" b="1">
                <a:solidFill>
                  <a:srgbClr val="FFFFFF"/>
                </a:solidFill>
                <a:latin typeface="Calibri"/>
              </a:rPr>
              <a:t>PHASE 5</a:t>
            </a:r>
          </a:p>
        </p:txBody>
      </p:sp>
      <p:sp>
        <p:nvSpPr>
          <p:cNvPr id="3" name="TextBox 2"/>
          <p:cNvSpPr txBox="1"/>
          <p:nvPr/>
        </p:nvSpPr>
        <p:spPr>
          <a:xfrm>
            <a:off x="609600" y="759079"/>
            <a:ext cx="10972800" cy="642848"/>
          </a:xfrm>
          <a:prstGeom prst="rect">
            <a:avLst/>
          </a:prstGeom>
          <a:noFill/>
        </p:spPr>
        <p:txBody>
          <a:bodyPr wrap="square" lIns="67733" tIns="33867" rIns="67733" bIns="33867">
            <a:spAutoFit/>
          </a:bodyPr>
          <a:lstStyle/>
          <a:p>
            <a:pPr defTabSz="609585"/>
            <a:r>
              <a:rPr sz="3733" b="1">
                <a:solidFill>
                  <a:srgbClr val="0D1B2A"/>
                </a:solidFill>
                <a:latin typeface="Calibri"/>
              </a:rPr>
              <a:t>Retrieval Validation</a:t>
            </a:r>
          </a:p>
        </p:txBody>
      </p:sp>
      <p:sp>
        <p:nvSpPr>
          <p:cNvPr id="4" name="TextBox 3"/>
          <p:cNvSpPr txBox="1"/>
          <p:nvPr/>
        </p:nvSpPr>
        <p:spPr>
          <a:xfrm>
            <a:off x="609600" y="1466215"/>
            <a:ext cx="10972800" cy="273516"/>
          </a:xfrm>
          <a:prstGeom prst="rect">
            <a:avLst/>
          </a:prstGeom>
          <a:noFill/>
        </p:spPr>
        <p:txBody>
          <a:bodyPr wrap="square" lIns="67733" tIns="33867" rIns="67733" bIns="33867">
            <a:spAutoFit/>
          </a:bodyPr>
          <a:lstStyle/>
          <a:p>
            <a:pPr defTabSz="609585"/>
            <a:r>
              <a:rPr sz="1333">
                <a:solidFill>
                  <a:srgbClr val="64748B"/>
                </a:solidFill>
                <a:latin typeface="Calibri"/>
              </a:rPr>
              <a:t>5% holdout notes (never indexed) used as ground-truth queries. Precision@5 = fraction of 5 retrieved chunks with correct label.</a:t>
            </a:r>
          </a:p>
        </p:txBody>
      </p:sp>
      <p:sp>
        <p:nvSpPr>
          <p:cNvPr id="5" name="Rounded Rectangle 4"/>
          <p:cNvSpPr/>
          <p:nvPr/>
        </p:nvSpPr>
        <p:spPr>
          <a:xfrm>
            <a:off x="548640" y="1953895"/>
            <a:ext cx="5364480" cy="2438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sz="2400">
              <a:solidFill>
                <a:prstClr val="white"/>
              </a:solidFill>
              <a:latin typeface="Calibri"/>
            </a:endParaRPr>
          </a:p>
        </p:txBody>
      </p:sp>
      <p:sp>
        <p:nvSpPr>
          <p:cNvPr id="6" name="TextBox 5"/>
          <p:cNvSpPr txBox="1"/>
          <p:nvPr/>
        </p:nvSpPr>
        <p:spPr>
          <a:xfrm>
            <a:off x="853440" y="2075815"/>
            <a:ext cx="4876800" cy="273516"/>
          </a:xfrm>
          <a:prstGeom prst="rect">
            <a:avLst/>
          </a:prstGeom>
          <a:noFill/>
        </p:spPr>
        <p:txBody>
          <a:bodyPr wrap="square" lIns="67733" tIns="33867" rIns="67733" bIns="33867">
            <a:spAutoFit/>
          </a:bodyPr>
          <a:lstStyle/>
          <a:p>
            <a:pPr defTabSz="609585"/>
            <a:r>
              <a:rPr sz="1333" b="1">
                <a:solidFill>
                  <a:srgbClr val="F4A261"/>
                </a:solidFill>
                <a:latin typeface="Calibri"/>
              </a:rPr>
              <a:t>Precision@5 Results</a:t>
            </a:r>
          </a:p>
        </p:txBody>
      </p:sp>
      <p:sp>
        <p:nvSpPr>
          <p:cNvPr id="7" name="TextBox 6"/>
          <p:cNvSpPr txBox="1"/>
          <p:nvPr/>
        </p:nvSpPr>
        <p:spPr>
          <a:xfrm>
            <a:off x="853440" y="2441575"/>
            <a:ext cx="4876800" cy="1570900"/>
          </a:xfrm>
          <a:prstGeom prst="rect">
            <a:avLst/>
          </a:prstGeom>
          <a:noFill/>
        </p:spPr>
        <p:txBody>
          <a:bodyPr wrap="square" lIns="67733" tIns="33867">
            <a:spAutoFit/>
          </a:bodyPr>
          <a:lstStyle/>
          <a:p>
            <a:pPr defTabSz="609585">
              <a:spcAft>
                <a:spcPts val="533"/>
              </a:spcAft>
            </a:pPr>
            <a:r>
              <a:rPr sz="1267">
                <a:solidFill>
                  <a:srgbClr val="0D1B2A"/>
                </a:solidFill>
                <a:latin typeface="Calibri"/>
              </a:rPr>
              <a:t>Mean Precision@5:  ~64%</a:t>
            </a:r>
          </a:p>
          <a:p>
            <a:pPr defTabSz="609585">
              <a:spcAft>
                <a:spcPts val="533"/>
              </a:spcAft>
            </a:pPr>
            <a:r>
              <a:rPr sz="1267">
                <a:solidFill>
                  <a:srgbClr val="0D1B2A"/>
                </a:solidFill>
                <a:latin typeface="Calibri"/>
              </a:rPr>
              <a:t>Random baseline (26 classes):  ~3.8%</a:t>
            </a:r>
          </a:p>
          <a:p>
            <a:pPr defTabSz="609585">
              <a:spcAft>
                <a:spcPts val="533"/>
              </a:spcAft>
            </a:pPr>
            <a:r>
              <a:rPr sz="1267">
                <a:solidFill>
                  <a:srgbClr val="0D1B2A"/>
                </a:solidFill>
                <a:latin typeface="Calibri"/>
              </a:rPr>
              <a:t>Our system:  ~16x better than chance</a:t>
            </a:r>
          </a:p>
          <a:p>
            <a:pPr defTabSz="609585">
              <a:spcAft>
                <a:spcPts val="533"/>
              </a:spcAft>
            </a:pPr>
            <a:endParaRPr sz="1267">
              <a:solidFill>
                <a:srgbClr val="0D1B2A"/>
              </a:solidFill>
              <a:latin typeface="Calibri"/>
            </a:endParaRPr>
          </a:p>
          <a:p>
            <a:pPr defTabSz="609585">
              <a:spcAft>
                <a:spcPts val="533"/>
              </a:spcAft>
            </a:pPr>
            <a:r>
              <a:rPr sz="1267">
                <a:solidFill>
                  <a:srgbClr val="0D1B2A"/>
                </a:solidFill>
                <a:latin typeface="Calibri"/>
              </a:rPr>
              <a:t>Well-represented specialties: near 100%</a:t>
            </a:r>
          </a:p>
          <a:p>
            <a:pPr defTabSz="609585">
              <a:spcAft>
                <a:spcPts val="533"/>
              </a:spcAft>
            </a:pPr>
            <a:r>
              <a:rPr sz="1267">
                <a:solidFill>
                  <a:srgbClr val="0D1B2A"/>
                </a:solidFill>
                <a:latin typeface="Calibri"/>
              </a:rPr>
              <a:t>Rare/overlapping specialties: lower scores</a:t>
            </a:r>
          </a:p>
        </p:txBody>
      </p:sp>
      <p:pic>
        <p:nvPicPr>
          <p:cNvPr id="8" name="Picture 7" descr="image.png"/>
          <p:cNvPicPr>
            <a:picLocks noChangeAspect="1"/>
          </p:cNvPicPr>
          <p:nvPr/>
        </p:nvPicPr>
        <p:blipFill>
          <a:blip r:embed="rId3"/>
          <a:stretch>
            <a:fillRect/>
          </a:stretch>
        </p:blipFill>
        <p:spPr>
          <a:xfrm>
            <a:off x="6096000" y="1831975"/>
            <a:ext cx="5608320" cy="5231056"/>
          </a:xfrm>
          <a:prstGeom prst="rect">
            <a:avLst/>
          </a:prstGeom>
        </p:spPr>
      </p:pic>
      <p:sp>
        <p:nvSpPr>
          <p:cNvPr id="9" name="Rounded Rectangle 8"/>
          <p:cNvSpPr/>
          <p:nvPr/>
        </p:nvSpPr>
        <p:spPr>
          <a:xfrm>
            <a:off x="548640" y="4636135"/>
            <a:ext cx="5364480" cy="853440"/>
          </a:xfrm>
          <a:prstGeom prst="roundRect">
            <a:avLst/>
          </a:prstGeom>
          <a:solidFill>
            <a:srgbClr val="E0F7F6"/>
          </a:solidFill>
          <a:ln>
            <a:noFill/>
          </a:ln>
        </p:spPr>
        <p:style>
          <a:lnRef idx="1">
            <a:schemeClr val="accent1"/>
          </a:lnRef>
          <a:fillRef idx="3">
            <a:schemeClr val="accent1"/>
          </a:fillRef>
          <a:effectRef idx="2">
            <a:schemeClr val="accent1"/>
          </a:effectRef>
          <a:fontRef idx="minor">
            <a:schemeClr val="lt1"/>
          </a:fontRef>
        </p:style>
        <p:txBody>
          <a:bodyPr wrap="square" lIns="169333" tIns="101600" rtlCol="0" anchor="ctr"/>
          <a:lstStyle/>
          <a:p>
            <a:pPr algn="ctr" defTabSz="609585"/>
            <a:r>
              <a:rPr sz="1267">
                <a:solidFill>
                  <a:srgbClr val="F4A261"/>
                </a:solidFill>
                <a:latin typeface="Calibri"/>
              </a:rPr>
              <a:t>Precision@5 uses exact-label matching. Medically reasonable neighbors (Neurology retrieving Neurosurgery) are counted as misses -- true clinical utility is higher.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ounded Rectangle 1"/>
          <p:cNvSpPr/>
          <p:nvPr/>
        </p:nvSpPr>
        <p:spPr>
          <a:xfrm>
            <a:off x="609600" y="307975"/>
            <a:ext cx="2560320" cy="329184"/>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101600" rtlCol="0" anchor="ctr"/>
          <a:lstStyle/>
          <a:p>
            <a:pPr algn="ctr" defTabSz="609585"/>
            <a:r>
              <a:rPr sz="1000" b="1">
                <a:solidFill>
                  <a:srgbClr val="FFFFFF"/>
                </a:solidFill>
                <a:latin typeface="Calibri"/>
              </a:rPr>
              <a:t>COMPARISON</a:t>
            </a:r>
          </a:p>
        </p:txBody>
      </p:sp>
      <p:sp>
        <p:nvSpPr>
          <p:cNvPr id="3" name="TextBox 2"/>
          <p:cNvSpPr txBox="1"/>
          <p:nvPr/>
        </p:nvSpPr>
        <p:spPr>
          <a:xfrm>
            <a:off x="609600" y="759079"/>
            <a:ext cx="10972800" cy="642848"/>
          </a:xfrm>
          <a:prstGeom prst="rect">
            <a:avLst/>
          </a:prstGeom>
          <a:noFill/>
        </p:spPr>
        <p:txBody>
          <a:bodyPr wrap="square" lIns="67733" tIns="33867" rIns="67733" bIns="33867">
            <a:spAutoFit/>
          </a:bodyPr>
          <a:lstStyle/>
          <a:p>
            <a:pPr defTabSz="609585"/>
            <a:r>
              <a:rPr sz="3733" b="1">
                <a:solidFill>
                  <a:srgbClr val="0D1B2A"/>
                </a:solidFill>
                <a:latin typeface="Calibri"/>
              </a:rPr>
              <a:t>Two Approaches, One Dataset</a:t>
            </a:r>
          </a:p>
        </p:txBody>
      </p:sp>
      <p:sp>
        <p:nvSpPr>
          <p:cNvPr id="4" name="TextBox 3"/>
          <p:cNvSpPr txBox="1"/>
          <p:nvPr/>
        </p:nvSpPr>
        <p:spPr>
          <a:xfrm>
            <a:off x="609600" y="1466216"/>
            <a:ext cx="10972800" cy="273516"/>
          </a:xfrm>
          <a:prstGeom prst="rect">
            <a:avLst/>
          </a:prstGeom>
          <a:noFill/>
        </p:spPr>
        <p:txBody>
          <a:bodyPr wrap="square" lIns="67733" tIns="33867" rIns="67733" bIns="33867">
            <a:spAutoFit/>
          </a:bodyPr>
          <a:lstStyle/>
          <a:p>
            <a:pPr defTabSz="609585"/>
            <a:r>
              <a:rPr sz="1333">
                <a:solidFill>
                  <a:srgbClr val="64748B"/>
                </a:solidFill>
                <a:latin typeface="Calibri"/>
              </a:rPr>
              <a:t>Same specialty pairs confuse both methods -- proving overlap is inherent to clinical data, not an artifact.</a:t>
            </a:r>
          </a:p>
        </p:txBody>
      </p:sp>
      <p:sp>
        <p:nvSpPr>
          <p:cNvPr id="5" name="Rounded Rectangle 4"/>
          <p:cNvSpPr/>
          <p:nvPr/>
        </p:nvSpPr>
        <p:spPr>
          <a:xfrm>
            <a:off x="548640" y="1953895"/>
            <a:ext cx="5364480" cy="426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sz="2400">
              <a:solidFill>
                <a:prstClr val="white"/>
              </a:solidFill>
              <a:latin typeface="Calibri"/>
            </a:endParaRPr>
          </a:p>
        </p:txBody>
      </p:sp>
      <p:sp>
        <p:nvSpPr>
          <p:cNvPr id="6" name="Rounded Rectangle 5"/>
          <p:cNvSpPr/>
          <p:nvPr/>
        </p:nvSpPr>
        <p:spPr>
          <a:xfrm>
            <a:off x="792480" y="2136775"/>
            <a:ext cx="3413760" cy="365760"/>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r>
              <a:rPr sz="1333" b="1">
                <a:solidFill>
                  <a:srgbClr val="FFFFFF"/>
                </a:solidFill>
                <a:latin typeface="Calibri"/>
              </a:rPr>
              <a:t>Parametric (Phase 3)</a:t>
            </a:r>
          </a:p>
        </p:txBody>
      </p:sp>
      <p:sp>
        <p:nvSpPr>
          <p:cNvPr id="7" name="TextBox 6"/>
          <p:cNvSpPr txBox="1"/>
          <p:nvPr/>
        </p:nvSpPr>
        <p:spPr>
          <a:xfrm>
            <a:off x="853440" y="2624455"/>
            <a:ext cx="4754880" cy="2376506"/>
          </a:xfrm>
          <a:prstGeom prst="rect">
            <a:avLst/>
          </a:prstGeom>
          <a:noFill/>
        </p:spPr>
        <p:txBody>
          <a:bodyPr wrap="square" lIns="67733" tIns="33867">
            <a:spAutoFit/>
          </a:bodyPr>
          <a:lstStyle/>
          <a:p>
            <a:pPr defTabSz="609585">
              <a:spcAft>
                <a:spcPts val="267"/>
              </a:spcAft>
            </a:pPr>
            <a:r>
              <a:rPr sz="1267">
                <a:solidFill>
                  <a:srgbClr val="0D1B2A"/>
                </a:solidFill>
                <a:latin typeface="Calibri"/>
              </a:rPr>
              <a:t>Logistic Regression</a:t>
            </a:r>
          </a:p>
          <a:p>
            <a:pPr defTabSz="609585">
              <a:spcAft>
                <a:spcPts val="267"/>
              </a:spcAft>
            </a:pPr>
            <a:endParaRPr sz="1267">
              <a:solidFill>
                <a:srgbClr val="0D1B2A"/>
              </a:solidFill>
              <a:latin typeface="Calibri"/>
            </a:endParaRPr>
          </a:p>
          <a:p>
            <a:pPr defTabSz="609585">
              <a:spcAft>
                <a:spcPts val="267"/>
              </a:spcAft>
            </a:pPr>
            <a:r>
              <a:rPr sz="1267">
                <a:solidFill>
                  <a:srgbClr val="0D1B2A"/>
                </a:solidFill>
                <a:latin typeface="Calibri"/>
              </a:rPr>
              <a:t>Learns weights from labeled data</a:t>
            </a:r>
          </a:p>
          <a:p>
            <a:pPr defTabSz="609585">
              <a:spcAft>
                <a:spcPts val="267"/>
              </a:spcAft>
            </a:pPr>
            <a:r>
              <a:rPr sz="1267">
                <a:solidFill>
                  <a:srgbClr val="0D1B2A"/>
                </a:solidFill>
                <a:latin typeface="Calibri"/>
              </a:rPr>
              <a:t>Can predict WITHOUT original notes</a:t>
            </a:r>
          </a:p>
          <a:p>
            <a:pPr defTabSz="609585">
              <a:spcAft>
                <a:spcPts val="267"/>
              </a:spcAft>
            </a:pPr>
            <a:r>
              <a:rPr sz="1267">
                <a:solidFill>
                  <a:srgbClr val="0D1B2A"/>
                </a:solidFill>
                <a:latin typeface="Calibri"/>
              </a:rPr>
              <a:t>Fast inference after training</a:t>
            </a:r>
          </a:p>
          <a:p>
            <a:pPr defTabSz="609585">
              <a:spcAft>
                <a:spcPts val="267"/>
              </a:spcAft>
            </a:pPr>
            <a:endParaRPr sz="1267">
              <a:solidFill>
                <a:srgbClr val="0D1B2A"/>
              </a:solidFill>
              <a:latin typeface="Calibri"/>
            </a:endParaRPr>
          </a:p>
          <a:p>
            <a:pPr defTabSz="609585">
              <a:spcAft>
                <a:spcPts val="267"/>
              </a:spcAft>
            </a:pPr>
            <a:r>
              <a:rPr sz="1267">
                <a:solidFill>
                  <a:srgbClr val="0D1B2A"/>
                </a:solidFill>
                <a:latin typeface="Calibri"/>
              </a:rPr>
              <a:t>Accuracy: 70.1%</a:t>
            </a:r>
          </a:p>
          <a:p>
            <a:pPr defTabSz="609585">
              <a:spcAft>
                <a:spcPts val="267"/>
              </a:spcAft>
            </a:pPr>
            <a:r>
              <a:rPr sz="1267">
                <a:solidFill>
                  <a:srgbClr val="0D1B2A"/>
                </a:solidFill>
                <a:latin typeface="Calibri"/>
              </a:rPr>
              <a:t>Macro F1: 0.657</a:t>
            </a:r>
          </a:p>
          <a:p>
            <a:pPr defTabSz="609585">
              <a:spcAft>
                <a:spcPts val="267"/>
              </a:spcAft>
            </a:pPr>
            <a:endParaRPr sz="1267">
              <a:solidFill>
                <a:srgbClr val="0D1B2A"/>
              </a:solidFill>
              <a:latin typeface="Calibri"/>
            </a:endParaRPr>
          </a:p>
          <a:p>
            <a:pPr defTabSz="609585">
              <a:spcAft>
                <a:spcPts val="267"/>
              </a:spcAft>
            </a:pPr>
            <a:r>
              <a:rPr sz="1267">
                <a:solidFill>
                  <a:srgbClr val="0D1B2A"/>
                </a:solidFill>
                <a:latin typeface="Calibri"/>
              </a:rPr>
              <a:t>Cannot handle synonyms or paraphrases</a:t>
            </a:r>
          </a:p>
        </p:txBody>
      </p:sp>
      <p:sp>
        <p:nvSpPr>
          <p:cNvPr id="8" name="Rounded Rectangle 7"/>
          <p:cNvSpPr/>
          <p:nvPr/>
        </p:nvSpPr>
        <p:spPr>
          <a:xfrm>
            <a:off x="6217920" y="1953895"/>
            <a:ext cx="5486400" cy="426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sz="2400">
              <a:solidFill>
                <a:prstClr val="white"/>
              </a:solidFill>
              <a:latin typeface="Calibri"/>
            </a:endParaRPr>
          </a:p>
        </p:txBody>
      </p:sp>
      <p:sp>
        <p:nvSpPr>
          <p:cNvPr id="9" name="Rounded Rectangle 8"/>
          <p:cNvSpPr/>
          <p:nvPr/>
        </p:nvSpPr>
        <p:spPr>
          <a:xfrm>
            <a:off x="6461760" y="2136775"/>
            <a:ext cx="3413760" cy="365760"/>
          </a:xfrm>
          <a:prstGeom prst="round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r>
              <a:rPr sz="1333" b="1">
                <a:solidFill>
                  <a:srgbClr val="FFFFFF"/>
                </a:solidFill>
                <a:latin typeface="Calibri"/>
              </a:rPr>
              <a:t>Non-Parametric (Phase 4)</a:t>
            </a:r>
          </a:p>
        </p:txBody>
      </p:sp>
      <p:sp>
        <p:nvSpPr>
          <p:cNvPr id="10" name="TextBox 9"/>
          <p:cNvSpPr txBox="1"/>
          <p:nvPr/>
        </p:nvSpPr>
        <p:spPr>
          <a:xfrm>
            <a:off x="6522720" y="2624455"/>
            <a:ext cx="4876800" cy="2376506"/>
          </a:xfrm>
          <a:prstGeom prst="rect">
            <a:avLst/>
          </a:prstGeom>
          <a:noFill/>
        </p:spPr>
        <p:txBody>
          <a:bodyPr wrap="square" lIns="67733" tIns="33867">
            <a:spAutoFit/>
          </a:bodyPr>
          <a:lstStyle/>
          <a:p>
            <a:pPr defTabSz="609585">
              <a:spcAft>
                <a:spcPts val="267"/>
              </a:spcAft>
            </a:pPr>
            <a:r>
              <a:rPr sz="1267">
                <a:solidFill>
                  <a:srgbClr val="0D1B2A"/>
                </a:solidFill>
                <a:latin typeface="Calibri"/>
              </a:rPr>
              <a:t>Mini-RAG (retrieve + vote)</a:t>
            </a:r>
          </a:p>
          <a:p>
            <a:pPr defTabSz="609585">
              <a:spcAft>
                <a:spcPts val="267"/>
              </a:spcAft>
            </a:pPr>
            <a:endParaRPr sz="1267">
              <a:solidFill>
                <a:srgbClr val="0D1B2A"/>
              </a:solidFill>
              <a:latin typeface="Calibri"/>
            </a:endParaRPr>
          </a:p>
          <a:p>
            <a:pPr defTabSz="609585">
              <a:spcAft>
                <a:spcPts val="267"/>
              </a:spcAft>
            </a:pPr>
            <a:r>
              <a:rPr sz="1267">
                <a:solidFill>
                  <a:srgbClr val="0D1B2A"/>
                </a:solidFill>
                <a:latin typeface="Calibri"/>
              </a:rPr>
              <a:t>Stores data, trains nothing</a:t>
            </a:r>
          </a:p>
          <a:p>
            <a:pPr defTabSz="609585">
              <a:spcAft>
                <a:spcPts val="267"/>
              </a:spcAft>
            </a:pPr>
            <a:r>
              <a:rPr sz="1267">
                <a:solidFill>
                  <a:srgbClr val="0D1B2A"/>
                </a:solidFill>
                <a:latin typeface="Calibri"/>
              </a:rPr>
              <a:t>NEEDS notes at query time</a:t>
            </a:r>
          </a:p>
          <a:p>
            <a:pPr defTabSz="609585">
              <a:spcAft>
                <a:spcPts val="267"/>
              </a:spcAft>
            </a:pPr>
            <a:r>
              <a:rPr sz="1267">
                <a:solidFill>
                  <a:srgbClr val="0D1B2A"/>
                </a:solidFill>
                <a:latin typeface="Calibri"/>
              </a:rPr>
              <a:t>Handles synonyms and layperson text</a:t>
            </a:r>
          </a:p>
          <a:p>
            <a:pPr defTabSz="609585">
              <a:spcAft>
                <a:spcPts val="267"/>
              </a:spcAft>
            </a:pPr>
            <a:endParaRPr sz="1267">
              <a:solidFill>
                <a:srgbClr val="0D1B2A"/>
              </a:solidFill>
              <a:latin typeface="Calibri"/>
            </a:endParaRPr>
          </a:p>
          <a:p>
            <a:pPr defTabSz="609585">
              <a:spcAft>
                <a:spcPts val="267"/>
              </a:spcAft>
            </a:pPr>
            <a:r>
              <a:rPr sz="1267">
                <a:solidFill>
                  <a:srgbClr val="0D1B2A"/>
                </a:solidFill>
                <a:latin typeface="Calibri"/>
              </a:rPr>
              <a:t>Precision@5: ~64%</a:t>
            </a:r>
          </a:p>
          <a:p>
            <a:pPr defTabSz="609585">
              <a:spcAft>
                <a:spcPts val="267"/>
              </a:spcAft>
            </a:pPr>
            <a:r>
              <a:rPr sz="1267">
                <a:solidFill>
                  <a:srgbClr val="0D1B2A"/>
                </a:solidFill>
                <a:latin typeface="Calibri"/>
              </a:rPr>
              <a:t>16x better than random</a:t>
            </a:r>
          </a:p>
          <a:p>
            <a:pPr defTabSz="609585">
              <a:spcAft>
                <a:spcPts val="267"/>
              </a:spcAft>
            </a:pPr>
            <a:endParaRPr sz="1267">
              <a:solidFill>
                <a:srgbClr val="0D1B2A"/>
              </a:solidFill>
              <a:latin typeface="Calibri"/>
            </a:endParaRPr>
          </a:p>
          <a:p>
            <a:pPr defTabSz="609585">
              <a:spcAft>
                <a:spcPts val="267"/>
              </a:spcAft>
            </a:pPr>
            <a:r>
              <a:rPr sz="1267">
                <a:solidFill>
                  <a:srgbClr val="0D1B2A"/>
                </a:solidFill>
                <a:latin typeface="Calibri"/>
              </a:rPr>
              <a:t>Semantic understanding beyond keywords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TextBox 1"/>
          <p:cNvSpPr txBox="1"/>
          <p:nvPr/>
        </p:nvSpPr>
        <p:spPr>
          <a:xfrm>
            <a:off x="609600" y="490855"/>
            <a:ext cx="10972800" cy="642848"/>
          </a:xfrm>
          <a:prstGeom prst="rect">
            <a:avLst/>
          </a:prstGeom>
          <a:noFill/>
        </p:spPr>
        <p:txBody>
          <a:bodyPr wrap="square" lIns="67733" tIns="33867" rIns="67733" bIns="33867">
            <a:spAutoFit/>
          </a:bodyPr>
          <a:lstStyle/>
          <a:p>
            <a:pPr defTabSz="609585"/>
            <a:r>
              <a:rPr sz="3733" b="1">
                <a:solidFill>
                  <a:srgbClr val="FFFFFF"/>
                </a:solidFill>
                <a:latin typeface="Calibri"/>
              </a:rPr>
              <a:t>Key Takeaways</a:t>
            </a:r>
          </a:p>
        </p:txBody>
      </p:sp>
      <p:sp>
        <p:nvSpPr>
          <p:cNvPr id="3" name="TextBox 2"/>
          <p:cNvSpPr txBox="1"/>
          <p:nvPr/>
        </p:nvSpPr>
        <p:spPr>
          <a:xfrm>
            <a:off x="609600" y="1344295"/>
            <a:ext cx="487680" cy="355718"/>
          </a:xfrm>
          <a:prstGeom prst="rect">
            <a:avLst/>
          </a:prstGeom>
          <a:noFill/>
        </p:spPr>
        <p:txBody>
          <a:bodyPr wrap="square" lIns="67733" tIns="33867" rIns="67733" bIns="33867">
            <a:spAutoFit/>
          </a:bodyPr>
          <a:lstStyle/>
          <a:p>
            <a:pPr defTabSz="609585"/>
            <a:r>
              <a:rPr sz="1867">
                <a:solidFill>
                  <a:srgbClr val="17C3B2"/>
                </a:solidFill>
                <a:latin typeface="Calibri"/>
              </a:rPr>
              <a:t>-&gt;</a:t>
            </a:r>
          </a:p>
        </p:txBody>
      </p:sp>
      <p:sp>
        <p:nvSpPr>
          <p:cNvPr id="4" name="TextBox 3"/>
          <p:cNvSpPr txBox="1"/>
          <p:nvPr/>
        </p:nvSpPr>
        <p:spPr>
          <a:xfrm>
            <a:off x="1219200" y="1344296"/>
            <a:ext cx="10363200" cy="314617"/>
          </a:xfrm>
          <a:prstGeom prst="rect">
            <a:avLst/>
          </a:prstGeom>
          <a:noFill/>
        </p:spPr>
        <p:txBody>
          <a:bodyPr wrap="square" lIns="67733" tIns="33867" rIns="67733" bIns="33867">
            <a:spAutoFit/>
          </a:bodyPr>
          <a:lstStyle/>
          <a:p>
            <a:pPr defTabSz="609585"/>
            <a:r>
              <a:rPr sz="1600" b="1">
                <a:solidFill>
                  <a:srgbClr val="17C3B2"/>
                </a:solidFill>
                <a:latin typeface="Calibri"/>
              </a:rPr>
              <a:t>Full pipeline: raw CSV to working RAG classifier</a:t>
            </a:r>
          </a:p>
        </p:txBody>
      </p:sp>
      <p:sp>
        <p:nvSpPr>
          <p:cNvPr id="5" name="TextBox 4"/>
          <p:cNvSpPr txBox="1"/>
          <p:nvPr/>
        </p:nvSpPr>
        <p:spPr>
          <a:xfrm>
            <a:off x="1219200" y="1710055"/>
            <a:ext cx="10363200" cy="263385"/>
          </a:xfrm>
          <a:prstGeom prst="rect">
            <a:avLst/>
          </a:prstGeom>
          <a:noFill/>
        </p:spPr>
        <p:txBody>
          <a:bodyPr wrap="square" lIns="67733" tIns="33867" rIns="67733" bIns="33867">
            <a:spAutoFit/>
          </a:bodyPr>
          <a:lstStyle/>
          <a:p>
            <a:pPr defTabSz="609585"/>
            <a:r>
              <a:rPr sz="1267">
                <a:solidFill>
                  <a:srgbClr val="CBD5E1"/>
                </a:solidFill>
                <a:latin typeface="Calibri"/>
              </a:rPr>
              <a:t>5 phases, fully documented and reproducible. EDA -&gt; statistics -&gt; ML -&gt; semantic search -&gt; validation.</a:t>
            </a:r>
          </a:p>
        </p:txBody>
      </p:sp>
      <p:sp>
        <p:nvSpPr>
          <p:cNvPr id="6" name="TextBox 5"/>
          <p:cNvSpPr txBox="1"/>
          <p:nvPr/>
        </p:nvSpPr>
        <p:spPr>
          <a:xfrm>
            <a:off x="609600" y="2417191"/>
            <a:ext cx="487680" cy="355718"/>
          </a:xfrm>
          <a:prstGeom prst="rect">
            <a:avLst/>
          </a:prstGeom>
          <a:noFill/>
        </p:spPr>
        <p:txBody>
          <a:bodyPr wrap="square" lIns="67733" tIns="33867" rIns="67733" bIns="33867">
            <a:spAutoFit/>
          </a:bodyPr>
          <a:lstStyle/>
          <a:p>
            <a:pPr defTabSz="609585"/>
            <a:r>
              <a:rPr sz="1867">
                <a:solidFill>
                  <a:srgbClr val="17C3B2"/>
                </a:solidFill>
                <a:latin typeface="Calibri"/>
              </a:rPr>
              <a:t>-&gt;</a:t>
            </a:r>
          </a:p>
        </p:txBody>
      </p:sp>
      <p:sp>
        <p:nvSpPr>
          <p:cNvPr id="7" name="TextBox 6"/>
          <p:cNvSpPr txBox="1"/>
          <p:nvPr/>
        </p:nvSpPr>
        <p:spPr>
          <a:xfrm>
            <a:off x="1219200" y="2417192"/>
            <a:ext cx="10363200" cy="314617"/>
          </a:xfrm>
          <a:prstGeom prst="rect">
            <a:avLst/>
          </a:prstGeom>
          <a:noFill/>
        </p:spPr>
        <p:txBody>
          <a:bodyPr wrap="square" lIns="67733" tIns="33867" rIns="67733" bIns="33867">
            <a:spAutoFit/>
          </a:bodyPr>
          <a:lstStyle/>
          <a:p>
            <a:pPr defTabSz="609585"/>
            <a:r>
              <a:rPr sz="1600" b="1">
                <a:solidFill>
                  <a:srgbClr val="17C3B2"/>
                </a:solidFill>
                <a:latin typeface="Calibri"/>
              </a:rPr>
              <a:t>Logistic Regression wins on sparse text (70.1%)</a:t>
            </a:r>
          </a:p>
        </p:txBody>
      </p:sp>
      <p:sp>
        <p:nvSpPr>
          <p:cNvPr id="8" name="TextBox 7"/>
          <p:cNvSpPr txBox="1"/>
          <p:nvPr/>
        </p:nvSpPr>
        <p:spPr>
          <a:xfrm>
            <a:off x="1219200" y="2782950"/>
            <a:ext cx="10363200" cy="263385"/>
          </a:xfrm>
          <a:prstGeom prst="rect">
            <a:avLst/>
          </a:prstGeom>
          <a:noFill/>
        </p:spPr>
        <p:txBody>
          <a:bodyPr wrap="square" lIns="67733" tIns="33867" rIns="67733" bIns="33867">
            <a:spAutoFit/>
          </a:bodyPr>
          <a:lstStyle/>
          <a:p>
            <a:pPr defTabSz="609585"/>
            <a:r>
              <a:rPr sz="1267">
                <a:solidFill>
                  <a:srgbClr val="CBD5E1"/>
                </a:solidFill>
                <a:latin typeface="Calibri"/>
              </a:rPr>
              <a:t>Simpler models beat complex ones on high-dimensional TF-IDF. Complexity does not always improve performance.</a:t>
            </a:r>
          </a:p>
        </p:txBody>
      </p:sp>
      <p:sp>
        <p:nvSpPr>
          <p:cNvPr id="9" name="TextBox 8"/>
          <p:cNvSpPr txBox="1"/>
          <p:nvPr/>
        </p:nvSpPr>
        <p:spPr>
          <a:xfrm>
            <a:off x="609600" y="3490087"/>
            <a:ext cx="487680" cy="355718"/>
          </a:xfrm>
          <a:prstGeom prst="rect">
            <a:avLst/>
          </a:prstGeom>
          <a:noFill/>
        </p:spPr>
        <p:txBody>
          <a:bodyPr wrap="square" lIns="67733" tIns="33867" rIns="67733" bIns="33867">
            <a:spAutoFit/>
          </a:bodyPr>
          <a:lstStyle/>
          <a:p>
            <a:pPr defTabSz="609585"/>
            <a:r>
              <a:rPr sz="1867">
                <a:solidFill>
                  <a:srgbClr val="17C3B2"/>
                </a:solidFill>
                <a:latin typeface="Calibri"/>
              </a:rPr>
              <a:t>-&gt;</a:t>
            </a:r>
          </a:p>
        </p:txBody>
      </p:sp>
      <p:sp>
        <p:nvSpPr>
          <p:cNvPr id="10" name="TextBox 9"/>
          <p:cNvSpPr txBox="1"/>
          <p:nvPr/>
        </p:nvSpPr>
        <p:spPr>
          <a:xfrm>
            <a:off x="1219200" y="3490088"/>
            <a:ext cx="10363200" cy="314617"/>
          </a:xfrm>
          <a:prstGeom prst="rect">
            <a:avLst/>
          </a:prstGeom>
          <a:noFill/>
        </p:spPr>
        <p:txBody>
          <a:bodyPr wrap="square" lIns="67733" tIns="33867" rIns="67733" bIns="33867">
            <a:spAutoFit/>
          </a:bodyPr>
          <a:lstStyle/>
          <a:p>
            <a:pPr defTabSz="609585"/>
            <a:r>
              <a:rPr sz="1600" b="1">
                <a:solidFill>
                  <a:srgbClr val="17C3B2"/>
                </a:solidFill>
                <a:latin typeface="Calibri"/>
              </a:rPr>
              <a:t>Statistical + ML methods converge independently</a:t>
            </a:r>
          </a:p>
        </p:txBody>
      </p:sp>
      <p:sp>
        <p:nvSpPr>
          <p:cNvPr id="11" name="TextBox 10"/>
          <p:cNvSpPr txBox="1"/>
          <p:nvPr/>
        </p:nvSpPr>
        <p:spPr>
          <a:xfrm>
            <a:off x="1219200" y="3855847"/>
            <a:ext cx="10363200" cy="263385"/>
          </a:xfrm>
          <a:prstGeom prst="rect">
            <a:avLst/>
          </a:prstGeom>
          <a:noFill/>
        </p:spPr>
        <p:txBody>
          <a:bodyPr wrap="square" lIns="67733" tIns="33867" rIns="67733" bIns="33867">
            <a:spAutoFit/>
          </a:bodyPr>
          <a:lstStyle/>
          <a:p>
            <a:pPr defTabSz="609585"/>
            <a:r>
              <a:rPr sz="1267">
                <a:solidFill>
                  <a:srgbClr val="CBD5E1"/>
                </a:solidFill>
                <a:latin typeface="Calibri"/>
              </a:rPr>
              <a:t>Chi-square and LR coefficients identify the same specialty-defining vocabulary. Two independent validations.</a:t>
            </a:r>
          </a:p>
        </p:txBody>
      </p:sp>
      <p:sp>
        <p:nvSpPr>
          <p:cNvPr id="12" name="TextBox 11"/>
          <p:cNvSpPr txBox="1"/>
          <p:nvPr/>
        </p:nvSpPr>
        <p:spPr>
          <a:xfrm>
            <a:off x="609600" y="4562983"/>
            <a:ext cx="487680" cy="355718"/>
          </a:xfrm>
          <a:prstGeom prst="rect">
            <a:avLst/>
          </a:prstGeom>
          <a:noFill/>
        </p:spPr>
        <p:txBody>
          <a:bodyPr wrap="square" lIns="67733" tIns="33867" rIns="67733" bIns="33867">
            <a:spAutoFit/>
          </a:bodyPr>
          <a:lstStyle/>
          <a:p>
            <a:pPr defTabSz="609585"/>
            <a:r>
              <a:rPr sz="1867">
                <a:solidFill>
                  <a:srgbClr val="17C3B2"/>
                </a:solidFill>
                <a:latin typeface="Calibri"/>
              </a:rPr>
              <a:t>-&gt;</a:t>
            </a:r>
          </a:p>
        </p:txBody>
      </p:sp>
      <p:sp>
        <p:nvSpPr>
          <p:cNvPr id="13" name="TextBox 12"/>
          <p:cNvSpPr txBox="1"/>
          <p:nvPr/>
        </p:nvSpPr>
        <p:spPr>
          <a:xfrm>
            <a:off x="1219200" y="4562984"/>
            <a:ext cx="10363200" cy="314617"/>
          </a:xfrm>
          <a:prstGeom prst="rect">
            <a:avLst/>
          </a:prstGeom>
          <a:noFill/>
        </p:spPr>
        <p:txBody>
          <a:bodyPr wrap="square" lIns="67733" tIns="33867" rIns="67733" bIns="33867">
            <a:spAutoFit/>
          </a:bodyPr>
          <a:lstStyle/>
          <a:p>
            <a:pPr defTabSz="609585"/>
            <a:r>
              <a:rPr sz="1600" b="1">
                <a:solidFill>
                  <a:srgbClr val="17C3B2"/>
                </a:solidFill>
                <a:latin typeface="Calibri"/>
              </a:rPr>
              <a:t>Semantic search solves what keywords cannot</a:t>
            </a:r>
          </a:p>
        </p:txBody>
      </p:sp>
      <p:sp>
        <p:nvSpPr>
          <p:cNvPr id="14" name="TextBox 13"/>
          <p:cNvSpPr txBox="1"/>
          <p:nvPr/>
        </p:nvSpPr>
        <p:spPr>
          <a:xfrm>
            <a:off x="1219200" y="4928743"/>
            <a:ext cx="10363200" cy="263385"/>
          </a:xfrm>
          <a:prstGeom prst="rect">
            <a:avLst/>
          </a:prstGeom>
          <a:noFill/>
        </p:spPr>
        <p:txBody>
          <a:bodyPr wrap="square" lIns="67733" tIns="33867" rIns="67733" bIns="33867">
            <a:spAutoFit/>
          </a:bodyPr>
          <a:lstStyle/>
          <a:p>
            <a:pPr defTabSz="609585"/>
            <a:r>
              <a:rPr sz="1267">
                <a:solidFill>
                  <a:srgbClr val="CBD5E1"/>
                </a:solidFill>
                <a:latin typeface="Calibri"/>
              </a:rPr>
              <a:t>ChromaDB + embeddings handle synonyms and layperson language. 16x better than random on Precision@5.</a:t>
            </a:r>
          </a:p>
        </p:txBody>
      </p:sp>
      <p:sp>
        <p:nvSpPr>
          <p:cNvPr id="15" name="TextBox 14"/>
          <p:cNvSpPr txBox="1"/>
          <p:nvPr/>
        </p:nvSpPr>
        <p:spPr>
          <a:xfrm>
            <a:off x="609600" y="5635879"/>
            <a:ext cx="487680" cy="355718"/>
          </a:xfrm>
          <a:prstGeom prst="rect">
            <a:avLst/>
          </a:prstGeom>
          <a:noFill/>
        </p:spPr>
        <p:txBody>
          <a:bodyPr wrap="square" lIns="67733" tIns="33867" rIns="67733" bIns="33867">
            <a:spAutoFit/>
          </a:bodyPr>
          <a:lstStyle/>
          <a:p>
            <a:pPr defTabSz="609585"/>
            <a:r>
              <a:rPr sz="1867">
                <a:solidFill>
                  <a:srgbClr val="17C3B2"/>
                </a:solidFill>
                <a:latin typeface="Calibri"/>
              </a:rPr>
              <a:t>-&gt;</a:t>
            </a:r>
          </a:p>
        </p:txBody>
      </p:sp>
      <p:sp>
        <p:nvSpPr>
          <p:cNvPr id="16" name="TextBox 15"/>
          <p:cNvSpPr txBox="1"/>
          <p:nvPr/>
        </p:nvSpPr>
        <p:spPr>
          <a:xfrm>
            <a:off x="1219200" y="5635880"/>
            <a:ext cx="10363200" cy="314617"/>
          </a:xfrm>
          <a:prstGeom prst="rect">
            <a:avLst/>
          </a:prstGeom>
          <a:noFill/>
        </p:spPr>
        <p:txBody>
          <a:bodyPr wrap="square" lIns="67733" tIns="33867" rIns="67733" bIns="33867">
            <a:spAutoFit/>
          </a:bodyPr>
          <a:lstStyle/>
          <a:p>
            <a:pPr defTabSz="609585"/>
            <a:r>
              <a:rPr sz="1600" b="1">
                <a:solidFill>
                  <a:srgbClr val="17C3B2"/>
                </a:solidFill>
                <a:latin typeface="Calibri"/>
              </a:rPr>
              <a:t>Cross-specialty confusion is medical reality</a:t>
            </a:r>
          </a:p>
        </p:txBody>
      </p:sp>
      <p:sp>
        <p:nvSpPr>
          <p:cNvPr id="17" name="TextBox 16"/>
          <p:cNvSpPr txBox="1"/>
          <p:nvPr/>
        </p:nvSpPr>
        <p:spPr>
          <a:xfrm>
            <a:off x="1219200" y="6001639"/>
            <a:ext cx="10363200" cy="263385"/>
          </a:xfrm>
          <a:prstGeom prst="rect">
            <a:avLst/>
          </a:prstGeom>
          <a:noFill/>
        </p:spPr>
        <p:txBody>
          <a:bodyPr wrap="square" lIns="67733" tIns="33867" rIns="67733" bIns="33867">
            <a:spAutoFit/>
          </a:bodyPr>
          <a:lstStyle/>
          <a:p>
            <a:pPr defTabSz="609585"/>
            <a:r>
              <a:rPr sz="1267">
                <a:solidFill>
                  <a:srgbClr val="CBD5E1"/>
                </a:solidFill>
                <a:latin typeface="Calibri"/>
              </a:rPr>
              <a:t>Same pairs confuse trained classifiers AND untrained retrievers. This is inherent to multi-disciplinary medicine.</a:t>
            </a:r>
          </a:p>
        </p:txBody>
      </p:sp>
      <p:sp>
        <p:nvSpPr>
          <p:cNvPr id="18" name="TextBox 17"/>
          <p:cNvSpPr txBox="1"/>
          <p:nvPr/>
        </p:nvSpPr>
        <p:spPr>
          <a:xfrm>
            <a:off x="609600" y="6282055"/>
            <a:ext cx="10972800" cy="294163"/>
          </a:xfrm>
          <a:prstGeom prst="rect">
            <a:avLst/>
          </a:prstGeom>
          <a:noFill/>
        </p:spPr>
        <p:txBody>
          <a:bodyPr wrap="square" lIns="67733" tIns="33867" rIns="67733" bIns="33867">
            <a:spAutoFit/>
          </a:bodyPr>
          <a:lstStyle/>
          <a:p>
            <a:pPr defTabSz="609585"/>
            <a:r>
              <a:rPr sz="1467">
                <a:solidFill>
                  <a:srgbClr val="475569"/>
                </a:solidFill>
                <a:latin typeface="Calibri"/>
              </a:rPr>
              <a:t>Questions?</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7285</Words>
  <Application>Microsoft Macintosh PowerPoint</Application>
  <PresentationFormat>Widescreen</PresentationFormat>
  <Paragraphs>780</Paragraphs>
  <Slides>35</Slides>
  <Notes>31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35</vt:i4>
      </vt:variant>
    </vt:vector>
  </HeadingPairs>
  <TitlesOfParts>
    <vt:vector size="42" baseType="lpstr">
      <vt:lpstr>Aptos</vt:lpstr>
      <vt:lpstr>Arial</vt:lpstr>
      <vt:lpstr>Calibri</vt:lpstr>
      <vt:lpstr>Cambria</vt:lpstr>
      <vt:lpstr>Courier New</vt:lpstr>
      <vt:lpstr>1_Office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Arjit Sama</dc:creator>
  <cp:lastModifiedBy>Bahadir Kocabas</cp:lastModifiedBy>
  <cp:revision>1</cp:revision>
  <dcterms:created xsi:type="dcterms:W3CDTF">2026-06-24T17:26:52Z</dcterms:created>
  <dcterms:modified xsi:type="dcterms:W3CDTF">2026-06-26T16:22:01Z</dcterms:modified>
</cp:coreProperties>
</file>